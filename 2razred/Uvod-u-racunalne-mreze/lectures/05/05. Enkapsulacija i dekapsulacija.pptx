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changesInfos/changesInfo1.xml" ContentType="application/vnd.ms-powerpoint.changesinfo+xml"/>
  <Override PartName="/ppt/revisionInfo.xml" ContentType="application/vnd.ms-powerpoint.revisioninfo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256" r:id="rId2"/>
    <p:sldId id="294" r:id="rId3"/>
    <p:sldId id="295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8" r:id="rId16"/>
    <p:sldId id="307" r:id="rId17"/>
    <p:sldId id="320" r:id="rId18"/>
    <p:sldId id="291" r:id="rId19"/>
    <p:sldId id="319" r:id="rId20"/>
  </p:sldIdLst>
  <p:sldSz cx="9144000" cy="6858000" type="screen4x3"/>
  <p:notesSz cx="7315200" cy="96012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C27DCD-22BD-42F2-BB61-ADFB53AE2ED9}" v="9" dt="2021-11-03T16:53:19.8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Relationship Id="rId30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ran Dumančić" userId="70f12f27-58fe-414c-89aa-9264ee582611" providerId="ADAL" clId="{8CC27DCD-22BD-42F2-BB61-ADFB53AE2ED9}"/>
    <pc:docChg chg="undo custSel addSld delSld modSld modNotesMaster modHandout">
      <pc:chgData name="Zoran Dumančić" userId="70f12f27-58fe-414c-89aa-9264ee582611" providerId="ADAL" clId="{8CC27DCD-22BD-42F2-BB61-ADFB53AE2ED9}" dt="2021-11-03T17:33:37.944" v="716" actId="20577"/>
      <pc:docMkLst>
        <pc:docMk/>
      </pc:docMkLst>
      <pc:sldChg chg="delSp modSp add mod delAnim">
        <pc:chgData name="Zoran Dumančić" userId="70f12f27-58fe-414c-89aa-9264ee582611" providerId="ADAL" clId="{8CC27DCD-22BD-42F2-BB61-ADFB53AE2ED9}" dt="2021-11-03T17:33:37.944" v="716" actId="20577"/>
        <pc:sldMkLst>
          <pc:docMk/>
          <pc:sldMk cId="789912675" sldId="291"/>
        </pc:sldMkLst>
        <pc:spChg chg="del">
          <ac:chgData name="Zoran Dumančić" userId="70f12f27-58fe-414c-89aa-9264ee582611" providerId="ADAL" clId="{8CC27DCD-22BD-42F2-BB61-ADFB53AE2ED9}" dt="2021-11-03T16:37:57.606" v="374" actId="478"/>
          <ac:spMkLst>
            <pc:docMk/>
            <pc:sldMk cId="789912675" sldId="291"/>
            <ac:spMk id="2" creationId="{00000000-0000-0000-0000-000000000000}"/>
          </ac:spMkLst>
        </pc:spChg>
        <pc:spChg chg="mod">
          <ac:chgData name="Zoran Dumančić" userId="70f12f27-58fe-414c-89aa-9264ee582611" providerId="ADAL" clId="{8CC27DCD-22BD-42F2-BB61-ADFB53AE2ED9}" dt="2021-11-03T17:33:37.944" v="716" actId="20577"/>
          <ac:spMkLst>
            <pc:docMk/>
            <pc:sldMk cId="789912675" sldId="291"/>
            <ac:spMk id="3" creationId="{00000000-0000-0000-0000-000000000000}"/>
          </ac:spMkLst>
        </pc:spChg>
        <pc:spChg chg="del">
          <ac:chgData name="Zoran Dumančić" userId="70f12f27-58fe-414c-89aa-9264ee582611" providerId="ADAL" clId="{8CC27DCD-22BD-42F2-BB61-ADFB53AE2ED9}" dt="2021-11-03T16:37:57.606" v="374" actId="478"/>
          <ac:spMkLst>
            <pc:docMk/>
            <pc:sldMk cId="789912675" sldId="291"/>
            <ac:spMk id="5" creationId="{00000000-0000-0000-0000-000000000000}"/>
          </ac:spMkLst>
        </pc:spChg>
        <pc:spChg chg="del">
          <ac:chgData name="Zoran Dumančić" userId="70f12f27-58fe-414c-89aa-9264ee582611" providerId="ADAL" clId="{8CC27DCD-22BD-42F2-BB61-ADFB53AE2ED9}" dt="2021-11-03T16:37:54.409" v="373" actId="478"/>
          <ac:spMkLst>
            <pc:docMk/>
            <pc:sldMk cId="789912675" sldId="291"/>
            <ac:spMk id="6" creationId="{00000000-0000-0000-0000-000000000000}"/>
          </ac:spMkLst>
        </pc:spChg>
        <pc:spChg chg="del">
          <ac:chgData name="Zoran Dumančić" userId="70f12f27-58fe-414c-89aa-9264ee582611" providerId="ADAL" clId="{8CC27DCD-22BD-42F2-BB61-ADFB53AE2ED9}" dt="2021-11-03T16:37:54.409" v="373" actId="478"/>
          <ac:spMkLst>
            <pc:docMk/>
            <pc:sldMk cId="789912675" sldId="291"/>
            <ac:spMk id="7" creationId="{00000000-0000-0000-0000-000000000000}"/>
          </ac:spMkLst>
        </pc:spChg>
        <pc:spChg chg="del">
          <ac:chgData name="Zoran Dumančić" userId="70f12f27-58fe-414c-89aa-9264ee582611" providerId="ADAL" clId="{8CC27DCD-22BD-42F2-BB61-ADFB53AE2ED9}" dt="2021-11-03T16:37:54.409" v="373" actId="478"/>
          <ac:spMkLst>
            <pc:docMk/>
            <pc:sldMk cId="789912675" sldId="291"/>
            <ac:spMk id="8" creationId="{00000000-0000-0000-0000-000000000000}"/>
          </ac:spMkLst>
        </pc:spChg>
        <pc:spChg chg="del">
          <ac:chgData name="Zoran Dumančić" userId="70f12f27-58fe-414c-89aa-9264ee582611" providerId="ADAL" clId="{8CC27DCD-22BD-42F2-BB61-ADFB53AE2ED9}" dt="2021-11-03T16:37:54.409" v="373" actId="478"/>
          <ac:spMkLst>
            <pc:docMk/>
            <pc:sldMk cId="789912675" sldId="291"/>
            <ac:spMk id="9" creationId="{00000000-0000-0000-0000-000000000000}"/>
          </ac:spMkLst>
        </pc:spChg>
        <pc:spChg chg="del">
          <ac:chgData name="Zoran Dumančić" userId="70f12f27-58fe-414c-89aa-9264ee582611" providerId="ADAL" clId="{8CC27DCD-22BD-42F2-BB61-ADFB53AE2ED9}" dt="2021-11-03T16:37:54.409" v="373" actId="478"/>
          <ac:spMkLst>
            <pc:docMk/>
            <pc:sldMk cId="789912675" sldId="291"/>
            <ac:spMk id="10" creationId="{00000000-0000-0000-0000-000000000000}"/>
          </ac:spMkLst>
        </pc:spChg>
        <pc:spChg chg="del">
          <ac:chgData name="Zoran Dumančić" userId="70f12f27-58fe-414c-89aa-9264ee582611" providerId="ADAL" clId="{8CC27DCD-22BD-42F2-BB61-ADFB53AE2ED9}" dt="2021-11-03T16:37:54.409" v="373" actId="478"/>
          <ac:spMkLst>
            <pc:docMk/>
            <pc:sldMk cId="789912675" sldId="291"/>
            <ac:spMk id="11" creationId="{00000000-0000-0000-0000-000000000000}"/>
          </ac:spMkLst>
        </pc:spChg>
        <pc:spChg chg="del">
          <ac:chgData name="Zoran Dumančić" userId="70f12f27-58fe-414c-89aa-9264ee582611" providerId="ADAL" clId="{8CC27DCD-22BD-42F2-BB61-ADFB53AE2ED9}" dt="2021-11-03T16:37:57.606" v="374" actId="478"/>
          <ac:spMkLst>
            <pc:docMk/>
            <pc:sldMk cId="789912675" sldId="291"/>
            <ac:spMk id="12" creationId="{00000000-0000-0000-0000-000000000000}"/>
          </ac:spMkLst>
        </pc:spChg>
        <pc:spChg chg="del">
          <ac:chgData name="Zoran Dumančić" userId="70f12f27-58fe-414c-89aa-9264ee582611" providerId="ADAL" clId="{8CC27DCD-22BD-42F2-BB61-ADFB53AE2ED9}" dt="2021-11-03T16:37:57.606" v="374" actId="478"/>
          <ac:spMkLst>
            <pc:docMk/>
            <pc:sldMk cId="789912675" sldId="291"/>
            <ac:spMk id="13" creationId="{00000000-0000-0000-0000-000000000000}"/>
          </ac:spMkLst>
        </pc:spChg>
        <pc:spChg chg="del">
          <ac:chgData name="Zoran Dumančić" userId="70f12f27-58fe-414c-89aa-9264ee582611" providerId="ADAL" clId="{8CC27DCD-22BD-42F2-BB61-ADFB53AE2ED9}" dt="2021-11-03T16:37:57.606" v="374" actId="478"/>
          <ac:spMkLst>
            <pc:docMk/>
            <pc:sldMk cId="789912675" sldId="291"/>
            <ac:spMk id="14" creationId="{00000000-0000-0000-0000-000000000000}"/>
          </ac:spMkLst>
        </pc:spChg>
        <pc:spChg chg="del">
          <ac:chgData name="Zoran Dumančić" userId="70f12f27-58fe-414c-89aa-9264ee582611" providerId="ADAL" clId="{8CC27DCD-22BD-42F2-BB61-ADFB53AE2ED9}" dt="2021-11-03T16:37:57.606" v="374" actId="478"/>
          <ac:spMkLst>
            <pc:docMk/>
            <pc:sldMk cId="789912675" sldId="291"/>
            <ac:spMk id="15" creationId="{00000000-0000-0000-0000-000000000000}"/>
          </ac:spMkLst>
        </pc:spChg>
        <pc:spChg chg="del">
          <ac:chgData name="Zoran Dumančić" userId="70f12f27-58fe-414c-89aa-9264ee582611" providerId="ADAL" clId="{8CC27DCD-22BD-42F2-BB61-ADFB53AE2ED9}" dt="2021-11-03T16:37:57.606" v="374" actId="478"/>
          <ac:spMkLst>
            <pc:docMk/>
            <pc:sldMk cId="789912675" sldId="291"/>
            <ac:spMk id="16" creationId="{00000000-0000-0000-0000-000000000000}"/>
          </ac:spMkLst>
        </pc:spChg>
        <pc:spChg chg="del">
          <ac:chgData name="Zoran Dumančić" userId="70f12f27-58fe-414c-89aa-9264ee582611" providerId="ADAL" clId="{8CC27DCD-22BD-42F2-BB61-ADFB53AE2ED9}" dt="2021-11-03T16:37:57.606" v="374" actId="478"/>
          <ac:spMkLst>
            <pc:docMk/>
            <pc:sldMk cId="789912675" sldId="291"/>
            <ac:spMk id="17" creationId="{00000000-0000-0000-0000-000000000000}"/>
          </ac:spMkLst>
        </pc:spChg>
      </pc:sldChg>
      <pc:sldChg chg="add del">
        <pc:chgData name="Zoran Dumančić" userId="70f12f27-58fe-414c-89aa-9264ee582611" providerId="ADAL" clId="{8CC27DCD-22BD-42F2-BB61-ADFB53AE2ED9}" dt="2021-11-03T13:31:10.019" v="1"/>
        <pc:sldMkLst>
          <pc:docMk/>
          <pc:sldMk cId="1082517561" sldId="309"/>
        </pc:sldMkLst>
      </pc:sldChg>
      <pc:sldChg chg="modSp add del mod">
        <pc:chgData name="Zoran Dumančić" userId="70f12f27-58fe-414c-89aa-9264ee582611" providerId="ADAL" clId="{8CC27DCD-22BD-42F2-BB61-ADFB53AE2ED9}" dt="2021-11-03T16:00:14.415" v="160" actId="2696"/>
        <pc:sldMkLst>
          <pc:docMk/>
          <pc:sldMk cId="2363108576" sldId="309"/>
        </pc:sldMkLst>
        <pc:spChg chg="mod">
          <ac:chgData name="Zoran Dumančić" userId="70f12f27-58fe-414c-89aa-9264ee582611" providerId="ADAL" clId="{8CC27DCD-22BD-42F2-BB61-ADFB53AE2ED9}" dt="2021-11-03T15:59:51.912" v="158" actId="20577"/>
          <ac:spMkLst>
            <pc:docMk/>
            <pc:sldMk cId="2363108576" sldId="309"/>
            <ac:spMk id="2" creationId="{00000000-0000-0000-0000-000000000000}"/>
          </ac:spMkLst>
        </pc:spChg>
        <pc:spChg chg="mod">
          <ac:chgData name="Zoran Dumančić" userId="70f12f27-58fe-414c-89aa-9264ee582611" providerId="ADAL" clId="{8CC27DCD-22BD-42F2-BB61-ADFB53AE2ED9}" dt="2021-11-03T15:59:43.955" v="157" actId="27636"/>
          <ac:spMkLst>
            <pc:docMk/>
            <pc:sldMk cId="2363108576" sldId="309"/>
            <ac:spMk id="3" creationId="{00000000-0000-0000-0000-000000000000}"/>
          </ac:spMkLst>
        </pc:spChg>
      </pc:sldChg>
      <pc:sldChg chg="modSp add mod">
        <pc:chgData name="Zoran Dumančić" userId="70f12f27-58fe-414c-89aa-9264ee582611" providerId="ADAL" clId="{8CC27DCD-22BD-42F2-BB61-ADFB53AE2ED9}" dt="2021-11-03T16:54:21.724" v="687" actId="6549"/>
        <pc:sldMkLst>
          <pc:docMk/>
          <pc:sldMk cId="3588170122" sldId="319"/>
        </pc:sldMkLst>
        <pc:spChg chg="mod">
          <ac:chgData name="Zoran Dumančić" userId="70f12f27-58fe-414c-89aa-9264ee582611" providerId="ADAL" clId="{8CC27DCD-22BD-42F2-BB61-ADFB53AE2ED9}" dt="2021-11-03T16:54:21.724" v="687" actId="6549"/>
          <ac:spMkLst>
            <pc:docMk/>
            <pc:sldMk cId="3588170122" sldId="319"/>
            <ac:spMk id="3" creationId="{00000000-0000-0000-0000-000000000000}"/>
          </ac:spMkLst>
        </pc:spChg>
      </pc:sldChg>
    </pc:docChg>
  </pc:docChgLst>
  <pc:docChgLst>
    <pc:chgData name="Zoran Dumančić" userId="70f12f27-58fe-414c-89aa-9264ee582611" providerId="ADAL" clId="{60AFE961-B1CF-4AD3-AF8C-84A09AB428BF}"/>
    <pc:docChg chg="undo custSel addSld delSld">
      <pc:chgData name="Zoran Dumančić" userId="70f12f27-58fe-414c-89aa-9264ee582611" providerId="ADAL" clId="{60AFE961-B1CF-4AD3-AF8C-84A09AB428BF}" dt="2020-10-29T11:51:35.017" v="1" actId="22"/>
      <pc:docMkLst>
        <pc:docMk/>
      </pc:docMkLst>
      <pc:sldChg chg="add del">
        <pc:chgData name="Zoran Dumančić" userId="70f12f27-58fe-414c-89aa-9264ee582611" providerId="ADAL" clId="{60AFE961-B1CF-4AD3-AF8C-84A09AB428BF}" dt="2020-10-29T11:51:35.017" v="1" actId="22"/>
        <pc:sldMkLst>
          <pc:docMk/>
          <pc:sldMk cId="3874435146" sldId="309"/>
        </pc:sldMkLst>
      </pc:sldChg>
    </pc:docChg>
  </pc:docChgLst>
  <pc:docChgLst>
    <pc:chgData name="Zoran Dumančić" userId="70f12f27-58fe-414c-89aa-9264ee582611" providerId="ADAL" clId="{9C5853F9-B688-46D0-A003-9B826769732F}"/>
    <pc:docChg chg="modSld">
      <pc:chgData name="Zoran Dumančić" userId="70f12f27-58fe-414c-89aa-9264ee582611" providerId="ADAL" clId="{9C5853F9-B688-46D0-A003-9B826769732F}" dt="2021-10-14T07:08:57.281" v="2" actId="113"/>
      <pc:docMkLst>
        <pc:docMk/>
      </pc:docMkLst>
      <pc:sldChg chg="modSp mod">
        <pc:chgData name="Zoran Dumančić" userId="70f12f27-58fe-414c-89aa-9264ee582611" providerId="ADAL" clId="{9C5853F9-B688-46D0-A003-9B826769732F}" dt="2021-10-14T07:08:35.505" v="0" actId="113"/>
        <pc:sldMkLst>
          <pc:docMk/>
          <pc:sldMk cId="283331077" sldId="304"/>
        </pc:sldMkLst>
        <pc:spChg chg="mod">
          <ac:chgData name="Zoran Dumančić" userId="70f12f27-58fe-414c-89aa-9264ee582611" providerId="ADAL" clId="{9C5853F9-B688-46D0-A003-9B826769732F}" dt="2021-10-14T07:08:35.505" v="0" actId="113"/>
          <ac:spMkLst>
            <pc:docMk/>
            <pc:sldMk cId="283331077" sldId="304"/>
            <ac:spMk id="32772" creationId="{00000000-0000-0000-0000-000000000000}"/>
          </ac:spMkLst>
        </pc:spChg>
      </pc:sldChg>
      <pc:sldChg chg="modSp">
        <pc:chgData name="Zoran Dumančić" userId="70f12f27-58fe-414c-89aa-9264ee582611" providerId="ADAL" clId="{9C5853F9-B688-46D0-A003-9B826769732F}" dt="2021-10-14T07:08:45.123" v="1" actId="113"/>
        <pc:sldMkLst>
          <pc:docMk/>
          <pc:sldMk cId="2048956012" sldId="305"/>
        </pc:sldMkLst>
        <pc:spChg chg="mod">
          <ac:chgData name="Zoran Dumančić" userId="70f12f27-58fe-414c-89aa-9264ee582611" providerId="ADAL" clId="{9C5853F9-B688-46D0-A003-9B826769732F}" dt="2021-10-14T07:08:45.123" v="1" actId="113"/>
          <ac:spMkLst>
            <pc:docMk/>
            <pc:sldMk cId="2048956012" sldId="305"/>
            <ac:spMk id="34820" creationId="{00000000-0000-0000-0000-000000000000}"/>
          </ac:spMkLst>
        </pc:spChg>
      </pc:sldChg>
      <pc:sldChg chg="modSp mod">
        <pc:chgData name="Zoran Dumančić" userId="70f12f27-58fe-414c-89aa-9264ee582611" providerId="ADAL" clId="{9C5853F9-B688-46D0-A003-9B826769732F}" dt="2021-10-14T07:08:57.281" v="2" actId="113"/>
        <pc:sldMkLst>
          <pc:docMk/>
          <pc:sldMk cId="4092841872" sldId="306"/>
        </pc:sldMkLst>
        <pc:spChg chg="mod">
          <ac:chgData name="Zoran Dumančić" userId="70f12f27-58fe-414c-89aa-9264ee582611" providerId="ADAL" clId="{9C5853F9-B688-46D0-A003-9B826769732F}" dt="2021-10-14T07:08:57.281" v="2" actId="113"/>
          <ac:spMkLst>
            <pc:docMk/>
            <pc:sldMk cId="4092841872" sldId="306"/>
            <ac:spMk id="36868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70769" cy="47960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4431" y="0"/>
            <a:ext cx="3169070" cy="47960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BA4583-234D-4C7C-BD5B-A095720B3B84}" type="datetimeFigureOut">
              <a:rPr lang="hr-HR" smtClean="0"/>
              <a:t>7.10.2024.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072"/>
            <a:ext cx="3170769" cy="4796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4431" y="9120072"/>
            <a:ext cx="3169070" cy="4796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59343-547E-4B6E-AE6F-D11BFA7371D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012359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7C12A-4DF7-403B-A283-50D78C81ABE6}" type="datetimeFigureOut">
              <a:rPr lang="hr-HR" smtClean="0"/>
              <a:t>7.10.2024.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19138"/>
            <a:ext cx="4802188" cy="3602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B4AA-7FC7-404C-91AE-549D4281B96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5135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23602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0E8277-75A1-43F0-8BE9-10EF79D91972}" type="slidenum">
              <a:rPr lang="hr-HR"/>
              <a:pPr/>
              <a:t>2</a:t>
            </a:fld>
            <a:endParaRPr lang="hr-HR"/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sr-Latn-R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208AC0-241A-47C5-BAD3-EFD5AA4AD4D6}" type="slidenum">
              <a:rPr lang="hr-HR"/>
              <a:pPr/>
              <a:t>3</a:t>
            </a:fld>
            <a:endParaRPr lang="hr-HR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sr-Latn-R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C41991-39E3-4E83-B4C5-595DE05A7620}" type="slidenum">
              <a:rPr lang="hr-HR"/>
              <a:pPr/>
              <a:t>4</a:t>
            </a:fld>
            <a:endParaRPr lang="hr-HR"/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sr-Latn-R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E418D4-2B40-41BF-B4BD-8908FF45B5B6}" type="slidenum">
              <a:rPr lang="hr-HR"/>
              <a:pPr/>
              <a:t>5</a:t>
            </a:fld>
            <a:endParaRPr lang="hr-HR"/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sr-Latn-R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ABE10D-D35B-4313-A8B2-1FA2CB873B0C}" type="slidenum">
              <a:rPr lang="hr-HR"/>
              <a:pPr/>
              <a:t>6</a:t>
            </a:fld>
            <a:endParaRPr lang="hr-HR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sr-Latn-R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4DD12F-FD76-4E06-A906-16776EF7F08C}" type="slidenum">
              <a:rPr lang="hr-HR"/>
              <a:pPr/>
              <a:t>7</a:t>
            </a:fld>
            <a:endParaRPr lang="hr-HR"/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8600" indent="-228600"/>
            <a:endParaRPr lang="sr-Latn-R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2846F7-BEBE-4C83-A894-46C4C2E120F8}" type="slidenum">
              <a:rPr lang="hr-HR"/>
              <a:pPr/>
              <a:t>8</a:t>
            </a:fld>
            <a:endParaRPr lang="hr-HR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sr-Latn-R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B3609D-6B1A-4E0C-B7C6-67F0EF4534C3}" type="slidenum">
              <a:rPr lang="hr-HR"/>
              <a:pPr/>
              <a:t>9</a:t>
            </a:fld>
            <a:endParaRPr lang="hr-HR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sr-Latn-R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38C435-2ECA-4F84-9341-8E08857FD038}" type="slidenum">
              <a:rPr lang="hr-HR"/>
              <a:pPr/>
              <a:t>10</a:t>
            </a:fld>
            <a:endParaRPr lang="hr-HR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sr-Latn-R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C8518B-C9A9-460A-94AD-68359F9228AE}" type="slidenum">
              <a:rPr lang="hr-HR"/>
              <a:pPr/>
              <a:t>11</a:t>
            </a:fld>
            <a:endParaRPr lang="hr-HR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sr-Latn-R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3F0506-9553-4A64-A840-603D801BE431}" type="slidenum">
              <a:rPr lang="hr-HR"/>
              <a:pPr/>
              <a:t>12</a:t>
            </a:fld>
            <a:endParaRPr lang="hr-HR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sr-Latn-R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6CC844-479B-41E3-A95B-4794A99B4942}" type="slidenum">
              <a:rPr lang="hr-HR"/>
              <a:pPr/>
              <a:t>13</a:t>
            </a:fld>
            <a:endParaRPr lang="hr-HR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sr-Latn-R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CF2D63-00FD-4502-B7D6-396E382DDDA3}" type="slidenum">
              <a:rPr lang="hr-HR"/>
              <a:pPr/>
              <a:t>14</a:t>
            </a:fld>
            <a:endParaRPr lang="hr-HR"/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sr-Latn-R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18736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F26BEB08-B0C2-45E8-8318-CFD0EF8EE004}" type="datetimeFigureOut">
              <a:rPr lang="hr-HR" smtClean="0"/>
              <a:t>7.10.2024.</a:t>
            </a:fld>
            <a:endParaRPr lang="hr-HR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hr-HR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t>7.10.2024.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F26BEB08-B0C2-45E8-8318-CFD0EF8EE004}" type="datetimeFigureOut">
              <a:rPr lang="hr-HR" smtClean="0"/>
              <a:t>7.10.2024.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t>7.10.2024.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t>7.10.2024.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t>7.10.2024.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t>7.10.2024.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t>7.10.2024.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t>7.10.2024.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t>7.10.2024.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t>7.10.2024.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26BEB08-B0C2-45E8-8318-CFD0EF8EE004}" type="datetimeFigureOut">
              <a:rPr lang="hr-HR" smtClean="0"/>
              <a:t>7.10.2024.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r-H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AB60E86-8D67-4FDC-9E77-73D5ED035159}" type="slidenum">
              <a:rPr lang="hr-HR" smtClean="0"/>
              <a:t>‹#›</a:t>
            </a:fld>
            <a:endParaRPr lang="hr-HR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6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5jC8D5zndc" TargetMode="External"/><Relationship Id="rId2" Type="http://schemas.openxmlformats.org/officeDocument/2006/relationships/hyperlink" Target="https://www.youtube.com/watch?v=oM4jEIGs1B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xaKvGnnuYm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5616" y="3734544"/>
            <a:ext cx="7128792" cy="990600"/>
          </a:xfrm>
        </p:spPr>
        <p:txBody>
          <a:bodyPr>
            <a:noAutofit/>
          </a:bodyPr>
          <a:lstStyle/>
          <a:p>
            <a:r>
              <a:rPr lang="hr-HR" sz="3600" dirty="0" err="1">
                <a:solidFill>
                  <a:schemeClr val="hlink"/>
                </a:solidFill>
              </a:rPr>
              <a:t>Enkapsulacija</a:t>
            </a:r>
            <a:r>
              <a:rPr lang="hr-HR" sz="3600" dirty="0">
                <a:solidFill>
                  <a:schemeClr val="hlink"/>
                </a:solidFill>
              </a:rPr>
              <a:t> i dekapsulacija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/>
              <a:t>Uvod u </a:t>
            </a:r>
            <a:r>
              <a:rPr lang="hr-HR" dirty="0"/>
              <a:t>r</a:t>
            </a:r>
            <a:r>
              <a:rPr lang="hr-HR"/>
              <a:t>ačunalne </a:t>
            </a:r>
            <a:r>
              <a:rPr lang="hr-HR" dirty="0"/>
              <a:t>mreže</a:t>
            </a:r>
          </a:p>
        </p:txBody>
      </p:sp>
      <p:pic>
        <p:nvPicPr>
          <p:cNvPr id="4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9123362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566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755576" y="1268760"/>
            <a:ext cx="453650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hr-HR" sz="2800" dirty="0"/>
          </a:p>
          <a:p>
            <a:r>
              <a:rPr lang="hr-HR" sz="2100" dirty="0">
                <a:latin typeface="Calibri" pitchFamily="34" charset="0"/>
                <a:cs typeface="Calibri" pitchFamily="34" charset="0"/>
              </a:rPr>
              <a:t>Koje</a:t>
            </a:r>
            <a:r>
              <a:rPr lang="hr-HR" sz="2800" dirty="0"/>
              <a:t> </a:t>
            </a:r>
            <a:r>
              <a:rPr lang="hr-HR" sz="2100" dirty="0">
                <a:latin typeface="Calibri" pitchFamily="34" charset="0"/>
                <a:cs typeface="Calibri" pitchFamily="34" charset="0"/>
              </a:rPr>
              <a:t>slojeve sadrži OSI slojni model?</a:t>
            </a:r>
          </a:p>
          <a:p>
            <a:endParaRPr lang="hr-HR" sz="2800" dirty="0"/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hr-HR" dirty="0">
                <a:solidFill>
                  <a:schemeClr val="hlink"/>
                </a:solidFill>
                <a:latin typeface="Arial" charset="0"/>
              </a:rPr>
              <a:t>Ponavljanje: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08104" y="1628800"/>
            <a:ext cx="2232248" cy="50405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Aplikacijski sloj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08104" y="2276872"/>
            <a:ext cx="2232248" cy="50405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Prezentacijski sloj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08104" y="2924944"/>
            <a:ext cx="2232248" cy="50405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Sloj sesije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08104" y="3573016"/>
            <a:ext cx="2232248" cy="50405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Transportni sloj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08104" y="4221088"/>
            <a:ext cx="2232248" cy="50405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Mrežni sloj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08104" y="4869160"/>
            <a:ext cx="2232248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Sloj podatkovne veze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08104" y="5517232"/>
            <a:ext cx="2232248" cy="504056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Fizički sloj</a:t>
            </a:r>
          </a:p>
        </p:txBody>
      </p:sp>
    </p:spTree>
    <p:extLst>
      <p:ext uri="{BB962C8B-B14F-4D97-AF65-F5344CB8AC3E}">
        <p14:creationId xmlns:p14="http://schemas.microsoft.com/office/powerpoint/2010/main" val="1875133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hr-HR" dirty="0">
                <a:solidFill>
                  <a:schemeClr val="hlink"/>
                </a:solidFill>
                <a:latin typeface="Arial" charset="0"/>
              </a:rPr>
              <a:t>Ponavljanje: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55576" y="1268760"/>
            <a:ext cx="453650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hr-HR" sz="2800" dirty="0"/>
          </a:p>
          <a:p>
            <a:r>
              <a:rPr lang="hr-HR" sz="2100" dirty="0">
                <a:latin typeface="Calibri" pitchFamily="34" charset="0"/>
                <a:cs typeface="Calibri" pitchFamily="34" charset="0"/>
              </a:rPr>
              <a:t>Koje</a:t>
            </a:r>
            <a:r>
              <a:rPr lang="hr-HR" sz="2800" dirty="0"/>
              <a:t> </a:t>
            </a:r>
            <a:r>
              <a:rPr lang="hr-HR" sz="2100" dirty="0">
                <a:latin typeface="Calibri" pitchFamily="34" charset="0"/>
                <a:cs typeface="Calibri" pitchFamily="34" charset="0"/>
              </a:rPr>
              <a:t>slojeve sadrži TCP/IP slojni model?</a:t>
            </a:r>
          </a:p>
          <a:p>
            <a:endParaRPr lang="hr-HR" sz="2800" dirty="0"/>
          </a:p>
        </p:txBody>
      </p:sp>
      <p:sp>
        <p:nvSpPr>
          <p:cNvPr id="5" name="Rounded Rectangle 4"/>
          <p:cNvSpPr/>
          <p:nvPr/>
        </p:nvSpPr>
        <p:spPr>
          <a:xfrm>
            <a:off x="5364088" y="1700808"/>
            <a:ext cx="2304256" cy="18002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Aplikacijski sloj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64088" y="3645024"/>
            <a:ext cx="2304256" cy="50405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Transportni sloj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64088" y="4293096"/>
            <a:ext cx="2304256" cy="50405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Internet sloj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64088" y="4941168"/>
            <a:ext cx="2304256" cy="11521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Sloj mrežnog pristupa</a:t>
            </a:r>
          </a:p>
        </p:txBody>
      </p:sp>
    </p:spTree>
    <p:extLst>
      <p:ext uri="{BB962C8B-B14F-4D97-AF65-F5344CB8AC3E}">
        <p14:creationId xmlns:p14="http://schemas.microsoft.com/office/powerpoint/2010/main" val="3499207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539552" y="1262951"/>
            <a:ext cx="7848600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hr-HR" sz="2400" dirty="0">
              <a:latin typeface="Calibri" panose="020F0502020204030204" pitchFamily="34" charset="0"/>
            </a:endParaRPr>
          </a:p>
          <a:p>
            <a:r>
              <a:rPr lang="hr-HR" sz="2800" dirty="0">
                <a:latin typeface="Calibri" pitchFamily="34" charset="0"/>
                <a:cs typeface="Calibri" pitchFamily="34" charset="0"/>
              </a:rPr>
              <a:t>Što se događa sa podacima unutar slojeva  mrežnih modela?</a:t>
            </a:r>
          </a:p>
          <a:p>
            <a:endParaRPr lang="hr-HR" sz="2800" dirty="0">
              <a:latin typeface="Calibri" pitchFamily="34" charset="0"/>
              <a:cs typeface="Calibri" pitchFamily="34" charset="0"/>
            </a:endParaRPr>
          </a:p>
          <a:p>
            <a:r>
              <a:rPr lang="hr-HR" sz="2800" dirty="0">
                <a:latin typeface="Calibri" pitchFamily="34" charset="0"/>
                <a:cs typeface="Calibri" pitchFamily="34" charset="0"/>
              </a:rPr>
              <a:t>Podaci se na određene načine procesiraju (enkapsulacija je jedan od procesa)</a:t>
            </a: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hr-HR" dirty="0">
                <a:solidFill>
                  <a:schemeClr val="hlink"/>
                </a:solidFill>
                <a:latin typeface="Arial" charset="0"/>
              </a:rPr>
              <a:t>Ponavljanje:</a:t>
            </a:r>
          </a:p>
        </p:txBody>
      </p:sp>
    </p:spTree>
    <p:extLst>
      <p:ext uri="{BB962C8B-B14F-4D97-AF65-F5344CB8AC3E}">
        <p14:creationId xmlns:p14="http://schemas.microsoft.com/office/powerpoint/2010/main" val="711817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467544" y="1125538"/>
            <a:ext cx="8474844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sr-Latn-RS"/>
            </a:defPPr>
            <a:lvl1pPr>
              <a:defRPr sz="2400">
                <a:latin typeface="Calibri" panose="020F0502020204030204" pitchFamily="34" charset="0"/>
              </a:defRPr>
            </a:lvl1pPr>
          </a:lstStyle>
          <a:p>
            <a:endParaRPr lang="hr-HR" dirty="0"/>
          </a:p>
          <a:p>
            <a:endParaRPr lang="hr-HR" dirty="0"/>
          </a:p>
          <a:p>
            <a:r>
              <a:rPr lang="hr-HR" dirty="0"/>
              <a:t>Za obradu podataka unutar sloja i između slojeva zaduženi su protokoli – pravila ponašanja i procesiranja (software ugrađen u mrežne uređaje)</a:t>
            </a:r>
          </a:p>
          <a:p>
            <a:endParaRPr lang="hr-HR" dirty="0"/>
          </a:p>
          <a:p>
            <a:r>
              <a:rPr lang="hr-HR" dirty="0"/>
              <a:t>TCP/IP i OSI model su identični</a:t>
            </a:r>
          </a:p>
          <a:p>
            <a:endParaRPr lang="hr-HR" dirty="0"/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hr-HR" dirty="0">
                <a:solidFill>
                  <a:schemeClr val="hlink"/>
                </a:solidFill>
                <a:latin typeface="Arial" charset="0"/>
              </a:rPr>
              <a:t>Ponavljanje:</a:t>
            </a:r>
          </a:p>
        </p:txBody>
      </p:sp>
    </p:spTree>
    <p:extLst>
      <p:ext uri="{BB962C8B-B14F-4D97-AF65-F5344CB8AC3E}">
        <p14:creationId xmlns:p14="http://schemas.microsoft.com/office/powerpoint/2010/main" val="1630856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971550" y="1412875"/>
            <a:ext cx="7129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sr-Latn-RS" sz="2800"/>
          </a:p>
        </p:txBody>
      </p:sp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377578" y="548680"/>
            <a:ext cx="852624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hr-HR" sz="3200" dirty="0">
                <a:solidFill>
                  <a:schemeClr val="hlink"/>
                </a:solidFill>
                <a:latin typeface="Arial" charset="0"/>
                <a:ea typeface="+mj-ea"/>
                <a:cs typeface="+mj-cs"/>
              </a:rPr>
              <a:t>Enkaspulacija</a:t>
            </a:r>
            <a:r>
              <a:rPr lang="hr-HR" dirty="0"/>
              <a:t> </a:t>
            </a:r>
            <a:r>
              <a:rPr lang="hr-HR" sz="3200" dirty="0">
                <a:solidFill>
                  <a:schemeClr val="hlink"/>
                </a:solidFill>
                <a:latin typeface="Arial" charset="0"/>
                <a:ea typeface="+mj-ea"/>
                <a:cs typeface="+mj-cs"/>
              </a:rPr>
              <a:t>u TCP/IP modelu komuniciranja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1239838" y="1719263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sr-Latn-RS"/>
          </a:p>
        </p:txBody>
      </p:sp>
      <p:grpSp>
        <p:nvGrpSpPr>
          <p:cNvPr id="20521" name="Group 41"/>
          <p:cNvGrpSpPr>
            <a:grpSpLocks/>
          </p:cNvGrpSpPr>
          <p:nvPr/>
        </p:nvGrpSpPr>
        <p:grpSpPr bwMode="auto">
          <a:xfrm>
            <a:off x="2052638" y="2924175"/>
            <a:ext cx="1728787" cy="1730375"/>
            <a:chOff x="748" y="2205"/>
            <a:chExt cx="1089" cy="1090"/>
          </a:xfrm>
        </p:grpSpPr>
        <p:sp>
          <p:nvSpPr>
            <p:cNvPr id="20522" name="Rectangle 42"/>
            <p:cNvSpPr>
              <a:spLocks noChangeArrowheads="1"/>
            </p:cNvSpPr>
            <p:nvPr/>
          </p:nvSpPr>
          <p:spPr bwMode="auto">
            <a:xfrm>
              <a:off x="748" y="2205"/>
              <a:ext cx="1089" cy="27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hr-HR"/>
                <a:t>Aplikacijski</a:t>
              </a:r>
            </a:p>
          </p:txBody>
        </p:sp>
        <p:sp>
          <p:nvSpPr>
            <p:cNvPr id="20523" name="Rectangle 43"/>
            <p:cNvSpPr>
              <a:spLocks noChangeArrowheads="1"/>
            </p:cNvSpPr>
            <p:nvPr/>
          </p:nvSpPr>
          <p:spPr bwMode="auto">
            <a:xfrm>
              <a:off x="748" y="2478"/>
              <a:ext cx="1089" cy="27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hr-HR"/>
                <a:t>Transportni</a:t>
              </a:r>
            </a:p>
          </p:txBody>
        </p:sp>
        <p:sp>
          <p:nvSpPr>
            <p:cNvPr id="20524" name="Rectangle 44"/>
            <p:cNvSpPr>
              <a:spLocks noChangeArrowheads="1"/>
            </p:cNvSpPr>
            <p:nvPr/>
          </p:nvSpPr>
          <p:spPr bwMode="auto">
            <a:xfrm>
              <a:off x="748" y="2750"/>
              <a:ext cx="1089" cy="27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hr-HR"/>
                <a:t>Internet</a:t>
              </a:r>
            </a:p>
          </p:txBody>
        </p:sp>
        <p:sp>
          <p:nvSpPr>
            <p:cNvPr id="20525" name="Rectangle 45"/>
            <p:cNvSpPr>
              <a:spLocks noChangeArrowheads="1"/>
            </p:cNvSpPr>
            <p:nvPr/>
          </p:nvSpPr>
          <p:spPr bwMode="auto">
            <a:xfrm>
              <a:off x="748" y="3022"/>
              <a:ext cx="1089" cy="27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hr-HR" sz="2000"/>
                <a:t>Mrežni pristup</a:t>
              </a:r>
            </a:p>
          </p:txBody>
        </p:sp>
      </p:grpSp>
      <p:grpSp>
        <p:nvGrpSpPr>
          <p:cNvPr id="20526" name="Group 46"/>
          <p:cNvGrpSpPr>
            <a:grpSpLocks/>
          </p:cNvGrpSpPr>
          <p:nvPr/>
        </p:nvGrpSpPr>
        <p:grpSpPr bwMode="auto">
          <a:xfrm>
            <a:off x="5795963" y="2924175"/>
            <a:ext cx="1728787" cy="1730375"/>
            <a:chOff x="748" y="2205"/>
            <a:chExt cx="1089" cy="1090"/>
          </a:xfrm>
        </p:grpSpPr>
        <p:sp>
          <p:nvSpPr>
            <p:cNvPr id="20527" name="Rectangle 47"/>
            <p:cNvSpPr>
              <a:spLocks noChangeArrowheads="1"/>
            </p:cNvSpPr>
            <p:nvPr/>
          </p:nvSpPr>
          <p:spPr bwMode="auto">
            <a:xfrm>
              <a:off x="748" y="2205"/>
              <a:ext cx="1089" cy="27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hr-HR"/>
                <a:t>Aplikacijski</a:t>
              </a:r>
            </a:p>
          </p:txBody>
        </p:sp>
        <p:sp>
          <p:nvSpPr>
            <p:cNvPr id="20528" name="Rectangle 48"/>
            <p:cNvSpPr>
              <a:spLocks noChangeArrowheads="1"/>
            </p:cNvSpPr>
            <p:nvPr/>
          </p:nvSpPr>
          <p:spPr bwMode="auto">
            <a:xfrm>
              <a:off x="748" y="2478"/>
              <a:ext cx="1089" cy="27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hr-HR"/>
                <a:t>Transportni</a:t>
              </a:r>
            </a:p>
          </p:txBody>
        </p:sp>
        <p:sp>
          <p:nvSpPr>
            <p:cNvPr id="20529" name="Rectangle 49"/>
            <p:cNvSpPr>
              <a:spLocks noChangeArrowheads="1"/>
            </p:cNvSpPr>
            <p:nvPr/>
          </p:nvSpPr>
          <p:spPr bwMode="auto">
            <a:xfrm>
              <a:off x="748" y="2750"/>
              <a:ext cx="1089" cy="27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hr-HR"/>
                <a:t>Internet</a:t>
              </a:r>
            </a:p>
          </p:txBody>
        </p:sp>
        <p:sp>
          <p:nvSpPr>
            <p:cNvPr id="20530" name="Rectangle 50"/>
            <p:cNvSpPr>
              <a:spLocks noChangeArrowheads="1"/>
            </p:cNvSpPr>
            <p:nvPr/>
          </p:nvSpPr>
          <p:spPr bwMode="auto">
            <a:xfrm>
              <a:off x="748" y="3022"/>
              <a:ext cx="1089" cy="27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hr-HR" sz="2000"/>
                <a:t>Mrežni pristup</a:t>
              </a:r>
            </a:p>
          </p:txBody>
        </p:sp>
      </p:grpSp>
      <p:sp>
        <p:nvSpPr>
          <p:cNvPr id="20531" name="Text Box 51"/>
          <p:cNvSpPr txBox="1">
            <a:spLocks noChangeArrowheads="1"/>
          </p:cNvSpPr>
          <p:nvPr/>
        </p:nvSpPr>
        <p:spPr bwMode="auto">
          <a:xfrm>
            <a:off x="2268538" y="2060575"/>
            <a:ext cx="12874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hr-HR"/>
              <a:t>Davatelj</a:t>
            </a:r>
          </a:p>
        </p:txBody>
      </p:sp>
      <p:sp>
        <p:nvSpPr>
          <p:cNvPr id="20532" name="Text Box 52"/>
          <p:cNvSpPr txBox="1">
            <a:spLocks noChangeArrowheads="1"/>
          </p:cNvSpPr>
          <p:nvPr/>
        </p:nvSpPr>
        <p:spPr bwMode="auto">
          <a:xfrm>
            <a:off x="6013450" y="2060575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hr-HR"/>
              <a:t>Primatelj</a:t>
            </a:r>
          </a:p>
        </p:txBody>
      </p:sp>
      <p:pic>
        <p:nvPicPr>
          <p:cNvPr id="20533" name="Picture 53" descr="j0431602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133600"/>
            <a:ext cx="842962" cy="84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4" name="Picture 54" descr="j0431632[1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1916113"/>
            <a:ext cx="1144588" cy="1144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535" name="AutoShape 55"/>
          <p:cNvCxnSpPr>
            <a:cxnSpLocks noChangeShapeType="1"/>
            <a:stCxn id="20525" idx="2"/>
            <a:endCxn id="20530" idx="2"/>
          </p:cNvCxnSpPr>
          <p:nvPr/>
        </p:nvCxnSpPr>
        <p:spPr bwMode="auto">
          <a:xfrm rot="16200000" flipH="1">
            <a:off x="4788694" y="2783681"/>
            <a:ext cx="1588" cy="3743325"/>
          </a:xfrm>
          <a:prstGeom prst="bentConnector3">
            <a:avLst>
              <a:gd name="adj1" fmla="val 71900000"/>
            </a:avLst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536" name="Text Box 56"/>
          <p:cNvSpPr txBox="1">
            <a:spLocks noChangeArrowheads="1"/>
          </p:cNvSpPr>
          <p:nvPr/>
        </p:nvSpPr>
        <p:spPr bwMode="auto">
          <a:xfrm>
            <a:off x="3184525" y="5392738"/>
            <a:ext cx="3232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hr-HR" sz="1800"/>
              <a:t>100111001010010100101001</a:t>
            </a:r>
          </a:p>
        </p:txBody>
      </p:sp>
      <p:pic>
        <p:nvPicPr>
          <p:cNvPr id="20539" name="Picture 59" descr="j0384026[1]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133600"/>
            <a:ext cx="809625" cy="80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9776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674 0.02569 C 0.08021 0.02731 0.08628 0.02569 0.08715 0.03032 C 0.08767 0.03333 0.08733 0.03703 0.08889 0.03958 C 0.09045 0.04236 0.10764 0.04421 0.10781 0.04421 C 0.11042 0.0493 0.1125 0.06134 0.11649 0.06481 C 0.1184 0.06666 0.12101 0.06643 0.12326 0.06713 C 0.12378 0.06944 0.12413 0.07199 0.125 0.07407 C 0.12587 0.07638 0.1276 0.07824 0.12847 0.08078 C 0.13003 0.08518 0.13194 0.09467 0.13194 0.09467 C 0.13351 0.22893 0.1349 0.36041 0.13368 0.49467 C 0.15052 0.50208 0.16927 0.49676 0.18715 0.49699 C 0.26823 0.49838 0.34913 0.49861 0.43021 0.4993 C 0.45538 0.50023 0.57326 0.51319 0.57847 0.49236 C 0.57795 0.39351 0.57778 0.29467 0.57674 0.19583 C 0.57656 0.18564 0.57153 0.16597 0.57153 0.16597 C 0.56944 0.12083 0.56823 0.09953 0.56823 0.04652 C 0.56823 0.03958 0.56493 0.02801 0.56996 0.02569 C 0.58576 0.01851 0.6033 0.02407 0.61996 0.02338 C 0.63212 0.01921 0.64358 0.0162 0.65608 0.01412 C 0.675 0.00648 0.68785 0.0074 0.70955 0.0074 " pathEditMode="relative" ptsTypes="fffffffffffffffffffA">
                                      <p:cBhvr>
                                        <p:cTn id="13" dur="5000" fill="hold"/>
                                        <p:tgtEl>
                                          <p:spTgt spid="205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7" name="Text Box 9"/>
          <p:cNvSpPr txBox="1">
            <a:spLocks noChangeArrowheads="1"/>
          </p:cNvSpPr>
          <p:nvPr/>
        </p:nvSpPr>
        <p:spPr bwMode="auto">
          <a:xfrm>
            <a:off x="268191" y="1283832"/>
            <a:ext cx="8893175" cy="4939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hr-HR" sz="2100" dirty="0">
                <a:latin typeface="Calibri" pitchFamily="34" charset="0"/>
                <a:cs typeface="Calibri" pitchFamily="34" charset="0"/>
              </a:rPr>
              <a:t>Podaci za prijenos generiraju se </a:t>
            </a:r>
            <a:r>
              <a:rPr lang="hr-HR" sz="2100">
                <a:latin typeface="Calibri" pitchFamily="34" charset="0"/>
                <a:cs typeface="Calibri" pitchFamily="34" charset="0"/>
              </a:rPr>
              <a:t>u aplikaciji polazišnog </a:t>
            </a:r>
            <a:r>
              <a:rPr lang="hr-HR" sz="2100" dirty="0">
                <a:latin typeface="Calibri" pitchFamily="34" charset="0"/>
                <a:cs typeface="Calibri" pitchFamily="34" charset="0"/>
              </a:rPr>
              <a:t>uređaja</a:t>
            </a:r>
          </a:p>
          <a:p>
            <a:pPr marL="457200" indent="-457200">
              <a:buFont typeface="+mj-lt"/>
              <a:buAutoNum type="arabicPeriod"/>
            </a:pPr>
            <a:endParaRPr lang="hr-HR" sz="2100" dirty="0">
              <a:latin typeface="Calibri" pitchFamily="34" charset="0"/>
              <a:cs typeface="Calibri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hr-HR" sz="2100" dirty="0">
                <a:latin typeface="Calibri" pitchFamily="34" charset="0"/>
                <a:cs typeface="Calibri" pitchFamily="34" charset="0"/>
              </a:rPr>
              <a:t>Prolaskom kroz slojeve vrši se segmentacija i enkapsulacija</a:t>
            </a:r>
          </a:p>
          <a:p>
            <a:pPr marL="457200" indent="-457200">
              <a:buFont typeface="+mj-lt"/>
              <a:buAutoNum type="arabicPeriod"/>
            </a:pPr>
            <a:endParaRPr lang="hr-HR" sz="2100" dirty="0">
              <a:latin typeface="Calibri" pitchFamily="34" charset="0"/>
              <a:cs typeface="Calibri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hr-HR" sz="2100" dirty="0">
                <a:latin typeface="Calibri" pitchFamily="34" charset="0"/>
                <a:cs typeface="Calibri" pitchFamily="34" charset="0"/>
              </a:rPr>
              <a:t>Na sloju mrežnog pristupa generiraju se odgovarajući signali (električni, svjetlosni ili radiosignali)</a:t>
            </a:r>
          </a:p>
          <a:p>
            <a:pPr marL="457200" indent="-457200">
              <a:buFont typeface="+mj-lt"/>
              <a:buAutoNum type="arabicPeriod" startAt="4"/>
            </a:pPr>
            <a:endParaRPr lang="hr-HR" sz="2100" dirty="0">
              <a:latin typeface="Calibri" pitchFamily="34" charset="0"/>
              <a:cs typeface="Calibri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hr-HR" sz="2100" dirty="0">
                <a:latin typeface="Calibri" pitchFamily="34" charset="0"/>
                <a:cs typeface="Calibri" pitchFamily="34" charset="0"/>
              </a:rPr>
              <a:t>Signali putuju kroz medij</a:t>
            </a:r>
          </a:p>
          <a:p>
            <a:pPr marL="457200" indent="-457200">
              <a:buFont typeface="+mj-lt"/>
              <a:buAutoNum type="arabicPeriod" startAt="4"/>
            </a:pPr>
            <a:endParaRPr lang="hr-HR" sz="2100" dirty="0">
              <a:latin typeface="Calibri" pitchFamily="34" charset="0"/>
              <a:cs typeface="Calibri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hr-HR" sz="2100" dirty="0">
                <a:latin typeface="Calibri" pitchFamily="34" charset="0"/>
                <a:cs typeface="Calibri" pitchFamily="34" charset="0"/>
              </a:rPr>
              <a:t>Signale prima prijamni uređaj na sloju mrežnog pristupa</a:t>
            </a:r>
          </a:p>
          <a:p>
            <a:pPr marL="457200" indent="-457200">
              <a:buFont typeface="+mj-lt"/>
              <a:buAutoNum type="arabicPeriod" startAt="4"/>
            </a:pPr>
            <a:endParaRPr lang="hr-HR" sz="2100" dirty="0">
              <a:latin typeface="Calibri" pitchFamily="34" charset="0"/>
              <a:cs typeface="Calibri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hr-HR" sz="2100" dirty="0">
                <a:latin typeface="Calibri" pitchFamily="34" charset="0"/>
                <a:cs typeface="Calibri" pitchFamily="34" charset="0"/>
              </a:rPr>
              <a:t>Podaci se dekapsuliraju idući prema aplikacijskom sloju.</a:t>
            </a:r>
          </a:p>
          <a:p>
            <a:pPr marL="457200" indent="-457200">
              <a:buFont typeface="+mj-lt"/>
              <a:buAutoNum type="arabicPeriod" startAt="4"/>
            </a:pPr>
            <a:endParaRPr lang="hr-HR" sz="2100" dirty="0">
              <a:latin typeface="Calibri" pitchFamily="34" charset="0"/>
              <a:cs typeface="Calibri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hr-HR" sz="2100" dirty="0">
                <a:latin typeface="Calibri" pitchFamily="34" charset="0"/>
                <a:cs typeface="Calibri" pitchFamily="34" charset="0"/>
              </a:rPr>
              <a:t>U aplikacijskom sloju pretvaraju se u informaciju (poruku), razumljivu korisniku</a:t>
            </a:r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377578" y="548680"/>
            <a:ext cx="658545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hr-HR" sz="3200" dirty="0">
                <a:solidFill>
                  <a:schemeClr val="hlink"/>
                </a:solidFill>
                <a:latin typeface="Arial" charset="0"/>
                <a:ea typeface="+mj-ea"/>
                <a:cs typeface="+mj-cs"/>
              </a:rPr>
              <a:t>Proces komunikacije preko slojeva:</a:t>
            </a:r>
          </a:p>
        </p:txBody>
      </p:sp>
    </p:spTree>
    <p:extLst>
      <p:ext uri="{BB962C8B-B14F-4D97-AF65-F5344CB8AC3E}">
        <p14:creationId xmlns:p14="http://schemas.microsoft.com/office/powerpoint/2010/main" val="1241690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5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5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5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5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5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53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539552" y="1196752"/>
            <a:ext cx="8064896" cy="3677930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>
            <a:lvl1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>
                <a:latin typeface="Calibri" panose="020F0502020204030204" pitchFamily="34" charset="0"/>
              </a:defRPr>
            </a:lvl1pPr>
            <a:lvl2pPr marL="548640" indent="-274320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>
                <a:solidFill>
                  <a:schemeClr val="tx2"/>
                </a:solidFill>
              </a:defRPr>
            </a:lvl2pPr>
            <a:lvl3pPr marL="822960" indent="-228600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/>
            </a:lvl3pPr>
            <a:lvl4pPr marL="1097280" indent="-228600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/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/>
            </a:lvl5pPr>
            <a:lvl6pPr marL="1645920" indent="-182880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smtClean="0"/>
            </a:lvl6pPr>
            <a:lvl7pPr marL="1828800" indent="-182880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smtClean="0"/>
            </a:lvl7pPr>
            <a:lvl8pPr marL="2011680" indent="-182880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smtClean="0"/>
            </a:lvl8pPr>
            <a:lvl9pPr marL="2194560" indent="-182880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smtClean="0"/>
            </a:lvl9pPr>
          </a:lstStyle>
          <a:p>
            <a:r>
              <a:rPr lang="hr-HR" dirty="0"/>
              <a:t>Kako se aplikacijski podaci kreću niz slojeve, na svakoj razini im različiti protokoli dodaju nove informacije.</a:t>
            </a:r>
          </a:p>
          <a:p>
            <a:endParaRPr lang="hr-HR" dirty="0"/>
          </a:p>
          <a:p>
            <a:r>
              <a:rPr lang="hr-HR" dirty="0"/>
              <a:t>Svaki sloj enkapsulira podatke sloja iznad sebe</a:t>
            </a:r>
          </a:p>
          <a:p>
            <a:endParaRPr lang="hr-HR" dirty="0"/>
          </a:p>
          <a:p>
            <a:endParaRPr lang="hr-HR" dirty="0"/>
          </a:p>
          <a:p>
            <a:r>
              <a:rPr lang="hr-HR" dirty="0"/>
              <a:t>Svaki od slojeva unutar OSI modela ima neki oblik pakiranja podataka. </a:t>
            </a:r>
            <a:r>
              <a:rPr lang="hr-HR" b="1" i="1" dirty="0" err="1"/>
              <a:t>Protocol</a:t>
            </a:r>
            <a:r>
              <a:rPr lang="hr-HR" b="1" i="1" dirty="0"/>
              <a:t> Data </a:t>
            </a:r>
            <a:r>
              <a:rPr lang="hr-HR" b="1" i="1" dirty="0" err="1"/>
              <a:t>Unit</a:t>
            </a:r>
            <a:r>
              <a:rPr lang="hr-HR" b="1" i="1" dirty="0"/>
              <a:t> </a:t>
            </a:r>
            <a:r>
              <a:rPr lang="hr-HR" dirty="0"/>
              <a:t>(</a:t>
            </a:r>
            <a:r>
              <a:rPr lang="hr-HR" b="1" dirty="0"/>
              <a:t>PDU</a:t>
            </a:r>
            <a:r>
              <a:rPr lang="hr-HR" dirty="0"/>
              <a:t>) je naziv za pojedini oblik pakiranja podataka za odgovarajući sloj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68606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1023938" y="1143000"/>
            <a:ext cx="7435850" cy="509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hr-HR" sz="2800" dirty="0">
                <a:latin typeface="Calibri" pitchFamily="34" charset="0"/>
                <a:cs typeface="Calibri" pitchFamily="34" charset="0"/>
              </a:rPr>
              <a:t>PDU aplikacijskog sloja …………  podaci</a:t>
            </a:r>
          </a:p>
          <a:p>
            <a:endParaRPr lang="hr-HR" sz="2800" dirty="0">
              <a:latin typeface="Calibri" pitchFamily="34" charset="0"/>
              <a:cs typeface="Calibri" pitchFamily="34" charset="0"/>
            </a:endParaRPr>
          </a:p>
          <a:p>
            <a:r>
              <a:rPr lang="hr-HR" sz="2800" dirty="0">
                <a:latin typeface="Calibri" pitchFamily="34" charset="0"/>
                <a:cs typeface="Calibri" pitchFamily="34" charset="0"/>
              </a:rPr>
              <a:t>PDU transportnog sloja ………….. segmenti</a:t>
            </a:r>
          </a:p>
          <a:p>
            <a:endParaRPr lang="hr-HR" sz="2800" dirty="0">
              <a:latin typeface="Calibri" pitchFamily="34" charset="0"/>
              <a:cs typeface="Calibri" pitchFamily="34" charset="0"/>
            </a:endParaRPr>
          </a:p>
          <a:p>
            <a:r>
              <a:rPr lang="hr-HR" sz="2800" dirty="0">
                <a:latin typeface="Calibri" pitchFamily="34" charset="0"/>
                <a:cs typeface="Calibri" pitchFamily="34" charset="0"/>
              </a:rPr>
              <a:t>PDU mrežnog sloja (Internet) …..  paketi</a:t>
            </a:r>
          </a:p>
          <a:p>
            <a:endParaRPr lang="hr-HR" sz="2800" dirty="0">
              <a:latin typeface="Calibri" pitchFamily="34" charset="0"/>
              <a:cs typeface="Calibri" pitchFamily="34" charset="0"/>
            </a:endParaRPr>
          </a:p>
          <a:p>
            <a:r>
              <a:rPr lang="hr-HR" sz="2800" dirty="0">
                <a:latin typeface="Calibri" pitchFamily="34" charset="0"/>
                <a:cs typeface="Calibri" pitchFamily="34" charset="0"/>
              </a:rPr>
              <a:t>PDU sloja mrežnog pristupa …….  okviri</a:t>
            </a:r>
          </a:p>
          <a:p>
            <a:endParaRPr lang="hr-HR" sz="2800" dirty="0">
              <a:latin typeface="Calibri" pitchFamily="34" charset="0"/>
              <a:cs typeface="Calibri" pitchFamily="34" charset="0"/>
            </a:endParaRPr>
          </a:p>
          <a:p>
            <a:r>
              <a:rPr lang="hr-HR" sz="2800" dirty="0">
                <a:latin typeface="Calibri" pitchFamily="34" charset="0"/>
                <a:cs typeface="Calibri" pitchFamily="34" charset="0"/>
              </a:rPr>
              <a:t>PDU za prijenos kroz medij ……… bitovi</a:t>
            </a:r>
          </a:p>
          <a:p>
            <a:endParaRPr lang="hr-HR" sz="2800" dirty="0">
              <a:latin typeface="Rockwell" pitchFamily="18" charset="0"/>
            </a:endParaRPr>
          </a:p>
          <a:p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498227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6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6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6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6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05" name="Text Box 33"/>
          <p:cNvSpPr txBox="1">
            <a:spLocks noChangeArrowheads="1"/>
          </p:cNvSpPr>
          <p:nvPr/>
        </p:nvSpPr>
        <p:spPr bwMode="auto">
          <a:xfrm>
            <a:off x="808038" y="1133455"/>
            <a:ext cx="765239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hr-HR" sz="2400" dirty="0">
              <a:latin typeface="Calibri" pitchFamily="34" charset="0"/>
              <a:cs typeface="Calibri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hr-HR" sz="2400" dirty="0">
                <a:latin typeface="Calibri" pitchFamily="34" charset="0"/>
                <a:cs typeface="Calibri" pitchFamily="34" charset="0"/>
              </a:rPr>
              <a:t>Aplikacijski sloj HTML formatiranu stranicu  pomoću protokola aplikacijskog sloja HTTP,  odašilje do transportnog sloja</a:t>
            </a:r>
          </a:p>
          <a:p>
            <a:endParaRPr lang="hr-HR" sz="2400" dirty="0"/>
          </a:p>
        </p:txBody>
      </p:sp>
      <p:pic>
        <p:nvPicPr>
          <p:cNvPr id="28706" name="Picture 34" descr="j0197438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3285133"/>
            <a:ext cx="815975" cy="115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08" name="Picture 3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3" y="2853333"/>
            <a:ext cx="2665412" cy="1998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709" name="Rectangle 37"/>
          <p:cNvSpPr>
            <a:spLocks noChangeArrowheads="1"/>
          </p:cNvSpPr>
          <p:nvPr/>
        </p:nvSpPr>
        <p:spPr bwMode="auto">
          <a:xfrm>
            <a:off x="1835150" y="3574058"/>
            <a:ext cx="2592388" cy="5762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hr-HR"/>
              <a:t>Aplikacijski sloj</a:t>
            </a:r>
          </a:p>
        </p:txBody>
      </p:sp>
      <p:sp>
        <p:nvSpPr>
          <p:cNvPr id="28710" name="Rectangle 38"/>
          <p:cNvSpPr>
            <a:spLocks noChangeArrowheads="1"/>
          </p:cNvSpPr>
          <p:nvPr/>
        </p:nvSpPr>
        <p:spPr bwMode="auto">
          <a:xfrm>
            <a:off x="1835150" y="5733058"/>
            <a:ext cx="2592388" cy="5762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hr-HR"/>
              <a:t>Transportni sloj</a:t>
            </a:r>
          </a:p>
        </p:txBody>
      </p:sp>
      <p:cxnSp>
        <p:nvCxnSpPr>
          <p:cNvPr id="28715" name="AutoShape 43"/>
          <p:cNvCxnSpPr>
            <a:cxnSpLocks noChangeShapeType="1"/>
            <a:stCxn id="28709" idx="3"/>
            <a:endCxn id="28710" idx="3"/>
          </p:cNvCxnSpPr>
          <p:nvPr/>
        </p:nvCxnSpPr>
        <p:spPr bwMode="auto">
          <a:xfrm>
            <a:off x="4427538" y="3862983"/>
            <a:ext cx="1587" cy="2159000"/>
          </a:xfrm>
          <a:prstGeom prst="bentConnector3">
            <a:avLst>
              <a:gd name="adj1" fmla="val 145000000"/>
            </a:avLst>
          </a:prstGeom>
          <a:noFill/>
          <a:ln w="76200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377578" y="548680"/>
            <a:ext cx="822532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hr-HR" sz="3200" dirty="0">
                <a:solidFill>
                  <a:schemeClr val="hlink"/>
                </a:solidFill>
                <a:latin typeface="Arial" charset="0"/>
                <a:ea typeface="+mj-ea"/>
                <a:cs typeface="+mj-cs"/>
              </a:rPr>
              <a:t>Primjer: Server odašilje web stranicu klijentu</a:t>
            </a:r>
          </a:p>
        </p:txBody>
      </p:sp>
    </p:spTree>
    <p:extLst>
      <p:ext uri="{BB962C8B-B14F-4D97-AF65-F5344CB8AC3E}">
        <p14:creationId xmlns:p14="http://schemas.microsoft.com/office/powerpoint/2010/main" val="2428735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913 -0.01042 C 0.18073 -0.01134 0.21215 -0.01296 0.24375 -0.01296 C 0.26632 -0.01296 0.28993 -0.01944 0.31163 -0.01042 C 0.31788 -0.00787 0.31284 0.00695 0.31336 0.01574 C 0.31111 0.42662 0.39079 0.33565 0.09375 0.32986 C 0.08298 0.32963 0.07239 0.32824 0.06163 0.32755 C 0.02691 0.32245 -0.00747 0.32986 -0.04184 0.32986 " pathEditMode="relative" ptsTypes="ffffffA">
                                      <p:cBhvr>
                                        <p:cTn id="10" dur="3000" fill="hold"/>
                                        <p:tgtEl>
                                          <p:spTgt spid="287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483768" y="2987660"/>
            <a:ext cx="4320480" cy="19442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739068" y="1178892"/>
            <a:ext cx="750534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hr-HR" sz="2400" dirty="0">
                <a:latin typeface="Calibri" pitchFamily="34" charset="0"/>
                <a:cs typeface="Calibri" pitchFamily="34" charset="0"/>
              </a:rPr>
              <a:t>U transportnom sloju segmentacijom uz pomoć TCP protokola nastaju TCP </a:t>
            </a:r>
            <a:r>
              <a:rPr lang="hr-HR" sz="2400" b="1" dirty="0">
                <a:latin typeface="Calibri" pitchFamily="34" charset="0"/>
                <a:cs typeface="Calibri" pitchFamily="34" charset="0"/>
              </a:rPr>
              <a:t>segmenti</a:t>
            </a:r>
            <a:r>
              <a:rPr lang="hr-HR" sz="2400" dirty="0">
                <a:latin typeface="Calibri" pitchFamily="34" charset="0"/>
                <a:cs typeface="Calibri" pitchFamily="34" charset="0"/>
              </a:rPr>
              <a:t>. Svaki segment dobiva dodatak – zaglavlje</a:t>
            </a:r>
          </a:p>
        </p:txBody>
      </p:sp>
      <p:sp>
        <p:nvSpPr>
          <p:cNvPr id="30729" name="Rectangle 9"/>
          <p:cNvSpPr>
            <a:spLocks noChangeArrowheads="1"/>
          </p:cNvSpPr>
          <p:nvPr/>
        </p:nvSpPr>
        <p:spPr bwMode="auto">
          <a:xfrm>
            <a:off x="3818397" y="3275692"/>
            <a:ext cx="165122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hr-HR" dirty="0">
                <a:solidFill>
                  <a:schemeClr val="bg2"/>
                </a:solidFill>
              </a:rPr>
              <a:t>Transportni sloj</a:t>
            </a:r>
          </a:p>
        </p:txBody>
      </p:sp>
      <p:sp>
        <p:nvSpPr>
          <p:cNvPr id="30730" name="Text Box 10"/>
          <p:cNvSpPr txBox="1">
            <a:spLocks noChangeArrowheads="1"/>
          </p:cNvSpPr>
          <p:nvPr/>
        </p:nvSpPr>
        <p:spPr bwMode="auto">
          <a:xfrm>
            <a:off x="2843808" y="5291916"/>
            <a:ext cx="37433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hr-HR" sz="2400" dirty="0">
                <a:latin typeface="Calibri" pitchFamily="34" charset="0"/>
                <a:cs typeface="Calibri" pitchFamily="34" charset="0"/>
              </a:rPr>
              <a:t>To</a:t>
            </a:r>
            <a:r>
              <a:rPr lang="hr-HR" sz="2400" dirty="0"/>
              <a:t> </a:t>
            </a:r>
            <a:r>
              <a:rPr lang="hr-HR" sz="2400" dirty="0">
                <a:latin typeface="Calibri" pitchFamily="34" charset="0"/>
                <a:cs typeface="Calibri" pitchFamily="34" charset="0"/>
              </a:rPr>
              <a:t>je PDU transportnog sloja</a:t>
            </a:r>
          </a:p>
        </p:txBody>
      </p:sp>
      <p:sp>
        <p:nvSpPr>
          <p:cNvPr id="3" name="Rectangle 2"/>
          <p:cNvSpPr/>
          <p:nvPr/>
        </p:nvSpPr>
        <p:spPr>
          <a:xfrm>
            <a:off x="3054132" y="3959768"/>
            <a:ext cx="1013812" cy="3240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Zaglavlje</a:t>
            </a:r>
          </a:p>
        </p:txBody>
      </p:sp>
      <p:sp>
        <p:nvSpPr>
          <p:cNvPr id="4" name="Rectangle 3"/>
          <p:cNvSpPr/>
          <p:nvPr/>
        </p:nvSpPr>
        <p:spPr>
          <a:xfrm>
            <a:off x="4067944" y="3959768"/>
            <a:ext cx="2016224" cy="3240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Podaci</a:t>
            </a:r>
          </a:p>
        </p:txBody>
      </p:sp>
    </p:spTree>
    <p:extLst>
      <p:ext uri="{BB962C8B-B14F-4D97-AF65-F5344CB8AC3E}">
        <p14:creationId xmlns:p14="http://schemas.microsoft.com/office/powerpoint/2010/main" val="1828487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07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402104" y="1124744"/>
            <a:ext cx="732584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 typeface="+mj-lt"/>
              <a:buAutoNum type="arabicPeriod" startAt="3"/>
            </a:pPr>
            <a:r>
              <a:rPr lang="hr-HR" sz="2400" dirty="0">
                <a:latin typeface="Calibri" pitchFamily="34" charset="0"/>
                <a:cs typeface="Calibri" pitchFamily="34" charset="0"/>
              </a:rPr>
              <a:t>TCP </a:t>
            </a:r>
            <a:r>
              <a:rPr lang="hr-HR" sz="2400" b="1" dirty="0">
                <a:latin typeface="Calibri" pitchFamily="34" charset="0"/>
                <a:cs typeface="Calibri" pitchFamily="34" charset="0"/>
              </a:rPr>
              <a:t>segment</a:t>
            </a:r>
            <a:r>
              <a:rPr lang="hr-HR" sz="2400" dirty="0">
                <a:latin typeface="Calibri" pitchFamily="34" charset="0"/>
                <a:cs typeface="Calibri" pitchFamily="34" charset="0"/>
              </a:rPr>
              <a:t> odlazi u mrežni (Internet) sloj</a:t>
            </a:r>
          </a:p>
          <a:p>
            <a:pPr>
              <a:buFontTx/>
              <a:buAutoNum type="arabicPeriod" startAt="3"/>
            </a:pPr>
            <a:endParaRPr lang="hr-HR" sz="2400" dirty="0">
              <a:latin typeface="Calibri" pitchFamily="34" charset="0"/>
              <a:cs typeface="Calibri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hr-HR" sz="2400" dirty="0">
                <a:latin typeface="Calibri" pitchFamily="34" charset="0"/>
                <a:cs typeface="Calibri" pitchFamily="34" charset="0"/>
              </a:rPr>
              <a:t>Tu djeluje IP protokol koji segmentu dodaje novo zaglavlje te nastaje IP paket.</a:t>
            </a:r>
          </a:p>
        </p:txBody>
      </p:sp>
      <p:sp>
        <p:nvSpPr>
          <p:cNvPr id="32777" name="Text Box 9"/>
          <p:cNvSpPr txBox="1">
            <a:spLocks noChangeArrowheads="1"/>
          </p:cNvSpPr>
          <p:nvPr/>
        </p:nvSpPr>
        <p:spPr bwMode="auto">
          <a:xfrm>
            <a:off x="3000249" y="5579948"/>
            <a:ext cx="34210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hr-HR" sz="2400" dirty="0">
                <a:latin typeface="Calibri" pitchFamily="34" charset="0"/>
                <a:cs typeface="Calibri" pitchFamily="34" charset="0"/>
              </a:rPr>
              <a:t>To je PDU Internet sloja</a:t>
            </a:r>
          </a:p>
        </p:txBody>
      </p:sp>
      <p:sp>
        <p:nvSpPr>
          <p:cNvPr id="32778" name="Text Box 10"/>
          <p:cNvSpPr txBox="1">
            <a:spLocks noChangeArrowheads="1"/>
          </p:cNvSpPr>
          <p:nvPr/>
        </p:nvSpPr>
        <p:spPr bwMode="auto">
          <a:xfrm>
            <a:off x="1763688" y="5210616"/>
            <a:ext cx="61647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hr-HR" sz="2400" dirty="0">
                <a:latin typeface="Calibri" pitchFamily="34" charset="0"/>
                <a:cs typeface="Calibri" pitchFamily="34" charset="0"/>
              </a:rPr>
              <a:t>IP zaglavlje sadrži IP adrese: polaznu i odredišnu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3768" y="2867001"/>
            <a:ext cx="4320480" cy="19442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983410" y="3155033"/>
            <a:ext cx="13211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hr-HR" dirty="0">
                <a:solidFill>
                  <a:schemeClr val="bg2"/>
                </a:solidFill>
              </a:rPr>
              <a:t>Internet sloj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54132" y="3839109"/>
            <a:ext cx="1013812" cy="3240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Zaglavlje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7944" y="3839109"/>
            <a:ext cx="2016224" cy="3240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TCP segment</a:t>
            </a:r>
          </a:p>
        </p:txBody>
      </p:sp>
    </p:spTree>
    <p:extLst>
      <p:ext uri="{BB962C8B-B14F-4D97-AF65-F5344CB8AC3E}">
        <p14:creationId xmlns:p14="http://schemas.microsoft.com/office/powerpoint/2010/main" val="283331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27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7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7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27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7" grpId="0"/>
      <p:bldP spid="3277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467544" y="1196752"/>
            <a:ext cx="799288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hr-HR" sz="2400" dirty="0">
                <a:latin typeface="Calibri" pitchFamily="34" charset="0"/>
                <a:cs typeface="Calibri" pitchFamily="34" charset="0"/>
              </a:rPr>
              <a:t>U sloju mrežnog pristupa djeluje npr. Ethernet protokol.</a:t>
            </a:r>
          </a:p>
          <a:p>
            <a:endParaRPr lang="hr-HR" sz="2400" dirty="0">
              <a:latin typeface="Calibri" pitchFamily="34" charset="0"/>
              <a:cs typeface="Calibri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hr-HR" sz="2400" dirty="0">
                <a:latin typeface="Calibri" pitchFamily="34" charset="0"/>
                <a:cs typeface="Calibri" pitchFamily="34" charset="0"/>
              </a:rPr>
              <a:t>IP paket dobiva novo zaglavlje i začelje, te nastaje </a:t>
            </a:r>
            <a:r>
              <a:rPr lang="hr-HR" sz="2400" b="1" dirty="0">
                <a:latin typeface="Calibri" pitchFamily="34" charset="0"/>
                <a:cs typeface="Calibri" pitchFamily="34" charset="0"/>
              </a:rPr>
              <a:t>Ethernet okvir</a:t>
            </a:r>
          </a:p>
        </p:txBody>
      </p:sp>
      <p:sp>
        <p:nvSpPr>
          <p:cNvPr id="34826" name="Text Box 10"/>
          <p:cNvSpPr txBox="1">
            <a:spLocks noChangeArrowheads="1"/>
          </p:cNvSpPr>
          <p:nvPr/>
        </p:nvSpPr>
        <p:spPr bwMode="auto">
          <a:xfrm>
            <a:off x="1700013" y="5169966"/>
            <a:ext cx="590129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hr-HR" sz="2400" dirty="0">
                <a:latin typeface="Calibri" pitchFamily="34" charset="0"/>
                <a:cs typeface="Calibri" pitchFamily="34" charset="0"/>
              </a:rPr>
              <a:t>Ethernet zaglavlje sadrži fizičke ili MAC adrese</a:t>
            </a:r>
          </a:p>
          <a:p>
            <a:endParaRPr lang="hr-HR" sz="2400" dirty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hr-HR" sz="2400" dirty="0">
                <a:latin typeface="Calibri" pitchFamily="34" charset="0"/>
                <a:cs typeface="Calibri" pitchFamily="34" charset="0"/>
              </a:rPr>
              <a:t>To je PDU ovoga sloja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8168" y="2996274"/>
            <a:ext cx="4320480" cy="19442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538485" y="3297758"/>
            <a:ext cx="221105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hr-HR" dirty="0">
                <a:solidFill>
                  <a:schemeClr val="bg2"/>
                </a:solidFill>
              </a:rPr>
              <a:t>Sloj mrežnog pristupa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65594" y="3968382"/>
            <a:ext cx="1013812" cy="3240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Zaglavlje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86564" y="3968382"/>
            <a:ext cx="1728192" cy="3240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IP paket</a:t>
            </a:r>
          </a:p>
        </p:txBody>
      </p:sp>
      <p:sp>
        <p:nvSpPr>
          <p:cNvPr id="2" name="Rectangle 1"/>
          <p:cNvSpPr/>
          <p:nvPr/>
        </p:nvSpPr>
        <p:spPr>
          <a:xfrm>
            <a:off x="5514756" y="3968382"/>
            <a:ext cx="936104" cy="32403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Začelje</a:t>
            </a:r>
          </a:p>
        </p:txBody>
      </p:sp>
    </p:spTree>
    <p:extLst>
      <p:ext uri="{BB962C8B-B14F-4D97-AF65-F5344CB8AC3E}">
        <p14:creationId xmlns:p14="http://schemas.microsoft.com/office/powerpoint/2010/main" val="204895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48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8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8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81" name="Picture 1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2455564"/>
            <a:ext cx="2087563" cy="156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432527" y="1153815"/>
            <a:ext cx="797328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hr-HR" sz="2400" dirty="0">
                <a:latin typeface="Calibri" pitchFamily="34" charset="0"/>
                <a:cs typeface="Calibri" pitchFamily="34" charset="0"/>
              </a:rPr>
              <a:t>Ovako nastali </a:t>
            </a:r>
            <a:r>
              <a:rPr lang="hr-HR" sz="2400" b="1" dirty="0">
                <a:latin typeface="Calibri" pitchFamily="34" charset="0"/>
                <a:cs typeface="Calibri" pitchFamily="34" charset="0"/>
              </a:rPr>
              <a:t>bitovi</a:t>
            </a:r>
            <a:r>
              <a:rPr lang="hr-HR" sz="2400" dirty="0">
                <a:latin typeface="Calibri" pitchFamily="34" charset="0"/>
                <a:cs typeface="Calibri" pitchFamily="34" charset="0"/>
              </a:rPr>
              <a:t> u mrežnoj kartici servera se kodiraju na odgovarajući način – shodno vrsti medija na koji se upućuju.</a:t>
            </a:r>
          </a:p>
        </p:txBody>
      </p:sp>
      <p:pic>
        <p:nvPicPr>
          <p:cNvPr id="36869" name="Picture 5" descr="j0197438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744489"/>
            <a:ext cx="815975" cy="1150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870" name="Picture 6" descr="Slika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825" y="2600027"/>
            <a:ext cx="1169988" cy="117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6871" name="Group 7"/>
          <p:cNvGrpSpPr>
            <a:grpSpLocks/>
          </p:cNvGrpSpPr>
          <p:nvPr/>
        </p:nvGrpSpPr>
        <p:grpSpPr bwMode="auto">
          <a:xfrm>
            <a:off x="5867400" y="4111327"/>
            <a:ext cx="1728788" cy="1730375"/>
            <a:chOff x="748" y="2205"/>
            <a:chExt cx="1089" cy="1090"/>
          </a:xfrm>
        </p:grpSpPr>
        <p:sp>
          <p:nvSpPr>
            <p:cNvPr id="36872" name="Rectangle 8"/>
            <p:cNvSpPr>
              <a:spLocks noChangeArrowheads="1"/>
            </p:cNvSpPr>
            <p:nvPr/>
          </p:nvSpPr>
          <p:spPr bwMode="auto">
            <a:xfrm>
              <a:off x="748" y="2205"/>
              <a:ext cx="1089" cy="273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hr-HR"/>
                <a:t>Aplikacijski</a:t>
              </a:r>
            </a:p>
          </p:txBody>
        </p:sp>
        <p:sp>
          <p:nvSpPr>
            <p:cNvPr id="36873" name="Rectangle 9"/>
            <p:cNvSpPr>
              <a:spLocks noChangeArrowheads="1"/>
            </p:cNvSpPr>
            <p:nvPr/>
          </p:nvSpPr>
          <p:spPr bwMode="auto">
            <a:xfrm>
              <a:off x="748" y="2478"/>
              <a:ext cx="1089" cy="273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hr-HR" dirty="0"/>
                <a:t>Transportni</a:t>
              </a:r>
            </a:p>
          </p:txBody>
        </p:sp>
        <p:sp>
          <p:nvSpPr>
            <p:cNvPr id="36874" name="Rectangle 10"/>
            <p:cNvSpPr>
              <a:spLocks noChangeArrowheads="1"/>
            </p:cNvSpPr>
            <p:nvPr/>
          </p:nvSpPr>
          <p:spPr bwMode="auto">
            <a:xfrm>
              <a:off x="748" y="2750"/>
              <a:ext cx="1089" cy="273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hr-HR"/>
                <a:t>Internet</a:t>
              </a:r>
            </a:p>
          </p:txBody>
        </p:sp>
        <p:sp>
          <p:nvSpPr>
            <p:cNvPr id="36875" name="Rectangle 11"/>
            <p:cNvSpPr>
              <a:spLocks noChangeArrowheads="1"/>
            </p:cNvSpPr>
            <p:nvPr/>
          </p:nvSpPr>
          <p:spPr bwMode="auto">
            <a:xfrm>
              <a:off x="748" y="3022"/>
              <a:ext cx="1089" cy="273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hr-HR" sz="2000"/>
                <a:t>Mrežni pristup</a:t>
              </a:r>
            </a:p>
          </p:txBody>
        </p:sp>
      </p:grpSp>
      <p:grpSp>
        <p:nvGrpSpPr>
          <p:cNvPr id="36876" name="Group 12"/>
          <p:cNvGrpSpPr>
            <a:grpSpLocks/>
          </p:cNvGrpSpPr>
          <p:nvPr/>
        </p:nvGrpSpPr>
        <p:grpSpPr bwMode="auto">
          <a:xfrm>
            <a:off x="1692275" y="4184352"/>
            <a:ext cx="1728788" cy="1730375"/>
            <a:chOff x="748" y="2205"/>
            <a:chExt cx="1089" cy="1090"/>
          </a:xfrm>
        </p:grpSpPr>
        <p:sp>
          <p:nvSpPr>
            <p:cNvPr id="36877" name="Rectangle 13"/>
            <p:cNvSpPr>
              <a:spLocks noChangeArrowheads="1"/>
            </p:cNvSpPr>
            <p:nvPr/>
          </p:nvSpPr>
          <p:spPr bwMode="auto">
            <a:xfrm>
              <a:off x="748" y="2205"/>
              <a:ext cx="1089" cy="273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hr-HR"/>
                <a:t>Aplikacijski</a:t>
              </a:r>
            </a:p>
          </p:txBody>
        </p:sp>
        <p:sp>
          <p:nvSpPr>
            <p:cNvPr id="36878" name="Rectangle 14"/>
            <p:cNvSpPr>
              <a:spLocks noChangeArrowheads="1"/>
            </p:cNvSpPr>
            <p:nvPr/>
          </p:nvSpPr>
          <p:spPr bwMode="auto">
            <a:xfrm>
              <a:off x="748" y="2478"/>
              <a:ext cx="1089" cy="273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hr-HR"/>
                <a:t>Transportni</a:t>
              </a:r>
            </a:p>
          </p:txBody>
        </p:sp>
        <p:sp>
          <p:nvSpPr>
            <p:cNvPr id="36879" name="Rectangle 15"/>
            <p:cNvSpPr>
              <a:spLocks noChangeArrowheads="1"/>
            </p:cNvSpPr>
            <p:nvPr/>
          </p:nvSpPr>
          <p:spPr bwMode="auto">
            <a:xfrm>
              <a:off x="748" y="2750"/>
              <a:ext cx="1089" cy="273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hr-HR"/>
                <a:t>Internet</a:t>
              </a:r>
            </a:p>
          </p:txBody>
        </p:sp>
        <p:sp>
          <p:nvSpPr>
            <p:cNvPr id="36880" name="Rectangle 16"/>
            <p:cNvSpPr>
              <a:spLocks noChangeArrowheads="1"/>
            </p:cNvSpPr>
            <p:nvPr/>
          </p:nvSpPr>
          <p:spPr bwMode="auto">
            <a:xfrm>
              <a:off x="748" y="3022"/>
              <a:ext cx="1089" cy="273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hr-HR" sz="2000"/>
                <a:t>Mrežni pristup</a:t>
              </a:r>
            </a:p>
          </p:txBody>
        </p:sp>
      </p:grpSp>
      <p:cxnSp>
        <p:nvCxnSpPr>
          <p:cNvPr id="36882" name="AutoShape 18"/>
          <p:cNvCxnSpPr>
            <a:cxnSpLocks noChangeShapeType="1"/>
            <a:stCxn id="36881" idx="3"/>
            <a:endCxn id="36877" idx="3"/>
          </p:cNvCxnSpPr>
          <p:nvPr/>
        </p:nvCxnSpPr>
        <p:spPr bwMode="auto">
          <a:xfrm flipH="1">
            <a:off x="3421063" y="3238202"/>
            <a:ext cx="142875" cy="1163637"/>
          </a:xfrm>
          <a:prstGeom prst="bentConnector3">
            <a:avLst>
              <a:gd name="adj1" fmla="val -15888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84" name="AutoShape 20"/>
          <p:cNvCxnSpPr>
            <a:cxnSpLocks noChangeShapeType="1"/>
            <a:stCxn id="36880" idx="2"/>
            <a:endCxn id="36875" idx="2"/>
          </p:cNvCxnSpPr>
          <p:nvPr/>
        </p:nvCxnSpPr>
        <p:spPr bwMode="auto">
          <a:xfrm rot="5400000" flipH="1" flipV="1">
            <a:off x="4608513" y="3790652"/>
            <a:ext cx="73025" cy="4175125"/>
          </a:xfrm>
          <a:prstGeom prst="bentConnector3">
            <a:avLst>
              <a:gd name="adj1" fmla="val -980435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85" name="AutoShape 21"/>
          <p:cNvCxnSpPr>
            <a:cxnSpLocks noChangeShapeType="1"/>
            <a:stCxn id="36872" idx="1"/>
          </p:cNvCxnSpPr>
          <p:nvPr/>
        </p:nvCxnSpPr>
        <p:spPr bwMode="auto">
          <a:xfrm rot="10800000">
            <a:off x="5580063" y="3823989"/>
            <a:ext cx="287337" cy="504825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6886" name="Picture 2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2239664"/>
            <a:ext cx="2087562" cy="156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887" name="Text Box 23"/>
          <p:cNvSpPr txBox="1">
            <a:spLocks noChangeArrowheads="1"/>
          </p:cNvSpPr>
          <p:nvPr/>
        </p:nvSpPr>
        <p:spPr bwMode="auto">
          <a:xfrm>
            <a:off x="2627313" y="6200477"/>
            <a:ext cx="25860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hr-HR" sz="2000"/>
              <a:t>10010101011001000</a:t>
            </a:r>
          </a:p>
        </p:txBody>
      </p:sp>
    </p:spTree>
    <p:extLst>
      <p:ext uri="{BB962C8B-B14F-4D97-AF65-F5344CB8AC3E}">
        <p14:creationId xmlns:p14="http://schemas.microsoft.com/office/powerpoint/2010/main" val="4092841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368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368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6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9653 0 0.19323 0 0.28976 0 C 0.28819 -0.02176 0.28507 -0.0294 0.28976 -0.04838 C 0.28767 -0.07662 0.28802 -0.06366 0.28802 -0.0875 " pathEditMode="relative" ptsTypes="fffA">
                                      <p:cBhvr>
                                        <p:cTn id="18" dur="2000" fill="hold"/>
                                        <p:tgtEl>
                                          <p:spTgt spid="368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0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368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6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87" grpId="0"/>
      <p:bldP spid="36887" grpId="1"/>
      <p:bldP spid="36887" grpId="2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Rezervirano mjesto sadržaja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hr-HR" dirty="0">
                <a:latin typeface="Calibri" panose="020F0502020204030204" pitchFamily="34" charset="0"/>
              </a:rPr>
              <a:t>Postupak pakiranja podataka, od 7. sloja prema 1. sloju, u oblik pogodan za prijenos komunikacijskim vezama naziva se </a:t>
            </a:r>
            <a:r>
              <a:rPr lang="hr-HR" b="1" dirty="0" err="1">
                <a:latin typeface="Calibri" panose="020F0502020204030204" pitchFamily="34" charset="0"/>
              </a:rPr>
              <a:t>enkapsulacija</a:t>
            </a:r>
            <a:r>
              <a:rPr lang="hr-HR" dirty="0">
                <a:latin typeface="Calibri" panose="020F0502020204030204" pitchFamily="34" charset="0"/>
              </a:rPr>
              <a:t>. Odvija se na uređaju koji šalje podatke (izvor).</a:t>
            </a:r>
          </a:p>
          <a:p>
            <a:endParaRPr lang="hr-HR" dirty="0">
              <a:latin typeface="Calibri" panose="020F0502020204030204" pitchFamily="34" charset="0"/>
            </a:endParaRPr>
          </a:p>
          <a:p>
            <a:r>
              <a:rPr lang="hr-HR" dirty="0">
                <a:latin typeface="Calibri" panose="020F0502020204030204" pitchFamily="34" charset="0"/>
              </a:rPr>
              <a:t>Obrnuti postupak, od 1. sloja prema 7. sloju, kojim se iz bitova izgrađuje okvir, iz okvira uzima paket, iz paketa segment,... naziva se </a:t>
            </a:r>
            <a:r>
              <a:rPr lang="hr-HR" b="1" dirty="0">
                <a:latin typeface="Calibri" panose="020F0502020204030204" pitchFamily="34" charset="0"/>
              </a:rPr>
              <a:t>dekapsulacija</a:t>
            </a:r>
            <a:r>
              <a:rPr lang="hr-HR" dirty="0">
                <a:latin typeface="Calibri" panose="020F0502020204030204" pitchFamily="34" charset="0"/>
              </a:rPr>
              <a:t> i odvija se na uređaju koji prima podatke (odredište).</a:t>
            </a:r>
          </a:p>
          <a:p>
            <a:endParaRPr lang="hr-HR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727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6" name="Rezervirano mjesto sadržaja 5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88640"/>
            <a:ext cx="8889544" cy="6669360"/>
          </a:xfrm>
        </p:spPr>
      </p:pic>
    </p:spTree>
    <p:extLst>
      <p:ext uri="{BB962C8B-B14F-4D97-AF65-F5344CB8AC3E}">
        <p14:creationId xmlns:p14="http://schemas.microsoft.com/office/powerpoint/2010/main" val="1801193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0ACAF-746F-52C0-9C4B-E38085891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dirty="0"/>
              <a:t>Pitanja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94FCA-DB76-CAD5-1E70-4287FD02DE8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hr-HR" dirty="0"/>
              <a:t>Skiciraj proces enkapsulacije prema TCP/IP modelu ?</a:t>
            </a:r>
          </a:p>
          <a:p>
            <a:pPr marL="514350" indent="-514350">
              <a:buAutoNum type="arabicPeriod"/>
            </a:pPr>
            <a:r>
              <a:rPr lang="hr-HR" dirty="0"/>
              <a:t>Objasni proces komunicije preko slojeva ?</a:t>
            </a:r>
          </a:p>
          <a:p>
            <a:pPr marL="514350" indent="-514350">
              <a:buAutoNum type="arabicPeriod"/>
            </a:pPr>
            <a:r>
              <a:rPr lang="hr-HR" dirty="0"/>
              <a:t>Što je PDU te kako se nazivaju po slojevima ?</a:t>
            </a:r>
          </a:p>
          <a:p>
            <a:pPr marL="514350" indent="-514350">
              <a:buAutoNum type="arabicPeriod"/>
            </a:pPr>
            <a:r>
              <a:rPr lang="hr-HR" dirty="0"/>
              <a:t>Na primjeru servera koji odašilje web stranicu klijentu pojasni enkapsulaciju ?</a:t>
            </a:r>
          </a:p>
        </p:txBody>
      </p:sp>
    </p:spTree>
    <p:extLst>
      <p:ext uri="{BB962C8B-B14F-4D97-AF65-F5344CB8AC3E}">
        <p14:creationId xmlns:p14="http://schemas.microsoft.com/office/powerpoint/2010/main" val="3080245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91264" cy="8416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r-HR" sz="2800" dirty="0">
                <a:latin typeface="Calibri" pitchFamily="34" charset="0"/>
                <a:cs typeface="Calibri" pitchFamily="34" charset="0"/>
              </a:rPr>
              <a:t>Potraži na internetu i u bilježnicu nacrtaj polja pojedinog zaglavlja, te opiši funkciju svakog polja</a:t>
            </a:r>
          </a:p>
          <a:p>
            <a:pPr marL="731520" lvl="1" indent="-457200">
              <a:buClrTx/>
              <a:buSzPct val="100000"/>
              <a:buFont typeface="+mj-lt"/>
              <a:buAutoNum type="arabicPeriod"/>
            </a:pPr>
            <a:r>
              <a:rPr lang="hr-HR" sz="24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Zaglavlje transportnog sloja s TCP protokolom (TCP </a:t>
            </a:r>
            <a:r>
              <a:rPr lang="hr-HR" sz="24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header</a:t>
            </a:r>
            <a:r>
              <a:rPr lang="hr-HR" sz="24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)</a:t>
            </a:r>
          </a:p>
          <a:p>
            <a:pPr marL="731520" lvl="1" indent="-457200">
              <a:buClrTx/>
              <a:buSzPct val="100000"/>
              <a:buFont typeface="+mj-lt"/>
              <a:buAutoNum type="arabicPeriod"/>
            </a:pPr>
            <a:r>
              <a:rPr lang="hr-HR" sz="2400" dirty="0">
                <a:latin typeface="Calibri" pitchFamily="34" charset="0"/>
                <a:cs typeface="Calibri" pitchFamily="34" charset="0"/>
              </a:rPr>
              <a:t>Z</a:t>
            </a:r>
            <a:r>
              <a:rPr lang="hr-HR" sz="24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aglavlje transportnog sloja s UDP protokolom (UDP </a:t>
            </a:r>
            <a:r>
              <a:rPr lang="hr-HR" sz="24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header</a:t>
            </a:r>
            <a:r>
              <a:rPr lang="hr-HR" sz="24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)</a:t>
            </a:r>
          </a:p>
          <a:p>
            <a:pPr marL="731520" lvl="1" indent="-457200">
              <a:buClrTx/>
              <a:buSzPct val="100000"/>
              <a:buFont typeface="+mj-lt"/>
              <a:buAutoNum type="arabicPeriod"/>
            </a:pPr>
            <a:r>
              <a:rPr lang="hr-HR" sz="2400" dirty="0">
                <a:latin typeface="Calibri" pitchFamily="34" charset="0"/>
                <a:cs typeface="Calibri" pitchFamily="34" charset="0"/>
              </a:rPr>
              <a:t>Z</a:t>
            </a:r>
            <a:r>
              <a:rPr lang="hr-HR" sz="24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aglavlje mrežnog sloja (IPv4 </a:t>
            </a:r>
            <a:r>
              <a:rPr lang="hr-HR" sz="24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header</a:t>
            </a:r>
            <a:r>
              <a:rPr lang="hr-HR" sz="24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)</a:t>
            </a:r>
          </a:p>
          <a:p>
            <a:pPr marL="731520" lvl="1" indent="-457200">
              <a:buClrTx/>
              <a:buSzPct val="100000"/>
              <a:buFont typeface="+mj-lt"/>
              <a:buAutoNum type="arabicPeriod"/>
            </a:pPr>
            <a:r>
              <a:rPr lang="hr-HR" sz="2400" dirty="0">
                <a:latin typeface="Calibri" pitchFamily="34" charset="0"/>
                <a:cs typeface="Calibri" pitchFamily="34" charset="0"/>
              </a:rPr>
              <a:t>Z</a:t>
            </a:r>
            <a:r>
              <a:rPr lang="hr-HR" sz="24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aglavlje mrežnog sloja (IPv6 </a:t>
            </a:r>
            <a:r>
              <a:rPr lang="hr-HR" sz="24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header</a:t>
            </a:r>
            <a:r>
              <a:rPr lang="hr-HR" sz="24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)</a:t>
            </a:r>
          </a:p>
          <a:p>
            <a:pPr marL="731520" lvl="1" indent="-457200">
              <a:buClrTx/>
              <a:buSzPct val="100000"/>
              <a:buFont typeface="+mj-lt"/>
              <a:buAutoNum type="arabicPeriod"/>
            </a:pPr>
            <a:r>
              <a:rPr lang="hr-HR" sz="2400" dirty="0">
                <a:latin typeface="Calibri" pitchFamily="34" charset="0"/>
                <a:cs typeface="Calibri" pitchFamily="34" charset="0"/>
              </a:rPr>
              <a:t>Zaglavlje sloja podatkovne veze za Ethernet </a:t>
            </a:r>
            <a:r>
              <a:rPr lang="hr-HR" sz="2400" dirty="0" err="1">
                <a:latin typeface="Calibri" pitchFamily="34" charset="0"/>
                <a:cs typeface="Calibri" pitchFamily="34" charset="0"/>
              </a:rPr>
              <a:t>frame</a:t>
            </a:r>
            <a:r>
              <a:rPr lang="hr-HR" sz="2400" dirty="0">
                <a:latin typeface="Calibri" pitchFamily="34" charset="0"/>
                <a:cs typeface="Calibri" pitchFamily="34" charset="0"/>
              </a:rPr>
              <a:t> (Ethernet </a:t>
            </a:r>
            <a:r>
              <a:rPr lang="hr-HR" sz="2400" dirty="0" err="1">
                <a:latin typeface="Calibri" pitchFamily="34" charset="0"/>
                <a:cs typeface="Calibri" pitchFamily="34" charset="0"/>
              </a:rPr>
              <a:t>frame</a:t>
            </a:r>
            <a:r>
              <a:rPr lang="hr-HR" sz="2400" dirty="0">
                <a:latin typeface="Calibri" pitchFamily="34" charset="0"/>
                <a:cs typeface="Calibri" pitchFamily="34" charset="0"/>
              </a:rPr>
              <a:t> format)</a:t>
            </a:r>
          </a:p>
          <a:p>
            <a:pPr marL="731520" lvl="1" indent="-457200">
              <a:buClrTx/>
              <a:buSzPct val="100000"/>
              <a:buFont typeface="+mj-lt"/>
              <a:buAutoNum type="arabicPeriod"/>
            </a:pPr>
            <a:r>
              <a:rPr lang="hr-HR" sz="2400">
                <a:latin typeface="Calibri" pitchFamily="34" charset="0"/>
                <a:cs typeface="Calibri" pitchFamily="34" charset="0"/>
              </a:rPr>
              <a:t>Z</a:t>
            </a:r>
            <a:r>
              <a:rPr lang="hr-HR" sz="240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aglavlje </a:t>
            </a:r>
            <a:r>
              <a:rPr lang="hr-HR" sz="2400" dirty="0">
                <a:latin typeface="Calibri" pitchFamily="34" charset="0"/>
                <a:cs typeface="Calibri" pitchFamily="34" charset="0"/>
              </a:rPr>
              <a:t>sloja podatkovne veze za </a:t>
            </a:r>
            <a:r>
              <a:rPr lang="hr-HR" sz="2400" dirty="0" err="1">
                <a:latin typeface="Calibri" pitchFamily="34" charset="0"/>
                <a:cs typeface="Calibri" pitchFamily="34" charset="0"/>
              </a:rPr>
              <a:t>Wifi</a:t>
            </a:r>
            <a:r>
              <a:rPr lang="hr-HR" sz="2400" dirty="0">
                <a:latin typeface="Calibri" pitchFamily="34" charset="0"/>
                <a:cs typeface="Calibri" pitchFamily="34" charset="0"/>
              </a:rPr>
              <a:t> </a:t>
            </a:r>
            <a:r>
              <a:rPr lang="hr-HR" sz="2400" dirty="0" err="1">
                <a:latin typeface="Calibri" pitchFamily="34" charset="0"/>
                <a:cs typeface="Calibri" pitchFamily="34" charset="0"/>
              </a:rPr>
              <a:t>frame</a:t>
            </a:r>
            <a:r>
              <a:rPr lang="hr-HR" sz="2400" dirty="0">
                <a:latin typeface="Calibri" pitchFamily="34" charset="0"/>
                <a:cs typeface="Calibri" pitchFamily="34" charset="0"/>
              </a:rPr>
              <a:t> (</a:t>
            </a:r>
            <a:r>
              <a:rPr lang="hr-HR" sz="2400" dirty="0" err="1">
                <a:latin typeface="Calibri" pitchFamily="34" charset="0"/>
                <a:cs typeface="Calibri" pitchFamily="34" charset="0"/>
              </a:rPr>
              <a:t>Wifi</a:t>
            </a:r>
            <a:r>
              <a:rPr lang="hr-HR" sz="2400" dirty="0">
                <a:latin typeface="Calibri" pitchFamily="34" charset="0"/>
                <a:cs typeface="Calibri" pitchFamily="34" charset="0"/>
              </a:rPr>
              <a:t> </a:t>
            </a:r>
            <a:r>
              <a:rPr lang="hr-HR" sz="2400" dirty="0" err="1">
                <a:latin typeface="Calibri" pitchFamily="34" charset="0"/>
                <a:cs typeface="Calibri" pitchFamily="34" charset="0"/>
              </a:rPr>
              <a:t>frame</a:t>
            </a:r>
            <a:r>
              <a:rPr lang="hr-HR" sz="2400" dirty="0">
                <a:latin typeface="Calibri" pitchFamily="34" charset="0"/>
                <a:cs typeface="Calibri" pitchFamily="34" charset="0"/>
              </a:rPr>
              <a:t> format)</a:t>
            </a:r>
            <a:endParaRPr lang="hr-HR" sz="2400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hr-HR" dirty="0">
                <a:solidFill>
                  <a:schemeClr val="hlink"/>
                </a:solidFill>
                <a:latin typeface="Arial" charset="0"/>
              </a:rPr>
              <a:t>Domaća zadaća</a:t>
            </a:r>
          </a:p>
        </p:txBody>
      </p:sp>
    </p:spTree>
    <p:extLst>
      <p:ext uri="{BB962C8B-B14F-4D97-AF65-F5344CB8AC3E}">
        <p14:creationId xmlns:p14="http://schemas.microsoft.com/office/powerpoint/2010/main" val="789912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solidFill>
                  <a:schemeClr val="hlink"/>
                </a:solidFill>
                <a:latin typeface="Arial" charset="0"/>
              </a:rPr>
              <a:t>Linkovi i literatura</a:t>
            </a:r>
            <a:endParaRPr lang="hr-HR" dirty="0"/>
          </a:p>
        </p:txBody>
      </p:sp>
      <p:sp>
        <p:nvSpPr>
          <p:cNvPr id="3" name="Rezervirano mjesto sadržaja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b="0" i="0" dirty="0">
              <a:effectLst/>
              <a:latin typeface="Roboto" panose="02000000000000000000" pitchFamily="2" charset="0"/>
            </a:endParaRPr>
          </a:p>
          <a:p>
            <a:r>
              <a:rPr lang="en-US" b="0" i="0" dirty="0">
                <a:effectLst/>
                <a:latin typeface="Roboto" panose="02000000000000000000" pitchFamily="2" charset="0"/>
              </a:rPr>
              <a:t>Toni Allen</a:t>
            </a:r>
            <a:r>
              <a:rPr lang="hr-HR" b="0" i="0" dirty="0">
                <a:effectLst/>
                <a:latin typeface="Roboto" panose="02000000000000000000" pitchFamily="2" charset="0"/>
              </a:rPr>
              <a:t> - </a:t>
            </a:r>
            <a:r>
              <a:rPr lang="en-US" b="0" i="0" dirty="0">
                <a:effectLst/>
                <a:latin typeface="Roboto" panose="02000000000000000000" pitchFamily="2" charset="0"/>
              </a:rPr>
              <a:t>56 OSI Model Data Encapsulation and Decapsulation</a:t>
            </a:r>
            <a:r>
              <a:rPr lang="hr-HR" b="0" i="0">
                <a:effectLst/>
                <a:latin typeface="Roboto" panose="02000000000000000000" pitchFamily="2" charset="0"/>
              </a:rPr>
              <a:t>: </a:t>
            </a:r>
            <a:r>
              <a:rPr lang="en-US" b="0" i="0">
                <a:effectLst/>
                <a:latin typeface="Roboto" panose="02000000000000000000" pitchFamily="2" charset="0"/>
                <a:hlinkClick r:id="rId2"/>
              </a:rPr>
              <a:t>https</a:t>
            </a:r>
            <a:r>
              <a:rPr lang="en-US" b="0" i="0" dirty="0">
                <a:effectLst/>
                <a:latin typeface="Roboto" panose="02000000000000000000" pitchFamily="2" charset="0"/>
                <a:hlinkClick r:id="rId2"/>
              </a:rPr>
              <a:t>://www.youtube.com/watch?v=oM4jEIGs1BM</a:t>
            </a:r>
            <a:endParaRPr lang="hr-HR" b="0" i="0" dirty="0">
              <a:effectLst/>
              <a:latin typeface="Roboto" panose="02000000000000000000" pitchFamily="2" charset="0"/>
            </a:endParaRPr>
          </a:p>
          <a:p>
            <a:endParaRPr lang="hr-HR" b="0" i="0" dirty="0">
              <a:effectLst/>
              <a:latin typeface="Roboto" panose="02000000000000000000" pitchFamily="2" charset="0"/>
            </a:endParaRPr>
          </a:p>
          <a:p>
            <a:r>
              <a:rPr lang="en-US" b="0" i="0" dirty="0" err="1">
                <a:effectLst/>
                <a:latin typeface="Roboto" panose="02000000000000000000" pitchFamily="2" charset="0"/>
              </a:rPr>
              <a:t>LearnTech</a:t>
            </a:r>
            <a:r>
              <a:rPr lang="en-US" b="0" i="0" dirty="0">
                <a:effectLst/>
                <a:latin typeface="Roboto" panose="02000000000000000000" pitchFamily="2" charset="0"/>
              </a:rPr>
              <a:t> Training</a:t>
            </a:r>
            <a:r>
              <a:rPr lang="hr-HR" b="0" i="0" dirty="0">
                <a:effectLst/>
                <a:latin typeface="Roboto" panose="02000000000000000000" pitchFamily="2" charset="0"/>
              </a:rPr>
              <a:t> – </a:t>
            </a:r>
            <a:r>
              <a:rPr lang="en-US" b="0" i="0" dirty="0">
                <a:effectLst/>
                <a:latin typeface="Roboto" panose="02000000000000000000" pitchFamily="2" charset="0"/>
              </a:rPr>
              <a:t>Understanding Segments, Packets, and Frames - Data Encapsulation Series</a:t>
            </a:r>
            <a:r>
              <a:rPr lang="hr-HR" b="0" i="0" dirty="0">
                <a:effectLst/>
                <a:latin typeface="Roboto" panose="02000000000000000000" pitchFamily="2" charset="0"/>
              </a:rPr>
              <a:t>: </a:t>
            </a:r>
            <a:r>
              <a:rPr lang="hr-HR" dirty="0">
                <a:latin typeface="Roboto" panose="02000000000000000000" pitchFamily="2" charset="0"/>
                <a:hlinkClick r:id="rId3"/>
              </a:rPr>
              <a:t>https://www.youtube.com/watch?v=P5jC8D5zndc</a:t>
            </a:r>
            <a:endParaRPr lang="hr-HR" dirty="0">
              <a:latin typeface="Roboto" panose="02000000000000000000" pitchFamily="2" charset="0"/>
            </a:endParaRPr>
          </a:p>
          <a:p>
            <a:pPr marL="0" indent="0">
              <a:buNone/>
            </a:pPr>
            <a:endParaRPr lang="hr-HR" dirty="0">
              <a:latin typeface="Roboto" panose="02000000000000000000" pitchFamily="2" charset="0"/>
            </a:endParaRPr>
          </a:p>
          <a:p>
            <a:r>
              <a:rPr lang="hr-HR" dirty="0">
                <a:latin typeface="Calibri" panose="020F0502020204030204" pitchFamily="34" charset="0"/>
              </a:rPr>
              <a:t>System </a:t>
            </a:r>
            <a:r>
              <a:rPr lang="hr-HR" dirty="0" err="1">
                <a:latin typeface="Calibri" panose="020F0502020204030204" pitchFamily="34" charset="0"/>
              </a:rPr>
              <a:t>Engineer</a:t>
            </a:r>
            <a:r>
              <a:rPr lang="hr-HR" dirty="0">
                <a:latin typeface="Calibri" panose="020F0502020204030204" pitchFamily="34" charset="0"/>
              </a:rPr>
              <a:t> - Data </a:t>
            </a:r>
            <a:r>
              <a:rPr lang="hr-HR" dirty="0" err="1">
                <a:latin typeface="Calibri" panose="020F0502020204030204" pitchFamily="34" charset="0"/>
              </a:rPr>
              <a:t>Encapsulation</a:t>
            </a:r>
            <a:r>
              <a:rPr lang="hr-HR" dirty="0">
                <a:latin typeface="Calibri" panose="020F0502020204030204" pitchFamily="34" charset="0"/>
              </a:rPr>
              <a:t> OSI TCPIP: </a:t>
            </a:r>
            <a:r>
              <a:rPr lang="hr-HR" dirty="0">
                <a:latin typeface="Calibri" panose="020F0502020204030204" pitchFamily="34" charset="0"/>
                <a:hlinkClick r:id="rId4"/>
              </a:rPr>
              <a:t>https://www.youtube.com/watch?v=xaKvGnnuYmk</a:t>
            </a:r>
            <a:endParaRPr lang="hr-HR" dirty="0"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hr-HR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1701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74526B780CB7E40AAED50781EDEFDF6" ma:contentTypeVersion="3" ma:contentTypeDescription="Stvaranje novog dokumenta." ma:contentTypeScope="" ma:versionID="777ec096ffe1059902ca140be28fd25e">
  <xsd:schema xmlns:xsd="http://www.w3.org/2001/XMLSchema" xmlns:xs="http://www.w3.org/2001/XMLSchema" xmlns:p="http://schemas.microsoft.com/office/2006/metadata/properties" xmlns:ns2="c041744a-391e-4a25-927f-1fb68203ca47" targetNamespace="http://schemas.microsoft.com/office/2006/metadata/properties" ma:root="true" ma:fieldsID="e757e9ff823dac4eb8c91020045f2eb7" ns2:_="">
    <xsd:import namespace="c041744a-391e-4a25-927f-1fb68203ca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41744a-391e-4a25-927f-1fb68203ca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sadržaja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10C5A19-1DC9-4D80-8D0B-1930027B7CEF}"/>
</file>

<file path=customXml/itemProps2.xml><?xml version="1.0" encoding="utf-8"?>
<ds:datastoreItem xmlns:ds="http://schemas.openxmlformats.org/officeDocument/2006/customXml" ds:itemID="{B231C3F3-9BDA-4EFD-949E-1A4C980760AD}"/>
</file>

<file path=customXml/itemProps3.xml><?xml version="1.0" encoding="utf-8"?>
<ds:datastoreItem xmlns:ds="http://schemas.openxmlformats.org/officeDocument/2006/customXml" ds:itemID="{7A9F6C68-FFC1-4ECD-94E5-CEE6445E92D9}"/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2452</TotalTime>
  <Words>730</Words>
  <Application>Microsoft Office PowerPoint</Application>
  <PresentationFormat>On-screen Show (4:3)</PresentationFormat>
  <Paragraphs>148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Bookman Old Style</vt:lpstr>
      <vt:lpstr>Calibri</vt:lpstr>
      <vt:lpstr>Gill Sans MT</vt:lpstr>
      <vt:lpstr>Roboto</vt:lpstr>
      <vt:lpstr>Rockwell</vt:lpstr>
      <vt:lpstr>Wingdings</vt:lpstr>
      <vt:lpstr>Wingdings 3</vt:lpstr>
      <vt:lpstr>Origin</vt:lpstr>
      <vt:lpstr>Enkapsulacija i dekapsulacija</vt:lpstr>
      <vt:lpstr>Ponavljanje:</vt:lpstr>
      <vt:lpstr>Ponavljanje:</vt:lpstr>
      <vt:lpstr>Ponavljanje:</vt:lpstr>
      <vt:lpstr>Ponavljanje: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Pitanja </vt:lpstr>
      <vt:lpstr>Domaća zadaća</vt:lpstr>
      <vt:lpstr>Linkovi i literatura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Opći model komunikacijskog sustava</dc:title>
  <dc:creator>p</dc:creator>
  <cp:lastModifiedBy>Luka Huzjak</cp:lastModifiedBy>
  <cp:revision>54</cp:revision>
  <cp:lastPrinted>2021-11-03T16:53:31Z</cp:lastPrinted>
  <dcterms:created xsi:type="dcterms:W3CDTF">2015-09-07T20:59:37Z</dcterms:created>
  <dcterms:modified xsi:type="dcterms:W3CDTF">2024-10-07T21:54:18Z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0x010100C74526B780CB7E40AAED50781EDEFDF6</vt:lpwstr>
  </property>
</Properties>
</file>