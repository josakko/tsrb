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411" r:id="rId3"/>
    <p:sldId id="423" r:id="rId4"/>
    <p:sldId id="414" r:id="rId5"/>
    <p:sldId id="417" r:id="rId6"/>
    <p:sldId id="422" r:id="rId7"/>
    <p:sldId id="415" r:id="rId8"/>
    <p:sldId id="418" r:id="rId9"/>
    <p:sldId id="419" r:id="rId10"/>
    <p:sldId id="420" r:id="rId11"/>
    <p:sldId id="424" r:id="rId12"/>
  </p:sldIdLst>
  <p:sldSz cx="9144000" cy="6858000" type="screen4x3"/>
  <p:notesSz cx="6834188" cy="9979025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1129" autoAdjust="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Dumančić" userId="70f12f27-58fe-414c-89aa-9264ee582611" providerId="ADAL" clId="{7F7E6CBD-4B4B-4CBF-A4FB-97045AA3FAA0}"/>
    <pc:docChg chg="modSld">
      <pc:chgData name="Zoran Dumančić" userId="70f12f27-58fe-414c-89aa-9264ee582611" providerId="ADAL" clId="{7F7E6CBD-4B4B-4CBF-A4FB-97045AA3FAA0}" dt="2022-03-03T17:36:19.397" v="0" actId="20578"/>
      <pc:docMkLst>
        <pc:docMk/>
      </pc:docMkLst>
      <pc:sldChg chg="modSp">
        <pc:chgData name="Zoran Dumančić" userId="70f12f27-58fe-414c-89aa-9264ee582611" providerId="ADAL" clId="{7F7E6CBD-4B4B-4CBF-A4FB-97045AA3FAA0}" dt="2022-03-03T17:36:19.397" v="0" actId="20578"/>
        <pc:sldMkLst>
          <pc:docMk/>
          <pc:sldMk cId="493308626" sldId="422"/>
        </pc:sldMkLst>
        <pc:spChg chg="mod">
          <ac:chgData name="Zoran Dumančić" userId="70f12f27-58fe-414c-89aa-9264ee582611" providerId="ADAL" clId="{7F7E6CBD-4B4B-4CBF-A4FB-97045AA3FAA0}" dt="2022-03-03T17:36:19.397" v="0" actId="20578"/>
          <ac:spMkLst>
            <pc:docMk/>
            <pc:sldMk cId="493308626" sldId="422"/>
            <ac:spMk id="111618" creationId="{00000000-0000-0000-0000-000000000000}"/>
          </ac:spMkLst>
        </pc:spChg>
      </pc:sldChg>
    </pc:docChg>
  </pc:docChgLst>
  <pc:docChgLst>
    <pc:chgData name="Zoran Dumančić" userId="70f12f27-58fe-414c-89aa-9264ee582611" providerId="ADAL" clId="{DAB2E6B7-6F79-42F0-A48A-775AF138AA26}"/>
    <pc:docChg chg="modSld sldOrd">
      <pc:chgData name="Zoran Dumančić" userId="70f12f27-58fe-414c-89aa-9264ee582611" providerId="ADAL" clId="{DAB2E6B7-6F79-42F0-A48A-775AF138AA26}" dt="2024-03-20T17:26:39.653" v="1"/>
      <pc:docMkLst>
        <pc:docMk/>
      </pc:docMkLst>
      <pc:sldChg chg="ord">
        <pc:chgData name="Zoran Dumančić" userId="70f12f27-58fe-414c-89aa-9264ee582611" providerId="ADAL" clId="{DAB2E6B7-6F79-42F0-A48A-775AF138AA26}" dt="2024-03-20T17:26:39.653" v="1"/>
        <pc:sldMkLst>
          <pc:docMk/>
          <pc:sldMk cId="78566129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A4583-234D-4C7C-BD5B-A095720B3B8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59343-547E-4B6E-AE6F-D11BFA7371D1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12359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71125" y="0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7C12A-4DF7-403B-A283-50D78C81ABE6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3419" y="4740037"/>
            <a:ext cx="5467350" cy="44905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71125" y="9478342"/>
            <a:ext cx="2961481" cy="4989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B4AA-7FC7-404C-91AE-549D4281B966}" type="slidenum">
              <a:rPr lang="hr-HR" smtClean="0"/>
              <a:pPr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13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pPr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3602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D41DCD-383A-4DC4-B97E-C4709FBC9A6C}" type="slidenum">
              <a:rPr lang="hr-HR"/>
              <a:pPr/>
              <a:t>2</a:t>
            </a:fld>
            <a:endParaRPr lang="hr-HR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06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DAD155-89C9-4D79-A047-31ACD0FC9468}" type="slidenum">
              <a:rPr lang="hr-HR"/>
              <a:pPr/>
              <a:t>3</a:t>
            </a:fld>
            <a:endParaRPr lang="hr-HR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891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930A12-8B17-4C53-90E8-716AC606A537}" type="slidenum">
              <a:rPr lang="hr-HR"/>
              <a:pPr/>
              <a:t>4</a:t>
            </a:fld>
            <a:endParaRPr lang="hr-HR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773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26946F-6BDD-41E9-9AB2-5F981DD397A5}" type="slidenum">
              <a:rPr lang="hr-HR"/>
              <a:pPr/>
              <a:t>5</a:t>
            </a:fld>
            <a:endParaRPr lang="hr-HR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446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26946F-6BDD-41E9-9AB2-5F981DD397A5}" type="slidenum">
              <a:rPr lang="hr-HR"/>
              <a:pPr/>
              <a:t>6</a:t>
            </a:fld>
            <a:endParaRPr lang="hr-HR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210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473A16-A07D-430A-9F4D-4D304B214FD4}" type="slidenum">
              <a:rPr lang="hr-HR"/>
              <a:pPr/>
              <a:t>7</a:t>
            </a:fld>
            <a:endParaRPr lang="hr-H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48020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4BB5D5-5C45-4155-88A2-1B388A079D5B}" type="slidenum">
              <a:rPr lang="hr-HR"/>
              <a:pPr/>
              <a:t>8</a:t>
            </a:fld>
            <a:endParaRPr lang="hr-HR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303520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F986D-E9AB-4715-810C-DA9469E7E5C1}" type="slidenum">
              <a:rPr lang="hr-HR"/>
              <a:pPr/>
              <a:t>9</a:t>
            </a:fld>
            <a:endParaRPr lang="hr-HR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989212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39FEDF-981D-420C-A844-D98F4EA62DA1}" type="slidenum">
              <a:rPr lang="hr-HR"/>
              <a:pPr/>
              <a:t>10</a:t>
            </a:fld>
            <a:endParaRPr lang="hr-HR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4759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26BEB08-B0C2-45E8-8318-CFD0EF8EE004}" type="datetimeFigureOut">
              <a:rPr lang="hr-HR" smtClean="0"/>
              <a:pPr/>
              <a:t>27.1.2025.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AB60E86-8D67-4FDC-9E77-73D5ED035159}" type="slidenum">
              <a:rPr lang="hr-HR" smtClean="0"/>
              <a:pPr/>
              <a:t>‹#›</a:t>
            </a:fld>
            <a:endParaRPr lang="hr-H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645024"/>
            <a:ext cx="7920880" cy="1296144"/>
          </a:xfrm>
        </p:spPr>
        <p:txBody>
          <a:bodyPr>
            <a:noAutofit/>
          </a:bodyPr>
          <a:lstStyle/>
          <a:p>
            <a:r>
              <a:rPr lang="hr-HR" sz="3600" b="1" dirty="0">
                <a:solidFill>
                  <a:schemeClr val="hlink"/>
                </a:solidFill>
              </a:rPr>
              <a:t>PODATKOVNI SLOJ</a:t>
            </a:r>
            <a:br>
              <a:rPr lang="hr-HR" sz="3600" dirty="0">
                <a:solidFill>
                  <a:schemeClr val="hlink"/>
                </a:solidFill>
              </a:rPr>
            </a:br>
            <a:r>
              <a:rPr lang="hr-HR" sz="3600" dirty="0">
                <a:solidFill>
                  <a:schemeClr val="hlink"/>
                </a:solidFill>
              </a:rPr>
              <a:t>Preklopnik u lokalnoj mreži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Uvod u računalne mreže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3362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66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467544" y="1196752"/>
            <a:ext cx="8066087" cy="554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742950" indent="-285750" eaLnBrk="0" hangingPunct="0"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Više uređaja spojenih na preklopnik može komunicirati istovremeno</a:t>
            </a:r>
          </a:p>
          <a:p>
            <a:endParaRPr lang="hr-HR" dirty="0"/>
          </a:p>
          <a:p>
            <a:r>
              <a:rPr lang="hr-HR" dirty="0"/>
              <a:t>Brzine prijenosa 100-1000 Mb/s</a:t>
            </a:r>
          </a:p>
          <a:p>
            <a:endParaRPr lang="hr-HR" dirty="0"/>
          </a:p>
          <a:p>
            <a:r>
              <a:rPr lang="hr-HR" dirty="0"/>
              <a:t>Preklopnik može raditi u zadanom (default) načinu rada, ali se može i konfigurirati tako da radi prema potrebama lokalne mreže (LAN)</a:t>
            </a:r>
          </a:p>
          <a:p>
            <a:r>
              <a:rPr lang="hr-HR" dirty="0"/>
              <a:t>U zadanom načinu sam određuje:</a:t>
            </a:r>
          </a:p>
          <a:p>
            <a:pPr marL="548640" lvl="1" indent="-274320" eaLnBrk="1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</a:pPr>
            <a:r>
              <a:rPr lang="hr-HR" dirty="0"/>
              <a:t> </a:t>
            </a:r>
            <a:r>
              <a:rPr lang="hr-H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dupleks mod</a:t>
            </a:r>
          </a:p>
          <a:p>
            <a:pPr marL="548640" lvl="1" indent="-274320" eaLnBrk="1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</a:pPr>
            <a:r>
              <a:rPr lang="hr-H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brzinu (Bandwith)</a:t>
            </a:r>
          </a:p>
          <a:p>
            <a:pPr marL="548640" lvl="1" indent="-274320" eaLnBrk="1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</a:pPr>
            <a:r>
              <a:rPr lang="hr-H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simetrični način rada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3238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06" name="Text Box 14"/>
          <p:cNvSpPr txBox="1">
            <a:spLocks noChangeArrowheads="1"/>
          </p:cNvSpPr>
          <p:nvPr/>
        </p:nvSpPr>
        <p:spPr bwMode="auto">
          <a:xfrm>
            <a:off x="639763" y="540763"/>
            <a:ext cx="54457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*Kontrola prijenosa podataka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467544" y="1792288"/>
            <a:ext cx="7964487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Obuhvaća: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Kontrolu pristupa mediju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Način komuniciranja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Kašnjenje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Zagušenje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endParaRPr lang="hr-HR" sz="2400" dirty="0">
              <a:latin typeface="Calibri" pitchFamily="34" charset="0"/>
              <a:cs typeface="Calibri" pitchFamily="34" charset="0"/>
            </a:endParaRP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hr-HR" sz="2400" dirty="0">
                <a:latin typeface="Calibri" pitchFamily="34" charset="0"/>
                <a:cs typeface="Calibri" pitchFamily="34" charset="0"/>
              </a:rPr>
              <a:t>O tome više u slijedećim predavanjima!</a:t>
            </a:r>
          </a:p>
          <a:p>
            <a:pPr algn="l">
              <a:buFontTx/>
              <a:buChar char="-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826731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467544" y="1196752"/>
            <a:ext cx="8353425" cy="502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400">
                <a:latin typeface="Arial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Vrijeme potrebno da okvir stigne od ishodišnog do odredišnog uređaja (mrežne kartice tog uređaja)</a:t>
            </a:r>
          </a:p>
          <a:p>
            <a:endParaRPr lang="hr-HR" dirty="0"/>
          </a:p>
          <a:p>
            <a:r>
              <a:rPr lang="hr-HR" dirty="0"/>
              <a:t>Tri su parametra:</a:t>
            </a:r>
          </a:p>
          <a:p>
            <a:pPr lvl="1"/>
            <a:r>
              <a:rPr lang="hr-H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Vrijeme potrebno da ishodišni uređaj postavi signal na medij te da odredišni uređaj interpretira te signale</a:t>
            </a:r>
          </a:p>
          <a:p>
            <a:pPr lvl="1"/>
            <a:r>
              <a:rPr lang="hr-H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Vrijeme potrebno da signal prijeđe put od ishodišnog do odredišnog uređaja</a:t>
            </a:r>
          </a:p>
          <a:p>
            <a:pPr lvl="1"/>
            <a:r>
              <a:rPr lang="hr-H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Kao i drugim mrežni uređajima, preklopniku treba određeno vrijeme da obradi podatke koje uzima iz okvira – unosi kašnjenje</a:t>
            </a:r>
          </a:p>
          <a:p>
            <a:endParaRPr lang="hr-HR" dirty="0"/>
          </a:p>
          <a:p>
            <a:r>
              <a:rPr lang="hr-HR" dirty="0"/>
              <a:t>Što više posla uređaj obavlja, veće je kašnjenje - najveće kašnjenje unosi usmjernik (router)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Kašnjenje</a:t>
            </a:r>
          </a:p>
        </p:txBody>
      </p:sp>
    </p:spTree>
    <p:extLst>
      <p:ext uri="{BB962C8B-B14F-4D97-AF65-F5344CB8AC3E}">
        <p14:creationId xmlns:p14="http://schemas.microsoft.com/office/powerpoint/2010/main" val="533742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467544" y="1124744"/>
            <a:ext cx="8013700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U velikoj, </a:t>
            </a:r>
            <a:r>
              <a:rPr lang="hr-HR" dirty="0" err="1"/>
              <a:t>nesegmentiranoj</a:t>
            </a:r>
            <a:r>
              <a:rPr lang="hr-HR" dirty="0"/>
              <a:t> mreži generira se veći promet, što dovodi do njenoga zagušenja (manja propusnost)</a:t>
            </a:r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Glavni razlog segmentiranja mreže je međusobno izoliranje prometa kako bi se bolje iskoristila širina pojasa (engl. bandwidth)</a:t>
            </a:r>
          </a:p>
          <a:p>
            <a:endParaRPr lang="hr-HR" dirty="0"/>
          </a:p>
          <a:p>
            <a:endParaRPr lang="hr-HR" dirty="0"/>
          </a:p>
          <a:p>
            <a:r>
              <a:rPr lang="hr-HR" dirty="0"/>
              <a:t>Broadcast promet kojeg stvaraju sami mrežni uređaji, može izazvati veliku količinu podataka, što usporava rad mreže.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Zagušenje u mreži</a:t>
            </a:r>
          </a:p>
        </p:txBody>
      </p:sp>
    </p:spTree>
    <p:extLst>
      <p:ext uri="{BB962C8B-B14F-4D97-AF65-F5344CB8AC3E}">
        <p14:creationId xmlns:p14="http://schemas.microsoft.com/office/powerpoint/2010/main" val="101036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467544" y="1124744"/>
            <a:ext cx="8013700" cy="376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Najčešći uzroci zagušenja:</a:t>
            </a:r>
          </a:p>
          <a:p>
            <a:pPr lvl="1"/>
            <a:r>
              <a:rPr lang="hr-HR" dirty="0"/>
              <a:t>Sve veća količina podataka (napredak tehnologije)</a:t>
            </a:r>
          </a:p>
          <a:p>
            <a:pPr lvl="1"/>
            <a:r>
              <a:rPr lang="hr-HR" dirty="0"/>
              <a:t>Broadcast poruke – uređaj ih mora pročitati i kada mu nisu namjenjene</a:t>
            </a:r>
          </a:p>
          <a:p>
            <a:pPr lvl="1"/>
            <a:r>
              <a:rPr lang="hr-HR" dirty="0"/>
              <a:t>(npr. videoaplikacije ili učenje preko mreže) Mrežne aplikacije zahtijevaju sve veću širinu pojasa jer moraju procesuirati sve veću količinu podataka </a:t>
            </a:r>
          </a:p>
          <a:p>
            <a:endParaRPr lang="hr-HR" dirty="0"/>
          </a:p>
          <a:p>
            <a:r>
              <a:rPr lang="hr-HR" dirty="0"/>
              <a:t>Pažljivom konfiguracijom zagušenje se može umanjiti ili izbjeći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Zagušenje u mreži</a:t>
            </a:r>
          </a:p>
        </p:txBody>
      </p:sp>
    </p:spTree>
    <p:extLst>
      <p:ext uri="{BB962C8B-B14F-4D97-AF65-F5344CB8AC3E}">
        <p14:creationId xmlns:p14="http://schemas.microsoft.com/office/powerpoint/2010/main" val="49330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467544" y="1196752"/>
            <a:ext cx="6747488" cy="2257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Store and forward</a:t>
            </a:r>
          </a:p>
          <a:p>
            <a:pPr lvl="1"/>
            <a:r>
              <a:rPr lang="hr-HR" dirty="0"/>
              <a:t>Preklopnik prima okvir i provjerava FCS polje (Frame check sequence)</a:t>
            </a:r>
          </a:p>
          <a:p>
            <a:pPr lvl="1"/>
            <a:r>
              <a:rPr lang="hr-HR" dirty="0"/>
              <a:t>Ako je sve u redu, gleda odredišnu MAC adresu</a:t>
            </a:r>
          </a:p>
          <a:p>
            <a:pPr lvl="1"/>
            <a:r>
              <a:rPr lang="hr-HR" dirty="0"/>
              <a:t>Prosljeđuje okvir na odgovarajući port</a:t>
            </a:r>
          </a:p>
          <a:p>
            <a:pPr lvl="1"/>
            <a:r>
              <a:rPr lang="hr-HR" dirty="0"/>
              <a:t>Ako postoji pogreška okvir se odbacuje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60204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Prosljeđivanje okvira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67544" y="3836124"/>
            <a:ext cx="7332007" cy="240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Cut through</a:t>
            </a:r>
          </a:p>
          <a:p>
            <a:pPr lvl="1"/>
            <a:r>
              <a:rPr lang="hr-HR" dirty="0"/>
              <a:t>Započinje sa prosljeđivanjem čim očita odredišnu MAC adresu, prije nego čitav okvir stigne</a:t>
            </a:r>
          </a:p>
          <a:p>
            <a:pPr lvl="1"/>
            <a:r>
              <a:rPr lang="hr-HR" dirty="0"/>
              <a:t>Brži način, ali su moguće pogreške kod prijenosa</a:t>
            </a:r>
          </a:p>
          <a:p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6519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467544" y="1208996"/>
            <a:ext cx="7219950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hr-HR" dirty="0"/>
              <a:t>Asimetrični prespojnik 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dirty="0"/>
              <a:t>Nema sve portove iste propusnosti </a:t>
            </a:r>
          </a:p>
          <a:p>
            <a:r>
              <a:rPr lang="hr-HR" dirty="0"/>
              <a:t>Sprečavanje uskih grla</a:t>
            </a:r>
          </a:p>
          <a:p>
            <a:r>
              <a:rPr lang="hr-HR" dirty="0"/>
              <a:t>Zahtijeva se privremena memorija (buffer) gdje se okviri privremeno spremaju</a:t>
            </a:r>
          </a:p>
          <a:p>
            <a:endParaRPr lang="hr-HR" dirty="0"/>
          </a:p>
        </p:txBody>
      </p:sp>
      <p:grpSp>
        <p:nvGrpSpPr>
          <p:cNvPr id="121860" name="Group 4"/>
          <p:cNvGrpSpPr>
            <a:grpSpLocks/>
          </p:cNvGrpSpPr>
          <p:nvPr/>
        </p:nvGrpSpPr>
        <p:grpSpPr bwMode="auto">
          <a:xfrm>
            <a:off x="3564260" y="3788618"/>
            <a:ext cx="5256212" cy="2952750"/>
            <a:chOff x="1020" y="1253"/>
            <a:chExt cx="3900" cy="2040"/>
          </a:xfrm>
        </p:grpSpPr>
        <p:pic>
          <p:nvPicPr>
            <p:cNvPr id="121861" name="Picture 5" descr="Preklopni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9" y="1253"/>
              <a:ext cx="589" cy="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2" name="Picture 6" descr="Hub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8" y="1479"/>
              <a:ext cx="496" cy="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3" name="Picture 7" descr="Hub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5" y="2205"/>
              <a:ext cx="496" cy="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4" name="Picture 8" descr="Hub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5" y="2250"/>
              <a:ext cx="496" cy="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5" name="Picture 9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253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6" name="Picture 10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" y="1888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7" name="Picture 11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9" y="2704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8" name="Picture 12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8" y="2795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69" name="Picture 13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7" y="1842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870" name="Picture 14" descr="Prijenosnik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9" y="2840"/>
              <a:ext cx="453" cy="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871" name="Line 15"/>
            <p:cNvSpPr>
              <a:spLocks noChangeShapeType="1"/>
            </p:cNvSpPr>
            <p:nvPr/>
          </p:nvSpPr>
          <p:spPr bwMode="auto">
            <a:xfrm flipH="1" flipV="1">
              <a:off x="1383" y="1525"/>
              <a:ext cx="68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2" name="Line 16"/>
            <p:cNvSpPr>
              <a:spLocks noChangeShapeType="1"/>
            </p:cNvSpPr>
            <p:nvPr/>
          </p:nvSpPr>
          <p:spPr bwMode="auto">
            <a:xfrm flipH="1">
              <a:off x="1655" y="1661"/>
              <a:ext cx="454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3" name="Line 17"/>
            <p:cNvSpPr>
              <a:spLocks noChangeShapeType="1"/>
            </p:cNvSpPr>
            <p:nvPr/>
          </p:nvSpPr>
          <p:spPr bwMode="auto">
            <a:xfrm flipV="1">
              <a:off x="2517" y="1479"/>
              <a:ext cx="86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4" name="Line 18"/>
            <p:cNvSpPr>
              <a:spLocks noChangeShapeType="1"/>
            </p:cNvSpPr>
            <p:nvPr/>
          </p:nvSpPr>
          <p:spPr bwMode="auto">
            <a:xfrm flipV="1">
              <a:off x="2653" y="1479"/>
              <a:ext cx="90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5" name="Line 19"/>
            <p:cNvSpPr>
              <a:spLocks noChangeShapeType="1"/>
            </p:cNvSpPr>
            <p:nvPr/>
          </p:nvSpPr>
          <p:spPr bwMode="auto">
            <a:xfrm>
              <a:off x="3742" y="1479"/>
              <a:ext cx="13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6" name="Line 20"/>
            <p:cNvSpPr>
              <a:spLocks noChangeShapeType="1"/>
            </p:cNvSpPr>
            <p:nvPr/>
          </p:nvSpPr>
          <p:spPr bwMode="auto">
            <a:xfrm flipV="1">
              <a:off x="1882" y="2387"/>
              <a:ext cx="499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7" name="Line 21"/>
            <p:cNvSpPr>
              <a:spLocks noChangeShapeType="1"/>
            </p:cNvSpPr>
            <p:nvPr/>
          </p:nvSpPr>
          <p:spPr bwMode="auto">
            <a:xfrm flipH="1" flipV="1">
              <a:off x="2517" y="2387"/>
              <a:ext cx="317" cy="4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8" name="Line 22"/>
            <p:cNvSpPr>
              <a:spLocks noChangeShapeType="1"/>
            </p:cNvSpPr>
            <p:nvPr/>
          </p:nvSpPr>
          <p:spPr bwMode="auto">
            <a:xfrm flipH="1" flipV="1">
              <a:off x="3696" y="2432"/>
              <a:ext cx="499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  <p:sp>
          <p:nvSpPr>
            <p:cNvPr id="121879" name="Line 23"/>
            <p:cNvSpPr>
              <a:spLocks noChangeShapeType="1"/>
            </p:cNvSpPr>
            <p:nvPr/>
          </p:nvSpPr>
          <p:spPr bwMode="auto">
            <a:xfrm flipH="1">
              <a:off x="4014" y="2205"/>
              <a:ext cx="544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5632772" y="3748931"/>
            <a:ext cx="1071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 Mbps</a:t>
            </a: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5867722" y="4652218"/>
            <a:ext cx="1071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 Mbps</a:t>
            </a:r>
          </a:p>
        </p:txBody>
      </p:sp>
      <p:sp>
        <p:nvSpPr>
          <p:cNvPr id="121882" name="Text Box 26"/>
          <p:cNvSpPr txBox="1">
            <a:spLocks noChangeArrowheads="1"/>
          </p:cNvSpPr>
          <p:nvPr/>
        </p:nvSpPr>
        <p:spPr bwMode="auto">
          <a:xfrm>
            <a:off x="7309172" y="4364881"/>
            <a:ext cx="11795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1000 Mbps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70395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Simetrično i asimetrično spajanje</a:t>
            </a:r>
          </a:p>
        </p:txBody>
      </p:sp>
    </p:spTree>
    <p:extLst>
      <p:ext uri="{BB962C8B-B14F-4D97-AF65-F5344CB8AC3E}">
        <p14:creationId xmlns:p14="http://schemas.microsoft.com/office/powerpoint/2010/main" val="381302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403225" y="1186399"/>
            <a:ext cx="586263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indent="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Simetrični prespojnici</a:t>
            </a:r>
          </a:p>
          <a:p>
            <a:endParaRPr lang="hr-HR" dirty="0"/>
          </a:p>
          <a:p>
            <a:pPr marL="274320" indent="-274320">
              <a:buFont typeface="Wingdings 3"/>
              <a:buChar char=""/>
            </a:pPr>
            <a:r>
              <a:rPr lang="hr-HR" dirty="0"/>
              <a:t>Na svim portovima imaju istu propusnost</a:t>
            </a:r>
          </a:p>
          <a:p>
            <a:pPr marL="274320" indent="-274320">
              <a:buFont typeface="Wingdings 3"/>
              <a:buChar char=""/>
            </a:pPr>
            <a:r>
              <a:rPr lang="hr-HR" dirty="0"/>
              <a:t>Mogućnost uskih grla</a:t>
            </a:r>
          </a:p>
          <a:p>
            <a:pPr marL="274320" indent="-274320">
              <a:buFont typeface="Wingdings 3"/>
              <a:buChar char=""/>
            </a:pPr>
            <a:r>
              <a:rPr lang="hr-HR" dirty="0"/>
              <a:t>Manje su fleksibilni</a:t>
            </a:r>
          </a:p>
        </p:txBody>
      </p:sp>
      <p:pic>
        <p:nvPicPr>
          <p:cNvPr id="123907" name="Picture 3" descr="Preklopni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076" y="3709689"/>
            <a:ext cx="793750" cy="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08" name="Picture 4" descr="Hu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26" y="4036714"/>
            <a:ext cx="66833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09" name="Picture 5" descr="Hu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114" y="5209877"/>
            <a:ext cx="668337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0" name="Picture 6" descr="Hu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976" y="4562177"/>
            <a:ext cx="66833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1" name="Picture 7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314" y="3709689"/>
            <a:ext cx="611187" cy="65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2" name="Picture 8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026" y="4628852"/>
            <a:ext cx="611188" cy="65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3" name="Picture 9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251" y="5930602"/>
            <a:ext cx="609600" cy="65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4" name="Picture 10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264" y="5941714"/>
            <a:ext cx="611187" cy="65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5" name="Picture 11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276" y="3698577"/>
            <a:ext cx="611188" cy="65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916" name="Picture 12" descr="Prijenosni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501" y="5570239"/>
            <a:ext cx="611188" cy="65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917" name="Line 13"/>
          <p:cNvSpPr>
            <a:spLocks noChangeShapeType="1"/>
          </p:cNvSpPr>
          <p:nvPr/>
        </p:nvSpPr>
        <p:spPr bwMode="auto">
          <a:xfrm flipH="1" flipV="1">
            <a:off x="2830264" y="4103389"/>
            <a:ext cx="915987" cy="130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18" name="Line 14"/>
          <p:cNvSpPr>
            <a:spLocks noChangeShapeType="1"/>
          </p:cNvSpPr>
          <p:nvPr/>
        </p:nvSpPr>
        <p:spPr bwMode="auto">
          <a:xfrm flipH="1">
            <a:off x="3196976" y="4300239"/>
            <a:ext cx="612775" cy="7223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19" name="Line 15"/>
          <p:cNvSpPr>
            <a:spLocks noChangeShapeType="1"/>
          </p:cNvSpPr>
          <p:nvPr/>
        </p:nvSpPr>
        <p:spPr bwMode="auto">
          <a:xfrm flipV="1">
            <a:off x="4359026" y="4036714"/>
            <a:ext cx="1162050" cy="131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0" name="Line 16"/>
          <p:cNvSpPr>
            <a:spLocks noChangeShapeType="1"/>
          </p:cNvSpPr>
          <p:nvPr/>
        </p:nvSpPr>
        <p:spPr bwMode="auto">
          <a:xfrm flipV="1">
            <a:off x="5617914" y="4036714"/>
            <a:ext cx="146050" cy="1246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1" name="Line 17"/>
          <p:cNvSpPr>
            <a:spLocks noChangeShapeType="1"/>
          </p:cNvSpPr>
          <p:nvPr/>
        </p:nvSpPr>
        <p:spPr bwMode="auto">
          <a:xfrm flipV="1">
            <a:off x="4897189" y="5498802"/>
            <a:ext cx="455612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2" name="Line 18"/>
          <p:cNvSpPr>
            <a:spLocks noChangeShapeType="1"/>
          </p:cNvSpPr>
          <p:nvPr/>
        </p:nvSpPr>
        <p:spPr bwMode="auto">
          <a:xfrm flipH="1" flipV="1">
            <a:off x="5617914" y="5498802"/>
            <a:ext cx="427037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3" name="Line 19"/>
          <p:cNvSpPr>
            <a:spLocks noChangeShapeType="1"/>
          </p:cNvSpPr>
          <p:nvPr/>
        </p:nvSpPr>
        <p:spPr bwMode="auto">
          <a:xfrm>
            <a:off x="6049714" y="4057352"/>
            <a:ext cx="7207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4" name="Line 20"/>
          <p:cNvSpPr>
            <a:spLocks noChangeShapeType="1"/>
          </p:cNvSpPr>
          <p:nvPr/>
        </p:nvSpPr>
        <p:spPr bwMode="auto">
          <a:xfrm flipH="1">
            <a:off x="7273676" y="4201814"/>
            <a:ext cx="10795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5" name="Line 21"/>
          <p:cNvSpPr>
            <a:spLocks noChangeShapeType="1"/>
          </p:cNvSpPr>
          <p:nvPr/>
        </p:nvSpPr>
        <p:spPr bwMode="auto">
          <a:xfrm flipH="1" flipV="1">
            <a:off x="7202239" y="4778077"/>
            <a:ext cx="719137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r-HR"/>
          </a:p>
        </p:txBody>
      </p:sp>
      <p:sp>
        <p:nvSpPr>
          <p:cNvPr id="123926" name="Text Box 22"/>
          <p:cNvSpPr txBox="1">
            <a:spLocks noChangeArrowheads="1"/>
          </p:cNvSpPr>
          <p:nvPr/>
        </p:nvSpPr>
        <p:spPr bwMode="auto">
          <a:xfrm>
            <a:off x="4320926" y="3770014"/>
            <a:ext cx="1014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100Mbps</a:t>
            </a:r>
          </a:p>
        </p:txBody>
      </p:sp>
      <p:sp>
        <p:nvSpPr>
          <p:cNvPr id="123927" name="Text Box 23"/>
          <p:cNvSpPr txBox="1">
            <a:spLocks noChangeArrowheads="1"/>
          </p:cNvSpPr>
          <p:nvPr/>
        </p:nvSpPr>
        <p:spPr bwMode="auto">
          <a:xfrm>
            <a:off x="4805114" y="4809827"/>
            <a:ext cx="1071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 Mbps</a:t>
            </a:r>
          </a:p>
        </p:txBody>
      </p:sp>
      <p:sp>
        <p:nvSpPr>
          <p:cNvPr id="123928" name="Text Box 24"/>
          <p:cNvSpPr txBox="1">
            <a:spLocks noChangeArrowheads="1"/>
          </p:cNvSpPr>
          <p:nvPr/>
        </p:nvSpPr>
        <p:spPr bwMode="auto">
          <a:xfrm>
            <a:off x="6605339" y="4162127"/>
            <a:ext cx="10715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hr-HR" sz="1800">
                <a:latin typeface="Garamond" pitchFamily="18" charset="0"/>
              </a:rPr>
              <a:t>100 Mbps</a:t>
            </a: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70395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Simetrično i asimetrično spajanje</a:t>
            </a:r>
          </a:p>
        </p:txBody>
      </p:sp>
    </p:spTree>
    <p:extLst>
      <p:ext uri="{BB962C8B-B14F-4D97-AF65-F5344CB8AC3E}">
        <p14:creationId xmlns:p14="http://schemas.microsoft.com/office/powerpoint/2010/main" val="1200971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39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467544" y="1124744"/>
            <a:ext cx="8247063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sr-Latn-RS"/>
            </a:defPPr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sz="2400">
                <a:latin typeface="Calibri" pitchFamily="34" charset="0"/>
                <a:cs typeface="Calibri" pitchFamily="34" charset="0"/>
              </a:defRPr>
            </a:lvl1pPr>
            <a:lvl2pPr marL="548640" lvl="1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defRPr>
            </a:lvl2pPr>
            <a:lvl3pPr marL="1143000" indent="-228600" eaLnBrk="0" hangingPunct="0">
              <a:defRPr sz="2400">
                <a:latin typeface="Arial" charset="0"/>
              </a:defRPr>
            </a:lvl3pPr>
            <a:lvl4pPr marL="1600200" indent="-228600" eaLnBrk="0" hangingPunct="0">
              <a:defRPr sz="2400">
                <a:latin typeface="Arial" charset="0"/>
              </a:defRPr>
            </a:lvl4pPr>
            <a:lvl5pPr marL="2057400" indent="-228600" eaLnBrk="0" hangingPunct="0">
              <a:defRPr sz="2400"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</a:defRPr>
            </a:lvl9pPr>
          </a:lstStyle>
          <a:p>
            <a:r>
              <a:rPr lang="hr-HR" dirty="0"/>
              <a:t>Za spremanje radi analize</a:t>
            </a:r>
          </a:p>
          <a:p>
            <a:r>
              <a:rPr lang="hr-HR" dirty="0"/>
              <a:t>Spremanje prilikom zagušenja ili nesimetričnog prijenosa</a:t>
            </a:r>
          </a:p>
          <a:p>
            <a:endParaRPr lang="hr-HR" dirty="0"/>
          </a:p>
          <a:p>
            <a:pPr marL="0" indent="0">
              <a:buNone/>
            </a:pPr>
            <a:r>
              <a:rPr lang="hr-HR" dirty="0"/>
              <a:t>Dvije metode memoriranja:</a:t>
            </a:r>
          </a:p>
          <a:p>
            <a:r>
              <a:rPr lang="hr-HR" dirty="0"/>
              <a:t>Na bazi porta </a:t>
            </a:r>
          </a:p>
          <a:p>
            <a:pPr lvl="1"/>
            <a:r>
              <a:rPr lang="hr-HR" dirty="0"/>
              <a:t>okviri se spremaju u red za čekanje povezano s nekim portom</a:t>
            </a:r>
          </a:p>
          <a:p>
            <a:pPr lvl="1"/>
            <a:r>
              <a:rPr lang="hr-HR" dirty="0"/>
              <a:t>kada stignu svi predviđeni okviri – podaci se proslijeđuju</a:t>
            </a:r>
          </a:p>
          <a:p>
            <a:r>
              <a:rPr lang="hr-HR" dirty="0"/>
              <a:t>Na bazi dijeljene memorije </a:t>
            </a:r>
          </a:p>
          <a:p>
            <a:pPr lvl="1"/>
            <a:r>
              <a:rPr lang="hr-HR" dirty="0"/>
              <a:t>memoriju dijele svi portovi preklopnika</a:t>
            </a:r>
          </a:p>
          <a:p>
            <a:pPr lvl="1"/>
            <a:r>
              <a:rPr lang="hr-HR" dirty="0"/>
              <a:t>okviri primljeni na jednom portu mogu se prosljeđivati na druge portove bez čekanja i zadržavanja</a:t>
            </a:r>
          </a:p>
          <a:p>
            <a:pPr lvl="1"/>
            <a:r>
              <a:rPr lang="hr-HR" dirty="0"/>
              <a:t>veličina buffera i broj okvira su prilagođeni</a:t>
            </a:r>
          </a:p>
          <a:p>
            <a:pPr lvl="1"/>
            <a:r>
              <a:rPr lang="hr-HR" dirty="0"/>
              <a:t>primjena kod asimetričnog spajanja</a:t>
            </a:r>
          </a:p>
        </p:txBody>
      </p:sp>
      <p:sp>
        <p:nvSpPr>
          <p:cNvPr id="3" name="Text Box 14"/>
          <p:cNvSpPr txBox="1">
            <a:spLocks noChangeArrowheads="1"/>
          </p:cNvSpPr>
          <p:nvPr/>
        </p:nvSpPr>
        <p:spPr bwMode="auto">
          <a:xfrm>
            <a:off x="467544" y="560888"/>
            <a:ext cx="70395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  <a:flatTx/>
          </a:bodyPr>
          <a:lstStyle>
            <a:defPPr>
              <a:defRPr lang="sr-Latn-RS"/>
            </a:defPPr>
            <a:lvl1pPr>
              <a:defRPr sz="3200">
                <a:solidFill>
                  <a:schemeClr val="hlink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r>
              <a:rPr lang="hr-HR" dirty="0"/>
              <a:t>Privremeno memoriranje (buffering)</a:t>
            </a:r>
          </a:p>
        </p:txBody>
      </p:sp>
    </p:spTree>
    <p:extLst>
      <p:ext uri="{BB962C8B-B14F-4D97-AF65-F5344CB8AC3E}">
        <p14:creationId xmlns:p14="http://schemas.microsoft.com/office/powerpoint/2010/main" val="367204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9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59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5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9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5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9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59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59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59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59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59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59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59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59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59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C583-EBB9-EC3F-D693-A6A4552E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CD2A-43A1-C473-F392-6DFDAFFBF3F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1. Koje postavke preklopnik sam postavlja prilikom default načina rada ?</a:t>
            </a:r>
          </a:p>
          <a:p>
            <a:r>
              <a:rPr lang="hr-HR" dirty="0"/>
              <a:t>2.  Što obuhvaća kontrola prijenosa podataka ?</a:t>
            </a:r>
          </a:p>
          <a:p>
            <a:r>
              <a:rPr lang="hr-HR" dirty="0"/>
              <a:t>3. Opiši kašnjenje (koji su parametri, tko ima najveće kašnjenje) ?</a:t>
            </a:r>
          </a:p>
          <a:p>
            <a:r>
              <a:rPr lang="hr-HR" dirty="0"/>
              <a:t>4. Opiši zagušenje u mreži te navedi uzroke zagušenja ?</a:t>
            </a:r>
          </a:p>
          <a:p>
            <a:r>
              <a:rPr lang="hr-HR" dirty="0"/>
              <a:t>5. Objasni 2 načina prosljeđivanja okvira ?</a:t>
            </a:r>
          </a:p>
          <a:p>
            <a:r>
              <a:rPr lang="hr-HR" dirty="0"/>
              <a:t>6. Pojasni asimetrično spajanje ?</a:t>
            </a:r>
          </a:p>
          <a:p>
            <a:r>
              <a:rPr lang="hr-HR" dirty="0"/>
              <a:t>7. Pojasni simetrično spajanje ?</a:t>
            </a:r>
          </a:p>
          <a:p>
            <a:r>
              <a:rPr lang="hr-HR" dirty="0"/>
              <a:t>8. Pojasni privremeno memoriranje te dvije metode memoriranja ?</a:t>
            </a:r>
          </a:p>
        </p:txBody>
      </p:sp>
    </p:spTree>
    <p:extLst>
      <p:ext uri="{BB962C8B-B14F-4D97-AF65-F5344CB8AC3E}">
        <p14:creationId xmlns:p14="http://schemas.microsoft.com/office/powerpoint/2010/main" val="2953142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311e1801ccda84ba81c0d1833d3c6843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e75d90df016b33bfbe8e0c9e77e49ad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33A049-D822-4C37-8174-F56AF993F726}"/>
</file>

<file path=customXml/itemProps2.xml><?xml version="1.0" encoding="utf-8"?>
<ds:datastoreItem xmlns:ds="http://schemas.openxmlformats.org/officeDocument/2006/customXml" ds:itemID="{BB30026B-19A9-4425-9E75-C8EF2F90E37F}"/>
</file>

<file path=customXml/itemProps3.xml><?xml version="1.0" encoding="utf-8"?>
<ds:datastoreItem xmlns:ds="http://schemas.openxmlformats.org/officeDocument/2006/customXml" ds:itemID="{5F32A9D9-B4F1-4700-B270-C121F92298B7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9938</TotalTime>
  <Words>575</Words>
  <Application>Microsoft Office PowerPoint</Application>
  <PresentationFormat>On-screen Show (4:3)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Bookman Old Style</vt:lpstr>
      <vt:lpstr>Calibri</vt:lpstr>
      <vt:lpstr>Garamond</vt:lpstr>
      <vt:lpstr>Gill Sans MT</vt:lpstr>
      <vt:lpstr>Wingdings</vt:lpstr>
      <vt:lpstr>Wingdings 3</vt:lpstr>
      <vt:lpstr>Origin</vt:lpstr>
      <vt:lpstr>PODATKOVNI SLOJ Preklopnik u lokalnoj mreži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Pitanja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Opći model komunikacijskog sustava</dc:title>
  <dc:creator>p</dc:creator>
  <cp:lastModifiedBy>Luka Huzjak</cp:lastModifiedBy>
  <cp:revision>137</cp:revision>
  <cp:lastPrinted>2015-09-11T08:26:32Z</cp:lastPrinted>
  <dcterms:created xsi:type="dcterms:W3CDTF">2015-09-07T20:59:37Z</dcterms:created>
  <dcterms:modified xsi:type="dcterms:W3CDTF">2025-01-27T00:17:15Z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