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256" r:id="rId5"/>
    <p:sldId id="320" r:id="rId6"/>
    <p:sldId id="321" r:id="rId7"/>
    <p:sldId id="327" r:id="rId8"/>
    <p:sldId id="329" r:id="rId9"/>
    <p:sldId id="322" r:id="rId10"/>
    <p:sldId id="333" r:id="rId11"/>
    <p:sldId id="334" r:id="rId12"/>
    <p:sldId id="323" r:id="rId13"/>
    <p:sldId id="332" r:id="rId14"/>
    <p:sldId id="324" r:id="rId15"/>
    <p:sldId id="331" r:id="rId16"/>
    <p:sldId id="344" r:id="rId17"/>
  </p:sldIdLst>
  <p:sldSz cx="9144000" cy="6858000" type="screen4x3"/>
  <p:notesSz cx="6834188" cy="9979025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622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71913" y="0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BA4583-234D-4C7C-BD5B-A095720B3B84}" type="datetimeFigureOut">
              <a:rPr lang="hr-HR" smtClean="0"/>
              <a:t>29.11.2025.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78963"/>
            <a:ext cx="29622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59343-547E-4B6E-AE6F-D11BFA7371D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012359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61481" cy="4989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71125" y="0"/>
            <a:ext cx="2961481" cy="4989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7C12A-4DF7-403B-A283-50D78C81ABE6}" type="datetimeFigureOut">
              <a:rPr lang="hr-HR" smtClean="0"/>
              <a:t>29.11.2025.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2338" y="747713"/>
            <a:ext cx="4991100" cy="3743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3419" y="4740037"/>
            <a:ext cx="5467350" cy="44905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78342"/>
            <a:ext cx="2961481" cy="4989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71125" y="9478342"/>
            <a:ext cx="2961481" cy="4989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B4AA-7FC7-404C-91AE-549D4281B96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5135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23602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F26BEB08-B0C2-45E8-8318-CFD0EF8EE004}" type="datetimeFigureOut">
              <a:rPr lang="hr-HR" smtClean="0"/>
              <a:t>29.11.2025.</a:t>
            </a:fld>
            <a:endParaRPr lang="hr-HR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hr-HR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t>29.11.2025.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F26BEB08-B0C2-45E8-8318-CFD0EF8EE004}" type="datetimeFigureOut">
              <a:rPr lang="hr-HR" smtClean="0"/>
              <a:t>29.11.2025.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t>29.11.2025.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t>29.11.2025.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t>29.11.2025.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t>29.11.2025.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t>29.11.2025.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t>29.11.2025.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t>29.11.2025.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t>29.11.2025.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26BEB08-B0C2-45E8-8318-CFD0EF8EE004}" type="datetimeFigureOut">
              <a:rPr lang="hr-HR" smtClean="0"/>
              <a:t>29.11.2025.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r-H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5616" y="3734544"/>
            <a:ext cx="7128792" cy="990600"/>
          </a:xfrm>
        </p:spPr>
        <p:txBody>
          <a:bodyPr>
            <a:noAutofit/>
          </a:bodyPr>
          <a:lstStyle/>
          <a:p>
            <a:r>
              <a:rPr lang="hr-HR" sz="3600" b="1" dirty="0">
                <a:solidFill>
                  <a:schemeClr val="hlink"/>
                </a:solidFill>
              </a:rPr>
              <a:t>FIZIČKI SLOJ</a:t>
            </a:r>
            <a:br>
              <a:rPr lang="hr-HR" sz="3600" dirty="0">
                <a:solidFill>
                  <a:schemeClr val="hlink"/>
                </a:solidFill>
              </a:rPr>
            </a:br>
            <a:r>
              <a:rPr lang="hr-HR" sz="3600" dirty="0">
                <a:solidFill>
                  <a:schemeClr val="hlink"/>
                </a:solidFill>
              </a:rPr>
              <a:t>Zadaci fizičkog sloja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 dirty="0"/>
              <a:t>Uvod u računalne mreže</a:t>
            </a:r>
          </a:p>
        </p:txBody>
      </p:sp>
      <p:pic>
        <p:nvPicPr>
          <p:cNvPr id="4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9123362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566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6203032" cy="4937760"/>
          </a:xfrm>
        </p:spPr>
        <p:txBody>
          <a:bodyPr>
            <a:normAutofit/>
          </a:bodyPr>
          <a:lstStyle/>
          <a:p>
            <a:r>
              <a:rPr lang="hr-HR" dirty="0">
                <a:latin typeface="Calibri" pitchFamily="34" charset="0"/>
                <a:cs typeface="Calibri" pitchFamily="34" charset="0"/>
              </a:rPr>
              <a:t>osnovna zadaća – prijenos niza bitova koje treba proslijediti ili primiti s medija</a:t>
            </a:r>
          </a:p>
          <a:p>
            <a:endParaRPr lang="hr-HR" dirty="0">
              <a:latin typeface="Calibri" pitchFamily="34" charset="0"/>
              <a:cs typeface="Calibri" pitchFamily="34" charset="0"/>
            </a:endParaRPr>
          </a:p>
          <a:p>
            <a:r>
              <a:rPr lang="hr-HR" dirty="0">
                <a:latin typeface="Calibri" pitchFamily="34" charset="0"/>
                <a:cs typeface="Calibri" pitchFamily="34" charset="0"/>
              </a:rPr>
              <a:t>Da bi se bitovi mogli slati, potrebno ih je kodirati u signale, da bi se mogli primiti, potrebno je signale dekodirati</a:t>
            </a:r>
          </a:p>
          <a:p>
            <a:endParaRPr lang="hr-HR" dirty="0">
              <a:latin typeface="Calibri" pitchFamily="34" charset="0"/>
              <a:cs typeface="Calibri" pitchFamily="34" charset="0"/>
            </a:endParaRPr>
          </a:p>
          <a:p>
            <a:r>
              <a:rPr lang="hr-HR" dirty="0">
                <a:latin typeface="Calibri" pitchFamily="34" charset="0"/>
                <a:cs typeface="Calibri" pitchFamily="34" charset="0"/>
              </a:rPr>
              <a:t>Fizički medij – signali:</a:t>
            </a:r>
          </a:p>
          <a:p>
            <a:pPr lvl="1"/>
            <a:r>
              <a:rPr lang="hr-HR" dirty="0">
                <a:latin typeface="Calibri" pitchFamily="34" charset="0"/>
                <a:cs typeface="Calibri" pitchFamily="34" charset="0"/>
              </a:rPr>
              <a:t>bakrena žica – električni impulsi</a:t>
            </a:r>
          </a:p>
          <a:p>
            <a:pPr lvl="1"/>
            <a:r>
              <a:rPr lang="hr-HR" dirty="0">
                <a:latin typeface="Calibri" pitchFamily="34" charset="0"/>
                <a:cs typeface="Calibri" pitchFamily="34" charset="0"/>
              </a:rPr>
              <a:t>optički kabel - svjetlost</a:t>
            </a:r>
          </a:p>
          <a:p>
            <a:pPr lvl="1"/>
            <a:r>
              <a:rPr lang="hr-HR" dirty="0">
                <a:latin typeface="Calibri" pitchFamily="34" charset="0"/>
                <a:cs typeface="Calibri" pitchFamily="34" charset="0"/>
              </a:rPr>
              <a:t>zrak (prostor) – elektromagnetski valovi</a:t>
            </a:r>
          </a:p>
          <a:p>
            <a:pPr marL="274320" lvl="1" indent="0">
              <a:buNone/>
            </a:pPr>
            <a:endParaRPr lang="hr-HR" dirty="0"/>
          </a:p>
          <a:p>
            <a:pPr lvl="1"/>
            <a:endParaRPr lang="hr-HR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hr-HR" dirty="0">
                <a:solidFill>
                  <a:schemeClr val="hlink"/>
                </a:solidFill>
                <a:latin typeface="Arial" charset="0"/>
              </a:rPr>
              <a:t>Fizički sloj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8224" y="1412776"/>
            <a:ext cx="2232248" cy="50405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Aplikacijski sloj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8224" y="2060848"/>
            <a:ext cx="2232248" cy="50405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Prezentacijski sloj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8224" y="2708920"/>
            <a:ext cx="2232248" cy="50405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Sloj sesije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8224" y="3356992"/>
            <a:ext cx="2232248" cy="50405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Transportni sloj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8224" y="4005064"/>
            <a:ext cx="2232248" cy="50405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Mrežni sloj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8224" y="4653136"/>
            <a:ext cx="2232248" cy="50405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Sloj podatkovne veze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8224" y="5301208"/>
            <a:ext cx="2232248" cy="50405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Fizički sloj</a:t>
            </a:r>
          </a:p>
        </p:txBody>
      </p:sp>
    </p:spTree>
    <p:extLst>
      <p:ext uri="{BB962C8B-B14F-4D97-AF65-F5344CB8AC3E}">
        <p14:creationId xmlns:p14="http://schemas.microsoft.com/office/powerpoint/2010/main" val="209035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147248" cy="4937760"/>
          </a:xfrm>
        </p:spPr>
        <p:txBody>
          <a:bodyPr>
            <a:normAutofit/>
          </a:bodyPr>
          <a:lstStyle/>
          <a:p>
            <a:r>
              <a:rPr lang="hr-HR" sz="3200" dirty="0">
                <a:latin typeface="Calibri" pitchFamily="34" charset="0"/>
                <a:cs typeface="Calibri" pitchFamily="34" charset="0"/>
              </a:rPr>
              <a:t>Standarde propisuju ISO, IEEE, ANSI, ITU...</a:t>
            </a:r>
          </a:p>
          <a:p>
            <a:endParaRPr lang="hr-HR" sz="3200" dirty="0">
              <a:latin typeface="Calibri" pitchFamily="34" charset="0"/>
              <a:cs typeface="Calibri" pitchFamily="34" charset="0"/>
            </a:endParaRPr>
          </a:p>
          <a:p>
            <a:r>
              <a:rPr lang="hr-HR" sz="3200" dirty="0">
                <a:latin typeface="Calibri" pitchFamily="34" charset="0"/>
                <a:cs typeface="Calibri" pitchFamily="34" charset="0"/>
              </a:rPr>
              <a:t>Fizički sloj definira standarde za:</a:t>
            </a:r>
          </a:p>
          <a:p>
            <a:pPr lvl="1"/>
            <a:r>
              <a:rPr lang="hr-HR" sz="2400" dirty="0">
                <a:latin typeface="Calibri" pitchFamily="34" charset="0"/>
                <a:cs typeface="Calibri" pitchFamily="34" charset="0"/>
              </a:rPr>
              <a:t>Mehaničko povezivanje (tip konektora, broj i raspored pinova)</a:t>
            </a:r>
          </a:p>
          <a:p>
            <a:pPr lvl="1"/>
            <a:r>
              <a:rPr lang="hr-HR" sz="2400" dirty="0">
                <a:latin typeface="Calibri" pitchFamily="34" charset="0"/>
                <a:cs typeface="Calibri" pitchFamily="34" charset="0"/>
              </a:rPr>
              <a:t>Električko povezivanje (razine napona za logičku 1 i 0)</a:t>
            </a:r>
          </a:p>
          <a:p>
            <a:pPr lvl="1"/>
            <a:r>
              <a:rPr lang="hr-HR" sz="2400" dirty="0">
                <a:latin typeface="Calibri" pitchFamily="34" charset="0"/>
                <a:cs typeface="Calibri" pitchFamily="34" charset="0"/>
              </a:rPr>
              <a:t>Funkcionalno povezivanje (funkcija svakog pina na sučelju)</a:t>
            </a:r>
          </a:p>
          <a:p>
            <a:pPr lvl="1"/>
            <a:r>
              <a:rPr lang="hr-HR" sz="2400" dirty="0">
                <a:latin typeface="Calibri" pitchFamily="34" charset="0"/>
                <a:cs typeface="Calibri" pitchFamily="34" charset="0"/>
              </a:rPr>
              <a:t>Proceduralno povezivanje (niz signala potreban za slanje i primanje podataka)</a:t>
            </a:r>
          </a:p>
          <a:p>
            <a:pPr lvl="1"/>
            <a:endParaRPr lang="hr-HR" dirty="0">
              <a:latin typeface="Calibri" pitchFamily="34" charset="0"/>
              <a:cs typeface="Calibri" pitchFamily="34" charset="0"/>
            </a:endParaRPr>
          </a:p>
          <a:p>
            <a:pPr lvl="1"/>
            <a:endParaRPr lang="hr-HR" dirty="0">
              <a:latin typeface="Calibri" pitchFamily="34" charset="0"/>
              <a:cs typeface="Calibri" pitchFamily="34" charset="0"/>
            </a:endParaRPr>
          </a:p>
          <a:p>
            <a:pPr marL="274320" lvl="1" indent="0">
              <a:buNone/>
            </a:pPr>
            <a:endParaRPr lang="hr-HR" dirty="0">
              <a:latin typeface="Calibri" pitchFamily="34" charset="0"/>
              <a:cs typeface="Calibri" pitchFamily="34" charset="0"/>
            </a:endParaRPr>
          </a:p>
          <a:p>
            <a:endParaRPr lang="hr-HR" dirty="0"/>
          </a:p>
          <a:p>
            <a:endParaRPr lang="hr-HR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hr-HR" dirty="0">
                <a:solidFill>
                  <a:schemeClr val="hlink"/>
                </a:solidFill>
                <a:latin typeface="Arial" charset="0"/>
              </a:rPr>
              <a:t>Standardi</a:t>
            </a:r>
          </a:p>
        </p:txBody>
      </p:sp>
    </p:spTree>
    <p:extLst>
      <p:ext uri="{BB962C8B-B14F-4D97-AF65-F5344CB8AC3E}">
        <p14:creationId xmlns:p14="http://schemas.microsoft.com/office/powerpoint/2010/main" val="3626328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chemeClr val="hlink"/>
                </a:solidFill>
                <a:latin typeface="Arial" charset="0"/>
              </a:rPr>
              <a:t>Povezivanje</a:t>
            </a:r>
            <a:r>
              <a:rPr lang="hr-HR" dirty="0"/>
              <a:t> </a:t>
            </a:r>
            <a:r>
              <a:rPr lang="hr-HR" dirty="0">
                <a:solidFill>
                  <a:schemeClr val="hlink"/>
                </a:solidFill>
                <a:latin typeface="Arial" charset="0"/>
              </a:rPr>
              <a:t>s mrežom</a:t>
            </a:r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450" y="1220936"/>
            <a:ext cx="6515100" cy="523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4375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7742" y="1139232"/>
            <a:ext cx="5554960" cy="4024104"/>
          </a:xfrm>
        </p:spPr>
        <p:txBody>
          <a:bodyPr>
            <a:normAutofit lnSpcReduction="10000"/>
          </a:bodyPr>
          <a:lstStyle/>
          <a:p>
            <a:pPr lvl="1"/>
            <a:endParaRPr lang="hr-HR" dirty="0">
              <a:latin typeface="Calibri" pitchFamily="34" charset="0"/>
              <a:cs typeface="Calibri" pitchFamily="34" charset="0"/>
            </a:endParaRPr>
          </a:p>
          <a:p>
            <a:r>
              <a:rPr lang="hr-HR" sz="3200" dirty="0">
                <a:latin typeface="Calibri" pitchFamily="34" charset="0"/>
                <a:cs typeface="Calibri" pitchFamily="34" charset="0"/>
              </a:rPr>
              <a:t>Koaksijalni kabel</a:t>
            </a:r>
          </a:p>
          <a:p>
            <a:pPr lvl="1"/>
            <a:r>
              <a:rPr lang="hr-HR" dirty="0">
                <a:latin typeface="Calibri" pitchFamily="34" charset="0"/>
                <a:cs typeface="Calibri" pitchFamily="34" charset="0"/>
              </a:rPr>
              <a:t>Dva bakrena vodiča koncentrično (jedan unutar drugog) smještena unutar kabela</a:t>
            </a:r>
          </a:p>
          <a:p>
            <a:pPr lvl="1"/>
            <a:r>
              <a:rPr lang="hr-HR" dirty="0">
                <a:latin typeface="Calibri" pitchFamily="34" charset="0"/>
                <a:cs typeface="Calibri" pitchFamily="34" charset="0"/>
              </a:rPr>
              <a:t>koristi se za povezivanje komponenata u satelitskim sustavima i kabelskim TV mrežama</a:t>
            </a:r>
          </a:p>
          <a:p>
            <a:pPr lvl="1"/>
            <a:r>
              <a:rPr lang="hr-HR" dirty="0">
                <a:latin typeface="Calibri" pitchFamily="34" charset="0"/>
                <a:cs typeface="Calibri" pitchFamily="34" charset="0"/>
              </a:rPr>
              <a:t>Veće brzine nego kod parica (10 – 100 Mbps)</a:t>
            </a:r>
          </a:p>
          <a:p>
            <a:pPr lvl="1"/>
            <a:r>
              <a:rPr lang="hr-HR" dirty="0">
                <a:latin typeface="Calibri" pitchFamily="34" charset="0"/>
                <a:cs typeface="Calibri" pitchFamily="34" charset="0"/>
              </a:rPr>
              <a:t>Relativno jeftin</a:t>
            </a:r>
          </a:p>
          <a:p>
            <a:pPr lvl="1"/>
            <a:endParaRPr lang="hr-HR" dirty="0">
              <a:latin typeface="Calibri" pitchFamily="34" charset="0"/>
              <a:cs typeface="Calibri" pitchFamily="34" charset="0"/>
            </a:endParaRPr>
          </a:p>
          <a:p>
            <a:endParaRPr lang="hr-HR" dirty="0"/>
          </a:p>
          <a:p>
            <a:endParaRPr lang="hr-HR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rmAutofit/>
          </a:bodyPr>
          <a:lstStyle/>
          <a:p>
            <a:r>
              <a:rPr lang="hr-HR" dirty="0">
                <a:solidFill>
                  <a:schemeClr val="hlink"/>
                </a:solidFill>
                <a:latin typeface="Arial" charset="0"/>
              </a:rPr>
              <a:t>Bakreni mediji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4077072"/>
            <a:ext cx="2628900" cy="1743075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DEEE608E-5BBC-4147-B2FD-C73AD2D6F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043" y="5020047"/>
            <a:ext cx="53594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0853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1" descr="372.jp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5861" r="-35861"/>
          <a:stretch>
            <a:fillRect/>
          </a:stretch>
        </p:blipFill>
        <p:spPr bwMode="auto">
          <a:xfrm>
            <a:off x="3851920" y="2811198"/>
            <a:ext cx="6007075" cy="3498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7931224" cy="5090120"/>
          </a:xfrm>
        </p:spPr>
        <p:txBody>
          <a:bodyPr>
            <a:normAutofit/>
          </a:bodyPr>
          <a:lstStyle/>
          <a:p>
            <a:r>
              <a:rPr lang="hr-HR" dirty="0">
                <a:latin typeface="Calibri" pitchFamily="34" charset="0"/>
                <a:cs typeface="Calibri" pitchFamily="34" charset="0"/>
              </a:rPr>
              <a:t>prvotno namijenjene prijenosu govora</a:t>
            </a:r>
          </a:p>
          <a:p>
            <a:r>
              <a:rPr lang="hr-HR" dirty="0">
                <a:latin typeface="Calibri" pitchFamily="34" charset="0"/>
                <a:cs typeface="Calibri" pitchFamily="34" charset="0"/>
              </a:rPr>
              <a:t>zbog niske cijene, malog volumena i visoke fleksibilnosti postale su zanimljive i za prijenos podataka</a:t>
            </a:r>
          </a:p>
          <a:p>
            <a:endParaRPr lang="hr-HR" dirty="0">
              <a:latin typeface="Calibri" pitchFamily="34" charset="0"/>
              <a:cs typeface="Calibri" pitchFamily="34" charset="0"/>
            </a:endParaRPr>
          </a:p>
          <a:p>
            <a:endParaRPr lang="hr-HR" dirty="0">
              <a:latin typeface="Calibri" pitchFamily="34" charset="0"/>
              <a:cs typeface="Calibri" pitchFamily="34" charset="0"/>
            </a:endParaRPr>
          </a:p>
          <a:p>
            <a:endParaRPr lang="hr-HR" dirty="0">
              <a:latin typeface="Calibri" pitchFamily="34" charset="0"/>
              <a:cs typeface="Calibri" pitchFamily="34" charset="0"/>
            </a:endParaRPr>
          </a:p>
          <a:p>
            <a:pPr lvl="1"/>
            <a:endParaRPr lang="hr-HR" dirty="0">
              <a:latin typeface="Calibri" pitchFamily="34" charset="0"/>
              <a:cs typeface="Calibri" pitchFamily="34" charset="0"/>
            </a:endParaRPr>
          </a:p>
          <a:p>
            <a:pPr lvl="1"/>
            <a:endParaRPr lang="hr-HR" dirty="0">
              <a:latin typeface="Calibri" pitchFamily="34" charset="0"/>
              <a:cs typeface="Calibri" pitchFamily="34" charset="0"/>
            </a:endParaRPr>
          </a:p>
          <a:p>
            <a:endParaRPr lang="hr-HR" dirty="0"/>
          </a:p>
          <a:p>
            <a:endParaRPr lang="hr-HR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hr-HR" dirty="0">
                <a:solidFill>
                  <a:schemeClr val="hlink"/>
                </a:solidFill>
                <a:latin typeface="Arial" charset="0"/>
              </a:rPr>
              <a:t>Parice</a:t>
            </a:r>
          </a:p>
        </p:txBody>
      </p:sp>
      <p:pic>
        <p:nvPicPr>
          <p:cNvPr id="6" name="Slika 5" descr="Slika na kojoj se prikazuje tiskanica&#10;&#10;Opis je automatski generiran">
            <a:extLst>
              <a:ext uri="{FF2B5EF4-FFF2-40B4-BE49-F238E27FC236}">
                <a16:creationId xmlns:a16="http://schemas.microsoft.com/office/drawing/2014/main" id="{D9A0B8FE-02BC-4032-8D64-C6454FE432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933056"/>
            <a:ext cx="4575356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908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BF0B959-5AEE-4F19-A3C9-8E4C37806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hr-HR" dirty="0">
                <a:solidFill>
                  <a:schemeClr val="hlink"/>
                </a:solidFill>
                <a:latin typeface="Arial" charset="0"/>
              </a:rPr>
              <a:t>Podjela</a:t>
            </a:r>
            <a:r>
              <a:rPr lang="hr-HR" dirty="0"/>
              <a:t> </a:t>
            </a:r>
            <a:r>
              <a:rPr lang="hr-HR" dirty="0">
                <a:solidFill>
                  <a:schemeClr val="hlink"/>
                </a:solidFill>
                <a:latin typeface="Arial" charset="0"/>
              </a:rPr>
              <a:t>parica prema: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A9A3928F-DCBF-450A-858D-82AED8E9318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hr-HR" b="1" dirty="0">
                <a:latin typeface="Calibri" pitchFamily="34" charset="0"/>
                <a:cs typeface="Calibri" pitchFamily="34" charset="0"/>
              </a:rPr>
              <a:t>Kategoriji</a:t>
            </a:r>
            <a:r>
              <a:rPr lang="hr-HR" dirty="0">
                <a:latin typeface="Calibri" pitchFamily="34" charset="0"/>
                <a:cs typeface="Calibri" pitchFamily="34" charset="0"/>
              </a:rPr>
              <a:t>: </a:t>
            </a:r>
          </a:p>
          <a:p>
            <a:pPr lvl="1"/>
            <a:r>
              <a:rPr lang="hr-HR" dirty="0">
                <a:latin typeface="Calibri" pitchFamily="34" charset="0"/>
                <a:cs typeface="Calibri" pitchFamily="34" charset="0"/>
              </a:rPr>
              <a:t>Kategorija 5</a:t>
            </a:r>
          </a:p>
          <a:p>
            <a:pPr lvl="2"/>
            <a:r>
              <a:rPr lang="hr-HR" dirty="0">
                <a:latin typeface="Calibri" pitchFamily="34" charset="0"/>
                <a:cs typeface="Calibri" pitchFamily="34" charset="0"/>
              </a:rPr>
              <a:t>minimalna kategorija u upotrebi</a:t>
            </a:r>
          </a:p>
          <a:p>
            <a:pPr lvl="2"/>
            <a:r>
              <a:rPr lang="hr-HR" dirty="0">
                <a:latin typeface="Calibri" pitchFamily="34" charset="0"/>
                <a:cs typeface="Calibri" pitchFamily="34" charset="0"/>
              </a:rPr>
              <a:t>Cat 5E (omogućava brzine do 1 Gbps)</a:t>
            </a:r>
          </a:p>
          <a:p>
            <a:pPr lvl="1"/>
            <a:r>
              <a:rPr lang="hr-HR" dirty="0">
                <a:latin typeface="Calibri" pitchFamily="34" charset="0"/>
                <a:cs typeface="Calibri" pitchFamily="34" charset="0"/>
              </a:rPr>
              <a:t>Kategorija 6 </a:t>
            </a:r>
          </a:p>
          <a:p>
            <a:pPr lvl="2"/>
            <a:r>
              <a:rPr lang="hr-HR" dirty="0">
                <a:latin typeface="Calibri" pitchFamily="34" charset="0"/>
                <a:cs typeface="Calibri" pitchFamily="34" charset="0"/>
              </a:rPr>
              <a:t>Cat 6 - u upotrebi za brzine 1Gbps (duljine do 100 m) i za 10Gbps (duljine do 50 m)</a:t>
            </a:r>
          </a:p>
          <a:p>
            <a:pPr lvl="2"/>
            <a:r>
              <a:rPr lang="hr-HR" dirty="0">
                <a:latin typeface="Calibri" pitchFamily="34" charset="0"/>
                <a:cs typeface="Calibri" pitchFamily="34" charset="0"/>
              </a:rPr>
              <a:t> Cat 6A - za brzine 1Gbps (duljine do 100 m) i za 10Gbps (duljine do 100 m) </a:t>
            </a:r>
          </a:p>
          <a:p>
            <a:pPr lvl="1"/>
            <a:r>
              <a:rPr lang="hr-HR" dirty="0">
                <a:latin typeface="Calibri" pitchFamily="34" charset="0"/>
                <a:cs typeface="Calibri" pitchFamily="34" charset="0"/>
              </a:rPr>
              <a:t>Kategorija 7</a:t>
            </a:r>
          </a:p>
          <a:p>
            <a:pPr lvl="2"/>
            <a:r>
              <a:rPr lang="hr-HR" dirty="0">
                <a:latin typeface="Calibri" pitchFamily="34" charset="0"/>
                <a:cs typeface="Calibri" pitchFamily="34" charset="0"/>
              </a:rPr>
              <a:t>Cat 7 - za brzine do 10 Gbps (duljine do 100 m) i više</a:t>
            </a:r>
          </a:p>
          <a:p>
            <a:pPr lvl="2"/>
            <a:r>
              <a:rPr lang="hr-HR" dirty="0">
                <a:latin typeface="Calibri" pitchFamily="34" charset="0"/>
                <a:cs typeface="Calibri" pitchFamily="34" charset="0"/>
              </a:rPr>
              <a:t>Cat 7A - za brzine od 10 Gbps (duljine do 100 m), 40 Gbps (duljine do 50 m) i 100 Gbps (duljine do 15 m)</a:t>
            </a:r>
          </a:p>
        </p:txBody>
      </p:sp>
    </p:spTree>
    <p:extLst>
      <p:ext uri="{BB962C8B-B14F-4D97-AF65-F5344CB8AC3E}">
        <p14:creationId xmlns:p14="http://schemas.microsoft.com/office/powerpoint/2010/main" val="2009970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BF0B959-5AEE-4F19-A3C9-8E4C37806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lang="hr-HR" dirty="0">
                <a:solidFill>
                  <a:schemeClr val="hlink"/>
                </a:solidFill>
                <a:latin typeface="Arial" charset="0"/>
              </a:rPr>
              <a:t>Podjela parica prema: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A9A3928F-DCBF-450A-858D-82AED8E9318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79512" y="1219200"/>
            <a:ext cx="6048672" cy="493776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hr-HR" sz="2800" b="1" dirty="0">
                <a:latin typeface="Calibri" pitchFamily="34" charset="0"/>
                <a:cs typeface="Calibri" pitchFamily="34" charset="0"/>
              </a:rPr>
              <a:t>Tipu kabela: </a:t>
            </a:r>
          </a:p>
          <a:p>
            <a:pPr>
              <a:lnSpc>
                <a:spcPct val="90000"/>
              </a:lnSpc>
            </a:pPr>
            <a:endParaRPr lang="hr-HR" sz="2800" b="1" dirty="0">
              <a:latin typeface="Calibri" pitchFamily="34" charset="0"/>
              <a:cs typeface="Calibri" pitchFamily="34" charset="0"/>
            </a:endParaRPr>
          </a:p>
          <a:p>
            <a:pPr lvl="1">
              <a:lnSpc>
                <a:spcPct val="90000"/>
              </a:lnSpc>
            </a:pPr>
            <a:r>
              <a:rPr lang="hr-HR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UTP (engl. </a:t>
            </a:r>
            <a:r>
              <a:rPr lang="hr-HR" sz="20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Unshielded</a:t>
            </a:r>
            <a:r>
              <a:rPr lang="hr-HR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r-HR" sz="20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twisted</a:t>
            </a:r>
            <a:r>
              <a:rPr lang="hr-HR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r-HR" sz="20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pair</a:t>
            </a:r>
            <a:r>
              <a:rPr lang="hr-HR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hr-HR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neoklopljen, uvijene, četiri parice</a:t>
            </a:r>
          </a:p>
          <a:p>
            <a:pPr lvl="2">
              <a:lnSpc>
                <a:spcPct val="90000"/>
              </a:lnSpc>
            </a:pPr>
            <a:r>
              <a:rPr lang="hr-HR" dirty="0">
                <a:latin typeface="Calibri" panose="020F0502020204030204" pitchFamily="34" charset="0"/>
                <a:cs typeface="Calibri" panose="020F0502020204030204" pitchFamily="34" charset="0"/>
              </a:rPr>
              <a:t>vrsta kabela podložna na razne EM smetnje koje mogu uzrokovati probleme u radu mreže</a:t>
            </a:r>
          </a:p>
          <a:p>
            <a:pPr lvl="2">
              <a:lnSpc>
                <a:spcPct val="90000"/>
              </a:lnSpc>
            </a:pPr>
            <a:endParaRPr lang="hr-H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hr-HR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FTP (engl. </a:t>
            </a:r>
            <a:r>
              <a:rPr lang="hr-HR" sz="20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Foiled</a:t>
            </a:r>
            <a:r>
              <a:rPr lang="hr-HR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r-HR" sz="20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twisted</a:t>
            </a:r>
            <a:r>
              <a:rPr lang="hr-HR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r-HR" sz="20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pair</a:t>
            </a:r>
            <a:r>
              <a:rPr lang="hr-HR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hr-HR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oklopljene s folijom (F - </a:t>
            </a:r>
            <a:r>
              <a:rPr lang="hr-HR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Foil</a:t>
            </a:r>
            <a:r>
              <a:rPr lang="hr-HR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), uvijene, četiri parice</a:t>
            </a:r>
          </a:p>
          <a:p>
            <a:pPr lvl="2">
              <a:lnSpc>
                <a:spcPct val="90000"/>
              </a:lnSpc>
            </a:pPr>
            <a:r>
              <a:rPr lang="hr-HR" dirty="0">
                <a:latin typeface="Calibri" panose="020F0502020204030204" pitchFamily="34" charset="0"/>
                <a:cs typeface="Calibri" panose="020F0502020204030204" pitchFamily="34" charset="0"/>
              </a:rPr>
              <a:t>Zaštićeno od smetnji zbog zaštitne folije. </a:t>
            </a:r>
          </a:p>
          <a:p>
            <a:pPr lvl="1">
              <a:lnSpc>
                <a:spcPct val="90000"/>
              </a:lnSpc>
            </a:pPr>
            <a:endParaRPr lang="hr-HR" sz="20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hr-HR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STP (engl. </a:t>
            </a:r>
            <a:r>
              <a:rPr lang="hr-HR" sz="20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Shielded</a:t>
            </a:r>
            <a:r>
              <a:rPr lang="hr-HR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r-HR" sz="20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twisted</a:t>
            </a:r>
            <a:r>
              <a:rPr lang="hr-HR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r-HR" sz="20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pair</a:t>
            </a:r>
            <a:r>
              <a:rPr lang="hr-HR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- oklopljene s </a:t>
            </a:r>
            <a:r>
              <a:rPr lang="hr-HR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opletom</a:t>
            </a:r>
            <a:r>
              <a:rPr lang="hr-HR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žica (S - </a:t>
            </a:r>
            <a:r>
              <a:rPr lang="hr-HR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Shield</a:t>
            </a:r>
            <a:r>
              <a:rPr lang="hr-HR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), uvijene, četiri parice. </a:t>
            </a:r>
          </a:p>
          <a:p>
            <a:pPr lvl="2">
              <a:lnSpc>
                <a:spcPct val="90000"/>
              </a:lnSpc>
            </a:pPr>
            <a:r>
              <a:rPr lang="hr-HR" dirty="0">
                <a:latin typeface="Calibri" panose="020F0502020204030204" pitchFamily="34" charset="0"/>
                <a:cs typeface="Calibri" panose="020F0502020204030204" pitchFamily="34" charset="0"/>
              </a:rPr>
              <a:t>Zaštićeno od smetnji zbog zaštitnog </a:t>
            </a:r>
            <a:r>
              <a:rPr lang="hr-HR" dirty="0" err="1">
                <a:latin typeface="Calibri" panose="020F0502020204030204" pitchFamily="34" charset="0"/>
                <a:cs typeface="Calibri" panose="020F0502020204030204" pitchFamily="34" charset="0"/>
              </a:rPr>
              <a:t>opleta</a:t>
            </a:r>
            <a:r>
              <a:rPr lang="hr-HR" dirty="0">
                <a:latin typeface="Calibri" panose="020F0502020204030204" pitchFamily="34" charset="0"/>
                <a:cs typeface="Calibri" panose="020F0502020204030204" pitchFamily="34" charset="0"/>
              </a:rPr>
              <a:t> žica. </a:t>
            </a:r>
          </a:p>
          <a:p>
            <a:pPr lvl="1">
              <a:lnSpc>
                <a:spcPct val="90000"/>
              </a:lnSpc>
            </a:pPr>
            <a:endParaRPr lang="hr-HR" sz="20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hr-HR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SFTP (engl. </a:t>
            </a:r>
            <a:r>
              <a:rPr lang="hr-HR" sz="20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Shielded</a:t>
            </a:r>
            <a:r>
              <a:rPr lang="hr-HR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r-HR" sz="20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foiled</a:t>
            </a:r>
            <a:r>
              <a:rPr lang="hr-HR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r-HR" sz="20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twisted</a:t>
            </a:r>
            <a:r>
              <a:rPr lang="hr-HR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r-HR" sz="20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pair</a:t>
            </a:r>
            <a:r>
              <a:rPr lang="hr-HR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hr-HR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oklopljene s </a:t>
            </a:r>
            <a:r>
              <a:rPr lang="hr-HR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opletom</a:t>
            </a:r>
            <a:r>
              <a:rPr lang="hr-HR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žica i s folijom (S i F ), uvijene, četiri parice.</a:t>
            </a:r>
          </a:p>
          <a:p>
            <a:pPr lvl="2">
              <a:lnSpc>
                <a:spcPct val="90000"/>
              </a:lnSpc>
            </a:pPr>
            <a:r>
              <a:rPr lang="hr-HR" dirty="0">
                <a:latin typeface="Calibri" panose="020F0502020204030204" pitchFamily="34" charset="0"/>
                <a:cs typeface="Calibri" panose="020F0502020204030204" pitchFamily="34" charset="0"/>
              </a:rPr>
              <a:t> Zaštićeno od smetnji zbog zaštitne folije i </a:t>
            </a:r>
            <a:r>
              <a:rPr lang="hr-HR" dirty="0" err="1">
                <a:latin typeface="Calibri" panose="020F0502020204030204" pitchFamily="34" charset="0"/>
                <a:cs typeface="Calibri" panose="020F0502020204030204" pitchFamily="34" charset="0"/>
              </a:rPr>
              <a:t>opleta</a:t>
            </a:r>
            <a:r>
              <a:rPr lang="hr-HR" dirty="0">
                <a:latin typeface="Calibri" panose="020F0502020204030204" pitchFamily="34" charset="0"/>
                <a:cs typeface="Calibri" panose="020F0502020204030204" pitchFamily="34" charset="0"/>
              </a:rPr>
              <a:t> žica.</a:t>
            </a:r>
          </a:p>
        </p:txBody>
      </p:sp>
      <p:pic>
        <p:nvPicPr>
          <p:cNvPr id="5" name="Slika 4" descr="Slika na kojoj se prikazuje stol, na zatvorenom, nebo&#10;&#10;Opis je automatski generiran">
            <a:extLst>
              <a:ext uri="{FF2B5EF4-FFF2-40B4-BE49-F238E27FC236}">
                <a16:creationId xmlns:a16="http://schemas.microsoft.com/office/drawing/2014/main" id="{155FEB93-C7D7-4D11-B406-2C997562A7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551" y="1412776"/>
            <a:ext cx="2368672" cy="4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19071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05"/>
          <a:stretch/>
        </p:blipFill>
        <p:spPr>
          <a:xfrm>
            <a:off x="6012160" y="4221088"/>
            <a:ext cx="3079304" cy="256490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363272" cy="3001888"/>
          </a:xfrm>
        </p:spPr>
        <p:txBody>
          <a:bodyPr>
            <a:normAutofit fontScale="77500" lnSpcReduction="20000"/>
          </a:bodyPr>
          <a:lstStyle/>
          <a:p>
            <a:r>
              <a:rPr lang="vi-VN" sz="3200" dirty="0">
                <a:latin typeface="Calibri" pitchFamily="34" charset="0"/>
                <a:cs typeface="Calibri" pitchFamily="34" charset="0"/>
              </a:rPr>
              <a:t>Medi</a:t>
            </a:r>
            <a:r>
              <a:rPr lang="hr-HR" sz="3200" dirty="0">
                <a:latin typeface="Calibri" pitchFamily="34" charset="0"/>
                <a:cs typeface="Calibri" pitchFamily="34" charset="0"/>
              </a:rPr>
              <a:t>j izrađeni od kvarcnog stakla ili plastičnih vlakana za prijenos svjetla</a:t>
            </a:r>
          </a:p>
          <a:p>
            <a:endParaRPr lang="hr-HR" sz="3200" dirty="0">
              <a:latin typeface="Calibri" pitchFamily="34" charset="0"/>
              <a:cs typeface="Calibri" pitchFamily="34" charset="0"/>
            </a:endParaRPr>
          </a:p>
          <a:p>
            <a:r>
              <a:rPr lang="vi-VN" sz="3200" dirty="0">
                <a:latin typeface="Calibri" pitchFamily="34" charset="0"/>
                <a:cs typeface="Calibri" pitchFamily="34" charset="0"/>
              </a:rPr>
              <a:t>prenosi </a:t>
            </a:r>
            <a:r>
              <a:rPr lang="hr-HR" sz="3200" dirty="0">
                <a:latin typeface="Calibri" pitchFamily="34" charset="0"/>
                <a:cs typeface="Calibri" pitchFamily="34" charset="0"/>
              </a:rPr>
              <a:t>EM</a:t>
            </a:r>
            <a:r>
              <a:rPr lang="vi-VN" sz="3200" dirty="0">
                <a:latin typeface="Calibri" pitchFamily="34" charset="0"/>
                <a:cs typeface="Calibri" pitchFamily="34" charset="0"/>
              </a:rPr>
              <a:t> signale u obliku pulseva toliko visoke frekvencije da ulaze u svjetlosni spektar</a:t>
            </a:r>
            <a:endParaRPr lang="hr-HR" sz="3200" dirty="0">
              <a:latin typeface="Calibri" pitchFamily="34" charset="0"/>
              <a:cs typeface="Calibri" pitchFamily="34" charset="0"/>
            </a:endParaRPr>
          </a:p>
          <a:p>
            <a:endParaRPr lang="hr-HR" sz="3200" dirty="0">
              <a:latin typeface="Calibri" pitchFamily="34" charset="0"/>
              <a:cs typeface="Calibri" pitchFamily="34" charset="0"/>
            </a:endParaRPr>
          </a:p>
          <a:p>
            <a:r>
              <a:rPr lang="vi-VN" sz="3200" dirty="0">
                <a:latin typeface="Calibri" pitchFamily="34" charset="0"/>
                <a:cs typeface="Calibri" pitchFamily="34" charset="0"/>
              </a:rPr>
              <a:t>relativno lagani, savitljivi do određene mjere i imuni na </a:t>
            </a:r>
            <a:r>
              <a:rPr lang="hr-HR" sz="3200" dirty="0">
                <a:latin typeface="Calibri" pitchFamily="34" charset="0"/>
                <a:cs typeface="Calibri" pitchFamily="34" charset="0"/>
              </a:rPr>
              <a:t>EM </a:t>
            </a:r>
            <a:r>
              <a:rPr lang="vi-VN" sz="3200" dirty="0">
                <a:latin typeface="Calibri" pitchFamily="34" charset="0"/>
                <a:cs typeface="Calibri" pitchFamily="34" charset="0"/>
              </a:rPr>
              <a:t>smetnje i interferencije</a:t>
            </a:r>
            <a:endParaRPr lang="hr-HR" sz="3200" dirty="0">
              <a:latin typeface="Calibri" pitchFamily="34" charset="0"/>
              <a:cs typeface="Calibri" pitchFamily="34" charset="0"/>
            </a:endParaRPr>
          </a:p>
          <a:p>
            <a:endParaRPr lang="hr-HR" sz="3200" dirty="0">
              <a:latin typeface="Calibri" pitchFamily="34" charset="0"/>
              <a:cs typeface="Calibri" pitchFamily="34" charset="0"/>
            </a:endParaRPr>
          </a:p>
          <a:p>
            <a:endParaRPr lang="hr-HR" dirty="0"/>
          </a:p>
          <a:p>
            <a:endParaRPr lang="hr-HR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hr-HR" dirty="0">
                <a:solidFill>
                  <a:schemeClr val="hlink"/>
                </a:solidFill>
                <a:latin typeface="Arial" charset="0"/>
              </a:rPr>
              <a:t>Optički kabel</a:t>
            </a:r>
          </a:p>
        </p:txBody>
      </p:sp>
      <p:sp>
        <p:nvSpPr>
          <p:cNvPr id="2" name="TekstniOkvir 1"/>
          <p:cNvSpPr txBox="1"/>
          <p:nvPr/>
        </p:nvSpPr>
        <p:spPr>
          <a:xfrm>
            <a:off x="467544" y="4227472"/>
            <a:ext cx="5201616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vi-VN" sz="2500" dirty="0">
                <a:latin typeface="Calibri" pitchFamily="34" charset="0"/>
                <a:cs typeface="Calibri" pitchFamily="34" charset="0"/>
              </a:rPr>
              <a:t>imaju izuzetno male gubitke snage signala (atenuacija)</a:t>
            </a:r>
            <a:r>
              <a:rPr lang="hr-HR" sz="2500" dirty="0">
                <a:latin typeface="Calibri" pitchFamily="34" charset="0"/>
                <a:cs typeface="Calibri" pitchFamily="34" charset="0"/>
              </a:rPr>
              <a:t> - </a:t>
            </a:r>
            <a:r>
              <a:rPr lang="vi-VN" sz="2500" dirty="0">
                <a:latin typeface="Calibri" pitchFamily="34" charset="0"/>
                <a:cs typeface="Calibri" pitchFamily="34" charset="0"/>
              </a:rPr>
              <a:t>pogodni za prevaljivanje velikih udaljenosti</a:t>
            </a:r>
            <a:endParaRPr lang="hr-HR" sz="2500" dirty="0">
              <a:latin typeface="Calibri" pitchFamily="34" charset="0"/>
              <a:cs typeface="Calibri" pitchFamily="34" charset="0"/>
            </a:endParaRPr>
          </a:p>
          <a:p>
            <a:pPr marL="274320" indent="-274320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sz="2500" dirty="0">
              <a:latin typeface="Calibri" pitchFamily="34" charset="0"/>
              <a:cs typeface="Calibri" pitchFamily="34" charset="0"/>
            </a:endParaRPr>
          </a:p>
          <a:p>
            <a:pPr marL="274320" indent="-274320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vi-VN" sz="2500" dirty="0">
                <a:latin typeface="Calibri" pitchFamily="34" charset="0"/>
                <a:cs typeface="Calibri" pitchFamily="34" charset="0"/>
              </a:rPr>
              <a:t>Brzine</a:t>
            </a:r>
            <a:r>
              <a:rPr lang="hr-HR" sz="2500" dirty="0">
                <a:latin typeface="Calibri" pitchFamily="34" charset="0"/>
                <a:cs typeface="Calibri" pitchFamily="34" charset="0"/>
              </a:rPr>
              <a:t> - </a:t>
            </a:r>
            <a:r>
              <a:rPr lang="vi-VN" sz="2500" dirty="0">
                <a:latin typeface="Calibri" pitchFamily="34" charset="0"/>
                <a:cs typeface="Calibri" pitchFamily="34" charset="0"/>
              </a:rPr>
              <a:t>na razini desetaka Gbit/s i više</a:t>
            </a:r>
            <a:endParaRPr lang="hr-HR" sz="2500" dirty="0">
              <a:latin typeface="Calibri" pitchFamily="34" charset="0"/>
              <a:cs typeface="Calibri" pitchFamily="34" charset="0"/>
            </a:endParaRP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169800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 vert="horz" anchor="b" anchorCtr="0">
            <a:normAutofit/>
          </a:bodyPr>
          <a:lstStyle/>
          <a:p>
            <a:r>
              <a:rPr lang="hr-HR" dirty="0">
                <a:solidFill>
                  <a:schemeClr val="hlink"/>
                </a:solidFill>
                <a:latin typeface="Arial" charset="0"/>
              </a:rPr>
              <a:t>Optika na dnu oceana</a:t>
            </a:r>
          </a:p>
        </p:txBody>
      </p:sp>
      <p:pic>
        <p:nvPicPr>
          <p:cNvPr id="6" name="Rezervirano mjesto sadržaja 5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137" y="1901825"/>
            <a:ext cx="6181725" cy="3571875"/>
          </a:xfrm>
        </p:spPr>
      </p:pic>
    </p:spTree>
    <p:extLst>
      <p:ext uri="{BB962C8B-B14F-4D97-AF65-F5344CB8AC3E}">
        <p14:creationId xmlns:p14="http://schemas.microsoft.com/office/powerpoint/2010/main" val="2109098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19256" cy="5090120"/>
          </a:xfrm>
        </p:spPr>
        <p:txBody>
          <a:bodyPr>
            <a:noAutofit/>
          </a:bodyPr>
          <a:lstStyle/>
          <a:p>
            <a:r>
              <a:rPr lang="hr-HR" sz="2000" dirty="0">
                <a:latin typeface="Calibri" pitchFamily="34" charset="0"/>
              </a:rPr>
              <a:t>Slanje i primanje EM valova kroz prostor</a:t>
            </a:r>
          </a:p>
          <a:p>
            <a:r>
              <a:rPr lang="vi-VN" sz="2000" dirty="0">
                <a:latin typeface="Calibri" pitchFamily="34" charset="0"/>
              </a:rPr>
              <a:t>omoguć</a:t>
            </a:r>
            <a:r>
              <a:rPr lang="hr-HR" sz="2000" dirty="0">
                <a:latin typeface="Calibri" pitchFamily="34" charset="0"/>
              </a:rPr>
              <a:t>ena</a:t>
            </a:r>
            <a:r>
              <a:rPr lang="vi-VN" sz="2000" dirty="0">
                <a:latin typeface="Calibri" pitchFamily="34" charset="0"/>
              </a:rPr>
              <a:t> komunikacij</a:t>
            </a:r>
            <a:r>
              <a:rPr lang="hr-HR" sz="2000" dirty="0">
                <a:latin typeface="Calibri" pitchFamily="34" charset="0"/>
              </a:rPr>
              <a:t>a</a:t>
            </a:r>
            <a:r>
              <a:rPr lang="vi-VN" sz="2000" dirty="0">
                <a:latin typeface="Calibri" pitchFamily="34" charset="0"/>
              </a:rPr>
              <a:t> na veće udaljenosti bez potrebe izgradnje žičane infrastrukture</a:t>
            </a:r>
            <a:endParaRPr lang="hr-HR" sz="2000" dirty="0">
              <a:latin typeface="Calibri" pitchFamily="34" charset="0"/>
            </a:endParaRPr>
          </a:p>
          <a:p>
            <a:r>
              <a:rPr lang="vi-VN" sz="2000" dirty="0">
                <a:latin typeface="Calibri" pitchFamily="34" charset="0"/>
              </a:rPr>
              <a:t>određena ograničenja </a:t>
            </a:r>
            <a:r>
              <a:rPr lang="hr-HR" sz="2000" dirty="0">
                <a:latin typeface="Calibri" pitchFamily="34" charset="0"/>
              </a:rPr>
              <a:t>- </a:t>
            </a:r>
            <a:r>
              <a:rPr lang="vi-VN" sz="2000" dirty="0">
                <a:latin typeface="Calibri" pitchFamily="34" charset="0"/>
              </a:rPr>
              <a:t>gubici u snazi signala, a time i učinkovitosti prijenosa zbog same nesavršenosti prijenosnog medija i objekata koji smetaju na putu</a:t>
            </a:r>
            <a:r>
              <a:rPr lang="hr-HR" sz="2000" dirty="0">
                <a:latin typeface="Calibri" pitchFamily="34" charset="0"/>
              </a:rPr>
              <a:t> – osjetljivost na smetnje</a:t>
            </a:r>
          </a:p>
          <a:p>
            <a:endParaRPr lang="hr-HR" sz="2000" dirty="0">
              <a:latin typeface="Calibri" pitchFamily="34" charset="0"/>
            </a:endParaRPr>
          </a:p>
          <a:p>
            <a:r>
              <a:rPr lang="hr-HR" sz="2000" b="1" dirty="0">
                <a:latin typeface="Calibri" pitchFamily="34" charset="0"/>
              </a:rPr>
              <a:t>Radio valovi </a:t>
            </a:r>
            <a:r>
              <a:rPr lang="hr-HR" sz="2000" dirty="0">
                <a:latin typeface="Calibri" pitchFamily="34" charset="0"/>
              </a:rPr>
              <a:t>– lako se proizvode, velik domet, prolaze kroz prepreke, šire se u svim smjerovima</a:t>
            </a:r>
          </a:p>
          <a:p>
            <a:r>
              <a:rPr lang="hr-HR" sz="2000" b="1" dirty="0">
                <a:latin typeface="Calibri" pitchFamily="34" charset="0"/>
                <a:cs typeface="Calibri" pitchFamily="34" charset="0"/>
              </a:rPr>
              <a:t>Mikrovalovi</a:t>
            </a:r>
            <a:r>
              <a:rPr lang="hr-HR" sz="2000" dirty="0">
                <a:latin typeface="Calibri" pitchFamily="34" charset="0"/>
                <a:cs typeface="Calibri" pitchFamily="34" charset="0"/>
              </a:rPr>
              <a:t> – mogu se usmjeriti, nema interferencije, dobre značajke prijenosa</a:t>
            </a:r>
          </a:p>
          <a:p>
            <a:r>
              <a:rPr lang="hr-HR" sz="2000" b="1" dirty="0">
                <a:latin typeface="Calibri" pitchFamily="34" charset="0"/>
                <a:cs typeface="Calibri" pitchFamily="34" charset="0"/>
              </a:rPr>
              <a:t>Infracrveni valovi </a:t>
            </a:r>
            <a:r>
              <a:rPr lang="hr-HR" sz="2000" dirty="0">
                <a:latin typeface="Calibri" pitchFamily="34" charset="0"/>
                <a:cs typeface="Calibri" pitchFamily="34" charset="0"/>
              </a:rPr>
              <a:t>– kratak domet, lako se usmjeravaju, ne prolaze kroz čvrsta tijela</a:t>
            </a:r>
            <a:endParaRPr lang="hr-HR" sz="1800" dirty="0">
              <a:latin typeface="Calibri" pitchFamily="34" charset="0"/>
              <a:cs typeface="Calibri" pitchFamily="34" charset="0"/>
            </a:endParaRPr>
          </a:p>
          <a:p>
            <a:r>
              <a:rPr lang="hr-HR" sz="2000" b="1" dirty="0">
                <a:latin typeface="Calibri" pitchFamily="34" charset="0"/>
                <a:cs typeface="Calibri" pitchFamily="34" charset="0"/>
              </a:rPr>
              <a:t>Satelitske veze </a:t>
            </a:r>
            <a:r>
              <a:rPr lang="hr-HR" sz="2000" dirty="0">
                <a:latin typeface="Calibri" pitchFamily="34" charset="0"/>
                <a:cs typeface="Calibri" pitchFamily="34" charset="0"/>
              </a:rPr>
              <a:t>– prijenos podataka na velike udaljenosti gigabitnim brzinama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rmAutofit/>
          </a:bodyPr>
          <a:lstStyle/>
          <a:p>
            <a:r>
              <a:rPr lang="hr-HR" dirty="0">
                <a:solidFill>
                  <a:schemeClr val="hlink"/>
                </a:solidFill>
                <a:latin typeface="Arial" charset="0"/>
              </a:rPr>
              <a:t>Bežični medij</a:t>
            </a:r>
          </a:p>
        </p:txBody>
      </p:sp>
    </p:spTree>
    <p:extLst>
      <p:ext uri="{BB962C8B-B14F-4D97-AF65-F5344CB8AC3E}">
        <p14:creationId xmlns:p14="http://schemas.microsoft.com/office/powerpoint/2010/main" val="2035416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19256" cy="5090120"/>
          </a:xfrm>
        </p:spPr>
        <p:txBody>
          <a:bodyPr>
            <a:noAutofit/>
          </a:bodyPr>
          <a:lstStyle/>
          <a:p>
            <a:r>
              <a:rPr lang="hr-HR" sz="2800" dirty="0">
                <a:latin typeface="Calibri" pitchFamily="34" charset="0"/>
              </a:rPr>
              <a:t>NIC – Network </a:t>
            </a:r>
            <a:r>
              <a:rPr lang="hr-HR" sz="2800" dirty="0" err="1">
                <a:latin typeface="Calibri" pitchFamily="34" charset="0"/>
              </a:rPr>
              <a:t>Interface</a:t>
            </a:r>
            <a:r>
              <a:rPr lang="hr-HR" sz="2800" dirty="0">
                <a:latin typeface="Calibri" pitchFamily="34" charset="0"/>
              </a:rPr>
              <a:t> </a:t>
            </a:r>
            <a:r>
              <a:rPr lang="hr-HR" sz="2800" dirty="0" err="1">
                <a:latin typeface="Calibri" pitchFamily="34" charset="0"/>
              </a:rPr>
              <a:t>Controller</a:t>
            </a:r>
            <a:endParaRPr lang="hr-HR" sz="2800" dirty="0">
              <a:latin typeface="Calibri" pitchFamily="34" charset="0"/>
            </a:endParaRPr>
          </a:p>
          <a:p>
            <a:r>
              <a:rPr lang="hr-HR" sz="2800" dirty="0">
                <a:latin typeface="Calibri" pitchFamily="34" charset="0"/>
              </a:rPr>
              <a:t>Fizičko povezivanje krajnjeg uređaja s mrežom</a:t>
            </a:r>
          </a:p>
          <a:p>
            <a:r>
              <a:rPr lang="hr-HR" sz="2800" dirty="0">
                <a:latin typeface="Calibri" pitchFamily="34" charset="0"/>
              </a:rPr>
              <a:t>Pošto NIC u radu koristi MAC adresu pripada uređajima 2. sloja OSI modela, ali koristi sklopove 1. sloja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rmAutofit/>
          </a:bodyPr>
          <a:lstStyle/>
          <a:p>
            <a:r>
              <a:rPr lang="hr-HR" dirty="0">
                <a:solidFill>
                  <a:schemeClr val="hlink"/>
                </a:solidFill>
                <a:latin typeface="Arial" charset="0"/>
              </a:rPr>
              <a:t>Mrežna kartica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314CE6A8-90FA-479A-B018-5D60376B7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140968"/>
            <a:ext cx="3449960" cy="344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615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8AEA5-4D2E-52AD-FBB9-44A015E17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Pitanja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76DA4-2694-EE60-14D4-9CDBD5C5C42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hr-HR" dirty="0"/>
              <a:t>1. Pojasni zadaće fizičkog sloja te koji se signali šalju ?</a:t>
            </a:r>
          </a:p>
          <a:p>
            <a:r>
              <a:rPr lang="hr-HR" dirty="0"/>
              <a:t>2. Koje standarde definira fizički sloj ? </a:t>
            </a:r>
          </a:p>
          <a:p>
            <a:r>
              <a:rPr lang="hr-HR" dirty="0"/>
              <a:t>3. Objasni što je koaksijalni kabel ?</a:t>
            </a:r>
          </a:p>
          <a:p>
            <a:r>
              <a:rPr lang="hr-HR" dirty="0"/>
              <a:t>4. Objasni što je parica ?</a:t>
            </a:r>
          </a:p>
          <a:p>
            <a:r>
              <a:rPr lang="hr-HR" dirty="0"/>
              <a:t>5. Ukratko pojasni podjelu parica prema kategorijama ?</a:t>
            </a:r>
          </a:p>
          <a:p>
            <a:r>
              <a:rPr lang="hr-HR" dirty="0"/>
              <a:t>6. Pojasni podjelu parica prema tipu kabela ?</a:t>
            </a:r>
          </a:p>
          <a:p>
            <a:r>
              <a:rPr lang="hr-HR" dirty="0"/>
              <a:t>7. Objasni što je optički kabel ?</a:t>
            </a:r>
          </a:p>
          <a:p>
            <a:r>
              <a:rPr lang="hr-HR" dirty="0"/>
              <a:t>8. Pojasni bežični medij te njegove vrste ?</a:t>
            </a:r>
          </a:p>
          <a:p>
            <a:r>
              <a:rPr lang="hr-HR" dirty="0"/>
              <a:t>9. Pojasni što je mrežna kartica ?</a:t>
            </a:r>
          </a:p>
        </p:txBody>
      </p:sp>
    </p:spTree>
    <p:extLst>
      <p:ext uri="{BB962C8B-B14F-4D97-AF65-F5344CB8AC3E}">
        <p14:creationId xmlns:p14="http://schemas.microsoft.com/office/powerpoint/2010/main" val="18355036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74526B780CB7E40AAED50781EDEFDF6" ma:contentTypeVersion="3" ma:contentTypeDescription="Stvaranje novog dokumenta." ma:contentTypeScope="" ma:versionID="cb71b5a7b0bc5bc9bc84eb17535dd6ea">
  <xsd:schema xmlns:xsd="http://www.w3.org/2001/XMLSchema" xmlns:xs="http://www.w3.org/2001/XMLSchema" xmlns:p="http://schemas.microsoft.com/office/2006/metadata/properties" xmlns:ns2="c041744a-391e-4a25-927f-1fb68203ca47" targetNamespace="http://schemas.microsoft.com/office/2006/metadata/properties" ma:root="true" ma:fieldsID="cdfac31b053126c546b04e5083fe936b" ns2:_="">
    <xsd:import namespace="c041744a-391e-4a25-927f-1fb68203ca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41744a-391e-4a25-927f-1fb68203ca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sadržaja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666CC41-CD12-4C88-A022-905A7E111A5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EDB3E8E-3A59-4305-A56B-C5B6311E67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D82B94-840A-4CF1-9331-E52711233F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41744a-391e-4a25-927f-1fb68203ca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750</Words>
  <Application>Microsoft Office PowerPoint</Application>
  <PresentationFormat>On-screen Show (4:3)</PresentationFormat>
  <Paragraphs>106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Origin</vt:lpstr>
      <vt:lpstr>FIZIČKI SLOJ Zadaci fizičkog sloja</vt:lpstr>
      <vt:lpstr>Fizički sloj</vt:lpstr>
      <vt:lpstr>Standardi</vt:lpstr>
      <vt:lpstr>Povezivanje s mrežom</vt:lpstr>
      <vt:lpstr>Bakreni mediji</vt:lpstr>
      <vt:lpstr>Parice</vt:lpstr>
      <vt:lpstr>Podjela parica prema:</vt:lpstr>
      <vt:lpstr>Podjela parica prema:</vt:lpstr>
      <vt:lpstr>Optički kabel</vt:lpstr>
      <vt:lpstr>Optika na dnu oceana</vt:lpstr>
      <vt:lpstr>Bežični medij</vt:lpstr>
      <vt:lpstr>Mrežna kartica</vt:lpstr>
      <vt:lpstr>Pitanja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FIZIČKI SLOJ 5.Zadaci fizičkog sloja</dc:title>
  <dc:creator>Mara Mustapić</dc:creator>
  <cp:lastModifiedBy>Luka Huzjak</cp:lastModifiedBy>
  <cp:revision>9</cp:revision>
  <dcterms:created xsi:type="dcterms:W3CDTF">2019-06-17T07:56:26Z</dcterms:created>
  <dcterms:modified xsi:type="dcterms:W3CDTF">2025-11-29T18:32:01Z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0x010100C74526B780CB7E40AAED50781EDEFDF6</vt:lpwstr>
  </property>
</Properties>
</file>