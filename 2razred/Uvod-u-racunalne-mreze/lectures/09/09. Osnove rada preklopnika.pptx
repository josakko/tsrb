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ppt/changesInfos/changesInfo1.xml" ContentType="application/vnd.ms-powerpoint.changesinfo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56" r:id="rId2"/>
    <p:sldId id="376" r:id="rId3"/>
    <p:sldId id="383" r:id="rId4"/>
    <p:sldId id="377" r:id="rId5"/>
    <p:sldId id="378" r:id="rId6"/>
    <p:sldId id="398" r:id="rId7"/>
    <p:sldId id="399" r:id="rId8"/>
    <p:sldId id="385" r:id="rId9"/>
    <p:sldId id="381" r:id="rId10"/>
    <p:sldId id="387" r:id="rId11"/>
    <p:sldId id="396" r:id="rId12"/>
    <p:sldId id="388" r:id="rId13"/>
    <p:sldId id="389" r:id="rId14"/>
    <p:sldId id="390" r:id="rId15"/>
    <p:sldId id="391" r:id="rId16"/>
    <p:sldId id="392" r:id="rId17"/>
    <p:sldId id="393" r:id="rId18"/>
    <p:sldId id="394" r:id="rId19"/>
    <p:sldId id="395" r:id="rId20"/>
    <p:sldId id="400" r:id="rId21"/>
  </p:sldIdLst>
  <p:sldSz cx="9144000" cy="6858000" type="screen4x3"/>
  <p:notesSz cx="6834188" cy="9979025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6238F9-633D-4191-A267-C37599DD958C}" v="10" dt="2022-01-25T09:04:35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81129" autoAdjust="0"/>
  </p:normalViewPr>
  <p:slideViewPr>
    <p:cSldViewPr>
      <p:cViewPr varScale="1">
        <p:scale>
          <a:sx n="67" d="100"/>
          <a:sy n="67" d="100"/>
        </p:scale>
        <p:origin x="1685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ran Dumančić" userId="70f12f27-58fe-414c-89aa-9264ee582611" providerId="ADAL" clId="{0B6238F9-633D-4191-A267-C37599DD958C}"/>
    <pc:docChg chg="modSld">
      <pc:chgData name="Zoran Dumančić" userId="70f12f27-58fe-414c-89aa-9264ee582611" providerId="ADAL" clId="{0B6238F9-633D-4191-A267-C37599DD958C}" dt="2022-01-25T09:04:35.724" v="7"/>
      <pc:docMkLst>
        <pc:docMk/>
      </pc:docMkLst>
      <pc:sldChg chg="modAnim">
        <pc:chgData name="Zoran Dumančić" userId="70f12f27-58fe-414c-89aa-9264ee582611" providerId="ADAL" clId="{0B6238F9-633D-4191-A267-C37599DD958C}" dt="2022-01-25T09:04:35.724" v="7"/>
        <pc:sldMkLst>
          <pc:docMk/>
          <pc:sldMk cId="2938531851" sldId="38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71913" y="0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A4583-234D-4C7C-BD5B-A095720B3B84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78963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59343-547E-4B6E-AE6F-D11BFA7371D1}" type="slidenum">
              <a:rPr lang="hr-HR" smtClean="0"/>
              <a:pPr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012359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1481" cy="4989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71125" y="0"/>
            <a:ext cx="2961481" cy="4989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7C12A-4DF7-403B-A283-50D78C81ABE6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2338" y="747713"/>
            <a:ext cx="4991100" cy="3743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3419" y="4740037"/>
            <a:ext cx="5467350" cy="44905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78342"/>
            <a:ext cx="2961481" cy="4989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71125" y="9478342"/>
            <a:ext cx="2961481" cy="4989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B4AA-7FC7-404C-91AE-549D4281B966}" type="slidenum">
              <a:rPr lang="hr-HR" smtClean="0"/>
              <a:pPr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5135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pPr/>
              <a:t>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23602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5CB4E58-3464-4437-811F-110D15FDB207}" type="slidenum">
              <a:rPr lang="hr-HR" sz="1200"/>
              <a:pPr eaLnBrk="1" hangingPunct="1"/>
              <a:t>2</a:t>
            </a:fld>
            <a:endParaRPr lang="hr-HR" sz="120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4662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5CB4E58-3464-4437-811F-110D15FDB207}" type="slidenum">
              <a:rPr lang="hr-HR" sz="1200"/>
              <a:pPr eaLnBrk="1" hangingPunct="1"/>
              <a:t>3</a:t>
            </a:fld>
            <a:endParaRPr lang="hr-HR" sz="120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hr-HR" dirty="0"/>
              <a:t>Komunikacija</a:t>
            </a:r>
            <a:r>
              <a:rPr lang="hr-HR" baseline="0" dirty="0"/>
              <a:t> između računala obično je dvosmjerna</a:t>
            </a:r>
          </a:p>
          <a:p>
            <a:pPr eaLnBrk="1" hangingPunct="1"/>
            <a:endParaRPr lang="hr-HR" baseline="0" dirty="0"/>
          </a:p>
          <a:p>
            <a:pPr eaLnBrk="1" hangingPunct="1"/>
            <a:r>
              <a:rPr lang="hr-HR" baseline="0" dirty="0"/>
              <a:t>Half duplex – primjer sa koncentratorom</a:t>
            </a:r>
          </a:p>
          <a:p>
            <a:pPr eaLnBrk="1" hangingPunct="1"/>
            <a:r>
              <a:rPr lang="hr-HR" baseline="0" dirty="0"/>
              <a:t>Full duplex – najčešći nači danas – preklopnik – potpuno izbjegnuta kolizija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7373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3AC4E66-79C0-405A-A7CA-014C97DFBDE4}" type="slidenum">
              <a:rPr lang="hr-HR" sz="1200"/>
              <a:pPr eaLnBrk="1" hangingPunct="1"/>
              <a:t>4</a:t>
            </a:fld>
            <a:endParaRPr lang="hr-HR" sz="120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hr-HR" dirty="0"/>
              <a:t>Objasniti pojam koncentratora (engl. </a:t>
            </a:r>
            <a:r>
              <a:rPr lang="hr-HR" dirty="0" err="1"/>
              <a:t>Hub</a:t>
            </a:r>
            <a:r>
              <a:rPr lang="hr-HR"/>
              <a:t>)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0371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1AD4B4-C61E-4A48-99BD-505436B5F7BA}" type="slidenum">
              <a:rPr lang="hr-HR" sz="1200"/>
              <a:pPr eaLnBrk="1" hangingPunct="1"/>
              <a:t>5</a:t>
            </a:fld>
            <a:endParaRPr lang="hr-HR" sz="1200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5858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5FFB603-2A20-4A1D-BEE2-AF59E29AF680}" type="slidenum">
              <a:rPr lang="hr-HR" sz="1200"/>
              <a:pPr eaLnBrk="1" hangingPunct="1"/>
              <a:t>6</a:t>
            </a:fld>
            <a:endParaRPr lang="hr-HR" sz="12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switchevi prekidaju kolizijske domene,a routeri prekidaju i kolizijske i broadcast domene. 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vi-VN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6786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5FFB603-2A20-4A1D-BEE2-AF59E29AF680}" type="slidenum">
              <a:rPr lang="hr-HR" sz="1200"/>
              <a:pPr eaLnBrk="1" hangingPunct="1"/>
              <a:t>7</a:t>
            </a:fld>
            <a:endParaRPr lang="hr-HR" sz="12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Broadcast domena može imati više kolizijskih domena ,ali kolizijska domena ne može imati više od jedne broadcast domene.</a:t>
            </a: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Kako izbrojati broadcast domene?</a:t>
            </a: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Bez obzira koliko je uređaja spojeno,ako su spojeni sa hub-ovima, switch-evima ili bridge-vima ,svi ti uređaji su u jednoj broadcast domeni.</a:t>
            </a:r>
            <a:b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 razdvaja broadcast domene pa ako je između uređaja spojen router to znači da imamo dvije broadcast domene (kao na zadnjoj slici).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Kako izbrojati kolizijske domene? Svaki spoj između računala i layer 2 switcha je jedna kolizijska domena.Znači, ako je spojeno 5 računala sa 5 kablova na switch to znači da postoji 5 kolizijskih domena , a ako je 5 računala spojeno na hub to znači da imamo jednu kolizijsku domenu.</a:t>
            </a:r>
          </a:p>
          <a:p>
            <a:endParaRPr lang="vi-V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3023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41B9FA-F129-42B7-A155-C8F7B6E1EB85}" type="slidenum">
              <a:rPr lang="hr-HR"/>
              <a:pPr/>
              <a:t>8</a:t>
            </a:fld>
            <a:endParaRPr lang="hr-HR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894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A59E0C-2DF5-4319-B019-A6B1E33934CA}" type="slidenum">
              <a:rPr lang="hr-HR"/>
              <a:pPr/>
              <a:t>10</a:t>
            </a:fld>
            <a:endParaRPr lang="hr-HR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559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A59E0C-2DF5-4319-B019-A6B1E33934CA}" type="slidenum">
              <a:rPr lang="hr-HR"/>
              <a:pPr/>
              <a:t>11</a:t>
            </a:fld>
            <a:endParaRPr lang="hr-HR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5593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64B9D7-8BFF-4CC9-A95B-2C45AAA8657B}" type="slidenum">
              <a:rPr lang="hr-HR"/>
              <a:pPr/>
              <a:t>12</a:t>
            </a:fld>
            <a:endParaRPr lang="hr-HR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4733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F26BEB08-B0C2-45E8-8318-CFD0EF8EE004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hr-HR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F26BEB08-B0C2-45E8-8318-CFD0EF8EE004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CDE0B00-D963-41BA-9FB3-08599C151BCE}" type="slidenum">
              <a:rPr lang="hr-HR"/>
              <a:pPr/>
              <a:t>‹#›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41425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26BEB08-B0C2-45E8-8318-CFD0EF8EE004}" type="datetimeFigureOut">
              <a:rPr lang="hr-HR" smtClean="0"/>
              <a:pPr/>
              <a:t>12.1.2025.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r-H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emf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emf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13.emf"/><Relationship Id="rId4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3645024"/>
            <a:ext cx="7920880" cy="1296144"/>
          </a:xfrm>
        </p:spPr>
        <p:txBody>
          <a:bodyPr>
            <a:noAutofit/>
          </a:bodyPr>
          <a:lstStyle/>
          <a:p>
            <a:r>
              <a:rPr lang="hr-HR" sz="3600" b="1" dirty="0">
                <a:solidFill>
                  <a:schemeClr val="hlink"/>
                </a:solidFill>
              </a:rPr>
              <a:t>PODATKOVNI SLOJ</a:t>
            </a:r>
            <a:br>
              <a:rPr lang="hr-HR" sz="3600" dirty="0">
                <a:solidFill>
                  <a:schemeClr val="hlink"/>
                </a:solidFill>
              </a:rPr>
            </a:br>
            <a:r>
              <a:rPr lang="hr-HR" sz="3600" dirty="0">
                <a:solidFill>
                  <a:schemeClr val="hlink"/>
                </a:solidFill>
              </a:rPr>
              <a:t>Osnove rada preklopnika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/>
              <a:t>Računalne mreže</a:t>
            </a:r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3362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566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6" name="Text Box 6"/>
          <p:cNvSpPr txBox="1">
            <a:spLocks noChangeArrowheads="1"/>
          </p:cNvSpPr>
          <p:nvPr/>
        </p:nvSpPr>
        <p:spPr bwMode="auto">
          <a:xfrm>
            <a:off x="468313" y="1340768"/>
            <a:ext cx="8034337" cy="2092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dirty="0">
                <a:latin typeface="Calibri" pitchFamily="34" charset="0"/>
                <a:cs typeface="Calibri" pitchFamily="34" charset="0"/>
              </a:rPr>
              <a:t>Preklopnik je mrežni uređaj koji spaja računala ili druge mrežne uređaje na mrežu</a:t>
            </a: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dirty="0">
                <a:latin typeface="Calibri" pitchFamily="34" charset="0"/>
                <a:cs typeface="Calibri" pitchFamily="34" charset="0"/>
              </a:rPr>
              <a:t>sva računala i mrežni uređaji, spajaju se na preklopnik kao na centralno mjesto u mreži</a:t>
            </a: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dirty="0">
                <a:latin typeface="Calibri" pitchFamily="34" charset="0"/>
                <a:cs typeface="Calibri" pitchFamily="34" charset="0"/>
              </a:rPr>
              <a:t>ovakav spoj se prema topologiji naziva zvjezdastim spojem</a:t>
            </a:r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468313" y="570924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Preklopnik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677" y="3429000"/>
            <a:ext cx="3719513" cy="186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474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6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6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6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6" name="Text Box 6"/>
          <p:cNvSpPr txBox="1">
            <a:spLocks noChangeArrowheads="1"/>
          </p:cNvSpPr>
          <p:nvPr/>
        </p:nvSpPr>
        <p:spPr bwMode="auto">
          <a:xfrm>
            <a:off x="468313" y="1340768"/>
            <a:ext cx="8034337" cy="4616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hr-HR" dirty="0">
                <a:latin typeface="Calibri" pitchFamily="34" charset="0"/>
                <a:cs typeface="Calibri" pitchFamily="34" charset="0"/>
              </a:rPr>
              <a:t>Tri su osnovna načina prijenosa s obzirom na smjer:</a:t>
            </a: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dirty="0">
              <a:latin typeface="Calibri" pitchFamily="34" charset="0"/>
              <a:cs typeface="Calibri" pitchFamily="34" charset="0"/>
            </a:endParaRP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b="1" dirty="0">
                <a:latin typeface="Calibri" pitchFamily="34" charset="0"/>
                <a:cs typeface="Calibri" pitchFamily="34" charset="0"/>
              </a:rPr>
              <a:t>Jednosmjerni način (simplex)</a:t>
            </a:r>
            <a:r>
              <a:rPr lang="hr-HR" dirty="0">
                <a:latin typeface="Calibri" pitchFamily="34" charset="0"/>
                <a:cs typeface="Calibri" pitchFamily="34" charset="0"/>
              </a:rPr>
              <a:t> omogućava promet podataka samo u jednom pravcu (npr. daljinski upravljač)</a:t>
            </a: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dirty="0">
              <a:latin typeface="Calibri" pitchFamily="34" charset="0"/>
              <a:cs typeface="Calibri" pitchFamily="34" charset="0"/>
            </a:endParaRP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b="1" dirty="0">
                <a:latin typeface="Calibri" pitchFamily="34" charset="0"/>
                <a:cs typeface="Calibri" pitchFamily="34" charset="0"/>
              </a:rPr>
              <a:t>Poludvosmjerni način (half duplex) </a:t>
            </a:r>
            <a:r>
              <a:rPr lang="hr-HR" dirty="0">
                <a:latin typeface="Calibri" pitchFamily="34" charset="0"/>
                <a:cs typeface="Calibri" pitchFamily="34" charset="0"/>
              </a:rPr>
              <a:t>naizmjence propušta podatke u jednom, pa u drugom smjeru. (npr. </a:t>
            </a:r>
            <a:r>
              <a:rPr lang="hr-HR" dirty="0" err="1">
                <a:latin typeface="Calibri" pitchFamily="34" charset="0"/>
                <a:cs typeface="Calibri" pitchFamily="34" charset="0"/>
              </a:rPr>
              <a:t>walkie-talkie</a:t>
            </a:r>
            <a:r>
              <a:rPr lang="hr-HR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dirty="0">
              <a:latin typeface="Calibri" pitchFamily="34" charset="0"/>
              <a:cs typeface="Calibri" pitchFamily="34" charset="0"/>
            </a:endParaRP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b="1" dirty="0">
                <a:latin typeface="Calibri" pitchFamily="34" charset="0"/>
                <a:cs typeface="Calibri" pitchFamily="34" charset="0"/>
              </a:rPr>
              <a:t>Dvosmjerni način rada (full duplex)</a:t>
            </a:r>
            <a:r>
              <a:rPr lang="hr-HR" dirty="0">
                <a:latin typeface="Calibri" pitchFamily="34" charset="0"/>
                <a:cs typeface="Calibri" pitchFamily="34" charset="0"/>
              </a:rPr>
              <a:t> dozvoljava kolanje podataka u oba smjera istodobno. (npr. telefon)</a:t>
            </a:r>
          </a:p>
          <a:p>
            <a:pPr eaLnBrk="1" hangingPunct="1">
              <a:buFontTx/>
              <a:buChar char="-"/>
            </a:pP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97381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ChangeArrowheads="1"/>
          </p:cNvSpPr>
          <p:nvPr/>
        </p:nvSpPr>
        <p:spPr bwMode="auto">
          <a:xfrm>
            <a:off x="467544" y="1196752"/>
            <a:ext cx="8280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hr-HR" dirty="0">
                <a:latin typeface="Calibri" pitchFamily="34" charset="0"/>
                <a:cs typeface="Calibri" pitchFamily="34" charset="0"/>
              </a:rPr>
              <a:t>Koncentrator radi u poludupleksnom načinu rada te su zato kolizije moguće.</a:t>
            </a:r>
          </a:p>
          <a:p>
            <a:pPr algn="l"/>
            <a:endParaRPr lang="hr-HR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5123" name="Picture 4" descr="Hub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2492375"/>
            <a:ext cx="122396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5" descr="Računal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4076700"/>
            <a:ext cx="865188" cy="72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6" descr="Računal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3644900"/>
            <a:ext cx="865187" cy="72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6" name="Line 7"/>
          <p:cNvSpPr>
            <a:spLocks noChangeShapeType="1"/>
          </p:cNvSpPr>
          <p:nvPr/>
        </p:nvSpPr>
        <p:spPr bwMode="auto">
          <a:xfrm flipV="1">
            <a:off x="1692275" y="3213100"/>
            <a:ext cx="237490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eaVert" wrap="none" anchor="ctr"/>
          <a:lstStyle/>
          <a:p>
            <a:endParaRPr lang="hr-HR"/>
          </a:p>
        </p:txBody>
      </p:sp>
      <p:sp>
        <p:nvSpPr>
          <p:cNvPr id="5127" name="Line 8"/>
          <p:cNvSpPr>
            <a:spLocks noChangeShapeType="1"/>
          </p:cNvSpPr>
          <p:nvPr/>
        </p:nvSpPr>
        <p:spPr bwMode="auto">
          <a:xfrm>
            <a:off x="4427538" y="3284538"/>
            <a:ext cx="2592387" cy="1081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eaVert" wrap="none" anchor="ctr"/>
          <a:lstStyle/>
          <a:p>
            <a:endParaRPr lang="hr-HR"/>
          </a:p>
        </p:txBody>
      </p:sp>
      <p:pic>
        <p:nvPicPr>
          <p:cNvPr id="116745" name="Picture 9" descr="Kuverta žut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3789363"/>
            <a:ext cx="720725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746" name="Picture 10" descr="Kuverta žut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050" y="4437063"/>
            <a:ext cx="720725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4364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503 -0.02037 L 0.25191 -0.11481 " pathEditMode="relative" ptsTypes="AA">
                                      <p:cBhvr>
                                        <p:cTn id="6" dur="20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191 -0.11481 L 0.56684 0.06366 " pathEditMode="relative" ptsTypes="AA">
                                      <p:cBhvr>
                                        <p:cTn id="9" dur="20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7.40741E-7 L -0.32292 -0.1995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146" y="-9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3871 -0.20926 L -0.5908 -0.10417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04" y="5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539750" y="1397675"/>
            <a:ext cx="8208963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hr-HR" dirty="0">
                <a:latin typeface="Calibri" pitchFamily="34" charset="0"/>
                <a:cs typeface="Calibri" pitchFamily="34" charset="0"/>
              </a:rPr>
              <a:t>Preklopnici rade u potpuno dvosmjernom načinu rada  (full duplex mod)</a:t>
            </a:r>
          </a:p>
          <a:p>
            <a:pPr algn="l"/>
            <a:endParaRPr lang="hr-HR" b="1" dirty="0">
              <a:latin typeface="Calibri" pitchFamily="34" charset="0"/>
              <a:cs typeface="Calibri" pitchFamily="34" charset="0"/>
            </a:endParaRPr>
          </a:p>
          <a:p>
            <a:pPr algn="l"/>
            <a:r>
              <a:rPr lang="hr-HR" b="1" dirty="0">
                <a:latin typeface="Calibri" pitchFamily="34" charset="0"/>
                <a:cs typeface="Calibri" pitchFamily="34" charset="0"/>
              </a:rPr>
              <a:t>Kolizija je izbjegnuta! </a:t>
            </a:r>
          </a:p>
          <a:p>
            <a:pPr algn="l"/>
            <a:endParaRPr lang="hr-HR" dirty="0"/>
          </a:p>
          <a:p>
            <a:pPr algn="l"/>
            <a:r>
              <a:rPr lang="hr-HR" dirty="0"/>
              <a:t> </a:t>
            </a:r>
          </a:p>
          <a:p>
            <a:endParaRPr lang="hr-HR" sz="1800" dirty="0"/>
          </a:p>
          <a:p>
            <a:pPr algn="l"/>
            <a:endParaRPr lang="hr-HR" dirty="0"/>
          </a:p>
        </p:txBody>
      </p:sp>
      <p:pic>
        <p:nvPicPr>
          <p:cNvPr id="6147" name="Picture 9" descr="Računal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4292600"/>
            <a:ext cx="865187" cy="72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10" descr="Računal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4292600"/>
            <a:ext cx="865188" cy="72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11" descr="Preklopnik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3429000"/>
            <a:ext cx="119380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0" name="Line 13"/>
          <p:cNvSpPr>
            <a:spLocks noChangeShapeType="1"/>
          </p:cNvSpPr>
          <p:nvPr/>
        </p:nvSpPr>
        <p:spPr bwMode="auto">
          <a:xfrm flipV="1">
            <a:off x="1619250" y="3644900"/>
            <a:ext cx="2376488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eaVert" wrap="none" anchor="ctr"/>
          <a:lstStyle/>
          <a:p>
            <a:endParaRPr lang="hr-HR"/>
          </a:p>
        </p:txBody>
      </p:sp>
      <p:sp>
        <p:nvSpPr>
          <p:cNvPr id="6151" name="Line 14"/>
          <p:cNvSpPr>
            <a:spLocks noChangeShapeType="1"/>
          </p:cNvSpPr>
          <p:nvPr/>
        </p:nvSpPr>
        <p:spPr bwMode="auto">
          <a:xfrm flipV="1">
            <a:off x="1692275" y="3933825"/>
            <a:ext cx="2376488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eaVert" wrap="none" anchor="ctr"/>
          <a:lstStyle/>
          <a:p>
            <a:endParaRPr lang="hr-HR"/>
          </a:p>
        </p:txBody>
      </p:sp>
      <p:sp>
        <p:nvSpPr>
          <p:cNvPr id="6152" name="Line 15"/>
          <p:cNvSpPr>
            <a:spLocks noChangeShapeType="1"/>
          </p:cNvSpPr>
          <p:nvPr/>
        </p:nvSpPr>
        <p:spPr bwMode="auto">
          <a:xfrm flipH="1" flipV="1">
            <a:off x="4859338" y="3933825"/>
            <a:ext cx="2736850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eaVert" wrap="none" anchor="ctr"/>
          <a:lstStyle/>
          <a:p>
            <a:endParaRPr lang="hr-HR"/>
          </a:p>
        </p:txBody>
      </p:sp>
      <p:sp>
        <p:nvSpPr>
          <p:cNvPr id="6153" name="Line 16"/>
          <p:cNvSpPr>
            <a:spLocks noChangeShapeType="1"/>
          </p:cNvSpPr>
          <p:nvPr/>
        </p:nvSpPr>
        <p:spPr bwMode="auto">
          <a:xfrm flipH="1" flipV="1">
            <a:off x="5076825" y="3716338"/>
            <a:ext cx="2447925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eaVert" wrap="none" anchor="ctr"/>
          <a:lstStyle/>
          <a:p>
            <a:endParaRPr lang="hr-HR"/>
          </a:p>
        </p:txBody>
      </p:sp>
      <p:pic>
        <p:nvPicPr>
          <p:cNvPr id="6154" name="Picture 17" descr="Kuverta smeđa"/>
          <p:cNvPicPr>
            <a:picLocks noChangeAspect="1" noChangeArrowheads="1"/>
          </p:cNvPicPr>
          <p:nvPr/>
        </p:nvPicPr>
        <p:blipFill>
          <a:blip r:embed="rId5" cstate="print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825" y="4797425"/>
            <a:ext cx="792163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5" name="Picture 18" descr="Kuverta žut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894" y="4267869"/>
            <a:ext cx="766762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9044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99 -0.00902 L 0.25729 -0.1255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64" y="-582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8 -0.00231 L -0.33455 -0.1725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517" y="-85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493 -0.14432 L 0.66146 0.0025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26" y="733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9219 -0.15957 L -0.69132 -0.00231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65" y="78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ext Box 2"/>
          <p:cNvSpPr txBox="1">
            <a:spLocks noChangeArrowheads="1"/>
          </p:cNvSpPr>
          <p:nvPr/>
        </p:nvSpPr>
        <p:spPr bwMode="auto">
          <a:xfrm>
            <a:off x="539551" y="1700808"/>
            <a:ext cx="4608511" cy="409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hr-HR" u="sng" dirty="0"/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dirty="0">
                <a:latin typeface="Calibri" pitchFamily="34" charset="0"/>
                <a:cs typeface="Calibri" pitchFamily="34" charset="0"/>
              </a:rPr>
              <a:t>Vjerojatnost pojave kolizije povećava se sa brojem uređaja kao i njihovom međusobnom udaljenošću.</a:t>
            </a: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dirty="0">
              <a:latin typeface="Calibri" pitchFamily="34" charset="0"/>
              <a:cs typeface="Calibri" pitchFamily="34" charset="0"/>
            </a:endParaRP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dirty="0">
              <a:latin typeface="Calibri" pitchFamily="34" charset="0"/>
              <a:cs typeface="Calibri" pitchFamily="34" charset="0"/>
            </a:endParaRP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dirty="0">
                <a:latin typeface="Calibri" pitchFamily="34" charset="0"/>
                <a:cs typeface="Calibri" pitchFamily="34" charset="0"/>
              </a:rPr>
              <a:t>Mrežno područje koje pokriva koncentrator = kolizijska domena</a:t>
            </a:r>
          </a:p>
          <a:p>
            <a:pPr eaLnBrk="1" hangingPunct="1"/>
            <a:endParaRPr lang="hr-HR" dirty="0"/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467544" y="548680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Kolizijska domena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1340768"/>
            <a:ext cx="3171825" cy="26193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907" y="3952859"/>
            <a:ext cx="2762250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601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ext Box 2"/>
          <p:cNvSpPr txBox="1">
            <a:spLocks noChangeArrowheads="1"/>
          </p:cNvSpPr>
          <p:nvPr/>
        </p:nvSpPr>
        <p:spPr bwMode="auto">
          <a:xfrm>
            <a:off x="505437" y="1196752"/>
            <a:ext cx="4608511" cy="549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vi-VN" dirty="0">
                <a:latin typeface="Calibri" pitchFamily="34" charset="0"/>
                <a:cs typeface="Calibri" pitchFamily="34" charset="0"/>
              </a:rPr>
              <a:t>Broadcast šalje poruku svim uređajima unutar lokalne mreže</a:t>
            </a:r>
            <a:r>
              <a:rPr lang="hr-HR" dirty="0">
                <a:latin typeface="Calibri" pitchFamily="34" charset="0"/>
                <a:cs typeface="Calibri" pitchFamily="34" charset="0"/>
              </a:rPr>
              <a:t> </a:t>
            </a:r>
            <a:r>
              <a:rPr lang="vi-VN" dirty="0">
                <a:latin typeface="Calibri" pitchFamily="34" charset="0"/>
                <a:cs typeface="Calibri" pitchFamily="34" charset="0"/>
              </a:rPr>
              <a:t>(subneta)</a:t>
            </a:r>
            <a:endParaRPr lang="hr-HR" dirty="0">
              <a:latin typeface="Calibri" pitchFamily="34" charset="0"/>
              <a:cs typeface="Calibri" pitchFamily="34" charset="0"/>
            </a:endParaRP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vi-VN" dirty="0">
                <a:latin typeface="Calibri" pitchFamily="34" charset="0"/>
                <a:cs typeface="Calibri" pitchFamily="34" charset="0"/>
              </a:rPr>
              <a:t>Npr. kada računalo želi poslati podatke nekom drugom računalu,</a:t>
            </a:r>
            <a:r>
              <a:rPr lang="hr-HR" dirty="0">
                <a:latin typeface="Calibri" pitchFamily="34" charset="0"/>
                <a:cs typeface="Calibri" pitchFamily="34" charset="0"/>
              </a:rPr>
              <a:t> </a:t>
            </a:r>
            <a:r>
              <a:rPr lang="vi-VN" dirty="0">
                <a:latin typeface="Calibri" pitchFamily="34" charset="0"/>
                <a:cs typeface="Calibri" pitchFamily="34" charset="0"/>
              </a:rPr>
              <a:t>a ne zna njegovu adresu poslat će broadcast upit. Sva računala u lokalnoj mreži će primiti poruku , a samo traženo računalo će odgovoriti na upit. </a:t>
            </a:r>
            <a:r>
              <a:rPr lang="vi-VN" dirty="0"/>
              <a:t>  </a:t>
            </a:r>
            <a:endParaRPr lang="hr-HR" dirty="0">
              <a:latin typeface="Calibri" pitchFamily="34" charset="0"/>
              <a:cs typeface="Calibri" pitchFamily="34" charset="0"/>
            </a:endParaRP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dirty="0">
              <a:latin typeface="Calibri" pitchFamily="34" charset="0"/>
              <a:cs typeface="Calibri" pitchFamily="34" charset="0"/>
            </a:endParaRPr>
          </a:p>
          <a:p>
            <a:pPr marL="274320" indent="-274320" eaLnBrk="1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dirty="0">
                <a:latin typeface="Calibri" pitchFamily="34" charset="0"/>
                <a:cs typeface="Calibri" pitchFamily="34" charset="0"/>
              </a:rPr>
              <a:t>Mrežno područje koje pokriva preklopnik = broadcast domena</a:t>
            </a:r>
          </a:p>
          <a:p>
            <a:pPr eaLnBrk="1" hangingPunct="1"/>
            <a:endParaRPr lang="hr-HR" dirty="0"/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467544" y="548680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Broadcast domena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3948" y="2242572"/>
            <a:ext cx="37719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029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61" name="Text Box 9"/>
          <p:cNvSpPr txBox="1">
            <a:spLocks noChangeArrowheads="1"/>
          </p:cNvSpPr>
          <p:nvPr/>
        </p:nvSpPr>
        <p:spPr bwMode="auto">
          <a:xfrm>
            <a:off x="468313" y="1268760"/>
            <a:ext cx="8352928" cy="4478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sz="2400">
                <a:latin typeface="Calibri" pitchFamily="34" charset="0"/>
                <a:cs typeface="Calibri" pitchFamily="34" charset="0"/>
              </a:defRPr>
            </a:lvl1pPr>
            <a:lvl2pPr marL="742950" indent="-285750" eaLnBrk="0" hangingPunct="0">
              <a:defRPr sz="2400">
                <a:latin typeface="Arial" charset="0"/>
              </a:defRPr>
            </a:lvl2pPr>
            <a:lvl3pPr marL="1143000" indent="-228600" eaLnBrk="0" hangingPunct="0">
              <a:defRPr sz="2400">
                <a:latin typeface="Arial" charset="0"/>
              </a:defRPr>
            </a:lvl3pPr>
            <a:lvl4pPr marL="1600200" indent="-228600" eaLnBrk="0" hangingPunct="0">
              <a:defRPr sz="2400">
                <a:latin typeface="Arial" charset="0"/>
              </a:defRPr>
            </a:lvl4pPr>
            <a:lvl5pPr marL="2057400" indent="-228600" eaLnBrk="0" hangingPunct="0">
              <a:defRPr sz="2400"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9pPr>
          </a:lstStyle>
          <a:p>
            <a:r>
              <a:rPr lang="hr-HR" dirty="0"/>
              <a:t>Koja se vrsta PDU-a koristi na podatkovnom sloju?</a:t>
            </a:r>
          </a:p>
          <a:p>
            <a:pPr marL="0" indent="0">
              <a:buNone/>
            </a:pPr>
            <a:r>
              <a:rPr lang="hr-HR" dirty="0"/>
              <a:t>	</a:t>
            </a:r>
            <a:r>
              <a:rPr lang="hr-HR" b="1" dirty="0"/>
              <a:t>Okvir</a:t>
            </a:r>
          </a:p>
          <a:p>
            <a:endParaRPr lang="hr-HR" dirty="0"/>
          </a:p>
          <a:p>
            <a:r>
              <a:rPr lang="hr-HR" dirty="0"/>
              <a:t>Koja vrsta adrese je upisana u okvir?</a:t>
            </a:r>
          </a:p>
          <a:p>
            <a:pPr marL="0" indent="0">
              <a:buNone/>
            </a:pPr>
            <a:r>
              <a:rPr lang="hr-HR" dirty="0"/>
              <a:t>	</a:t>
            </a:r>
            <a:r>
              <a:rPr lang="hr-HR" b="1" dirty="0"/>
              <a:t>Fizička ili MAC adresa</a:t>
            </a:r>
          </a:p>
          <a:p>
            <a:endParaRPr lang="hr-HR" dirty="0"/>
          </a:p>
          <a:p>
            <a:r>
              <a:rPr lang="hr-HR" dirty="0"/>
              <a:t>Koji način rada sprječava pojavu kolizije?</a:t>
            </a:r>
          </a:p>
          <a:p>
            <a:pPr marL="0" indent="0">
              <a:buNone/>
            </a:pPr>
            <a:r>
              <a:rPr lang="hr-HR" dirty="0"/>
              <a:t>	</a:t>
            </a:r>
            <a:r>
              <a:rPr lang="hr-HR" b="1" dirty="0"/>
              <a:t>Dvosmjerni (full duplex)</a:t>
            </a:r>
          </a:p>
          <a:p>
            <a:endParaRPr lang="hr-HR" dirty="0"/>
          </a:p>
          <a:p>
            <a:endParaRPr lang="hr-HR" dirty="0"/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468313" y="539969"/>
            <a:ext cx="712802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Što do sada znamo o preklopniku?</a:t>
            </a:r>
          </a:p>
        </p:txBody>
      </p:sp>
    </p:spTree>
    <p:extLst>
      <p:ext uri="{BB962C8B-B14F-4D97-AF65-F5344CB8AC3E}">
        <p14:creationId xmlns:p14="http://schemas.microsoft.com/office/powerpoint/2010/main" val="115693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7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7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7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7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47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47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ext Box 2"/>
          <p:cNvSpPr txBox="1">
            <a:spLocks noChangeArrowheads="1"/>
          </p:cNvSpPr>
          <p:nvPr/>
        </p:nvSpPr>
        <p:spPr bwMode="auto">
          <a:xfrm>
            <a:off x="483747" y="1340768"/>
            <a:ext cx="8480741" cy="4693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sz="2400">
                <a:latin typeface="Calibri" pitchFamily="34" charset="0"/>
                <a:cs typeface="Calibri" pitchFamily="34" charset="0"/>
              </a:defRPr>
            </a:lvl1pPr>
            <a:lvl2pPr marL="742950" indent="-285750" eaLnBrk="0" hangingPunct="0">
              <a:defRPr sz="2400">
                <a:latin typeface="Arial" charset="0"/>
              </a:defRPr>
            </a:lvl2pPr>
            <a:lvl3pPr marL="1143000" indent="-228600" eaLnBrk="0" hangingPunct="0">
              <a:defRPr sz="2400">
                <a:latin typeface="Arial" charset="0"/>
              </a:defRPr>
            </a:lvl3pPr>
            <a:lvl4pPr marL="1600200" indent="-228600" eaLnBrk="0" hangingPunct="0">
              <a:defRPr sz="2400">
                <a:latin typeface="Arial" charset="0"/>
              </a:defRPr>
            </a:lvl4pPr>
            <a:lvl5pPr marL="2057400" indent="-228600" eaLnBrk="0" hangingPunct="0">
              <a:defRPr sz="2400"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9pPr>
          </a:lstStyle>
          <a:p>
            <a:r>
              <a:rPr lang="hr-HR" dirty="0"/>
              <a:t>Funkcionira na razini 2.sloja OSI modela</a:t>
            </a:r>
          </a:p>
          <a:p>
            <a:endParaRPr lang="hr-HR" dirty="0"/>
          </a:p>
          <a:p>
            <a:r>
              <a:rPr lang="hr-HR" dirty="0"/>
              <a:t>Dijeli mrežu na kolizijske domene (svaki port preklopnika predstavlja jednu kolizijsku domenu)</a:t>
            </a:r>
          </a:p>
          <a:p>
            <a:endParaRPr lang="hr-HR" dirty="0"/>
          </a:p>
          <a:p>
            <a:r>
              <a:rPr lang="hr-HR" dirty="0"/>
              <a:t>Očitava MAC adrese koje imaju okviri i proslijeđuje ih u smjeru odredišta</a:t>
            </a:r>
          </a:p>
          <a:p>
            <a:endParaRPr lang="hr-HR" dirty="0"/>
          </a:p>
          <a:p>
            <a:r>
              <a:rPr lang="hr-HR" dirty="0"/>
              <a:t>Formira tablicu MAC adresa po kojoj brzo raspoređuje okvire – kreira bazu podataka (uči)</a:t>
            </a:r>
          </a:p>
          <a:p>
            <a:pPr marL="0" indent="0">
              <a:buNone/>
            </a:pPr>
            <a:endParaRPr lang="hr-HR" dirty="0"/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468313" y="544225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Preklopnik</a:t>
            </a:r>
          </a:p>
        </p:txBody>
      </p:sp>
    </p:spTree>
    <p:extLst>
      <p:ext uri="{BB962C8B-B14F-4D97-AF65-F5344CB8AC3E}">
        <p14:creationId xmlns:p14="http://schemas.microsoft.com/office/powerpoint/2010/main" val="3821748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57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57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57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733" name="Group 21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543124444"/>
              </p:ext>
            </p:extLst>
          </p:nvPr>
        </p:nvGraphicFramePr>
        <p:xfrm>
          <a:off x="0" y="930424"/>
          <a:ext cx="91440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7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7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9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hr-H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</a:rPr>
                        <a:t>    Fa0/1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hr-H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</a:rPr>
                        <a:t>     Fa0/2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hr-H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</a:rPr>
                        <a:t>    Fa0/3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hr-H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</a:rPr>
                        <a:t>    Fa0/4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hr-H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</a:rPr>
                        <a:t>    Fa0/5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hr-H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r-H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hr-H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hr-H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r-H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15716" name="Picture 4" descr="Preklopni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1953022"/>
            <a:ext cx="1079500" cy="477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717" name="Picture 5" descr="Kompjut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4185047"/>
            <a:ext cx="930275" cy="93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718" name="Picture 6" descr="Kompjut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3464322"/>
            <a:ext cx="930275" cy="93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719" name="Picture 7" descr="Kompjut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4977209"/>
            <a:ext cx="930275" cy="93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720" name="Picture 8" descr="Kompjut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5193109"/>
            <a:ext cx="930275" cy="93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721" name="Picture 9" descr="Kompjut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5337572"/>
            <a:ext cx="930275" cy="93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722" name="Line 10"/>
          <p:cNvSpPr>
            <a:spLocks noChangeShapeType="1"/>
          </p:cNvSpPr>
          <p:nvPr/>
        </p:nvSpPr>
        <p:spPr bwMode="auto">
          <a:xfrm flipV="1">
            <a:off x="1116013" y="2384822"/>
            <a:ext cx="2808287" cy="22320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15723" name="Line 11"/>
          <p:cNvSpPr>
            <a:spLocks noChangeShapeType="1"/>
          </p:cNvSpPr>
          <p:nvPr/>
        </p:nvSpPr>
        <p:spPr bwMode="auto">
          <a:xfrm flipV="1">
            <a:off x="2700338" y="2384822"/>
            <a:ext cx="1366837" cy="302418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15724" name="Line 12"/>
          <p:cNvSpPr>
            <a:spLocks noChangeShapeType="1"/>
          </p:cNvSpPr>
          <p:nvPr/>
        </p:nvSpPr>
        <p:spPr bwMode="auto">
          <a:xfrm flipH="1" flipV="1">
            <a:off x="4211638" y="2384822"/>
            <a:ext cx="504825" cy="324008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15725" name="Line 13"/>
          <p:cNvSpPr>
            <a:spLocks noChangeShapeType="1"/>
          </p:cNvSpPr>
          <p:nvPr/>
        </p:nvSpPr>
        <p:spPr bwMode="auto">
          <a:xfrm flipH="1" flipV="1">
            <a:off x="4427538" y="2384822"/>
            <a:ext cx="2449512" cy="28797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15726" name="Line 14"/>
          <p:cNvSpPr>
            <a:spLocks noChangeShapeType="1"/>
          </p:cNvSpPr>
          <p:nvPr/>
        </p:nvSpPr>
        <p:spPr bwMode="auto">
          <a:xfrm flipH="1" flipV="1">
            <a:off x="4643438" y="2313384"/>
            <a:ext cx="3168650" cy="15113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pic>
        <p:nvPicPr>
          <p:cNvPr id="115727" name="Picture 15" descr="Kuverta žut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4185047"/>
            <a:ext cx="623888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728" name="Text Box 16"/>
          <p:cNvSpPr txBox="1">
            <a:spLocks noChangeArrowheads="1"/>
          </p:cNvSpPr>
          <p:nvPr/>
        </p:nvSpPr>
        <p:spPr bwMode="auto">
          <a:xfrm>
            <a:off x="0" y="4977209"/>
            <a:ext cx="19065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pPr algn="l"/>
            <a:r>
              <a:rPr lang="hr-HR" sz="1400" dirty="0"/>
              <a:t>AA-AA-AA-AA-AA-AA</a:t>
            </a:r>
          </a:p>
        </p:txBody>
      </p:sp>
      <p:sp>
        <p:nvSpPr>
          <p:cNvPr id="115729" name="Text Box 17"/>
          <p:cNvSpPr txBox="1">
            <a:spLocks noChangeArrowheads="1"/>
          </p:cNvSpPr>
          <p:nvPr/>
        </p:nvSpPr>
        <p:spPr bwMode="auto">
          <a:xfrm>
            <a:off x="1403350" y="6056709"/>
            <a:ext cx="19065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1400" dirty="0"/>
              <a:t>BB-BB-BB-BB-BB-BB</a:t>
            </a:r>
          </a:p>
        </p:txBody>
      </p:sp>
      <p:sp>
        <p:nvSpPr>
          <p:cNvPr id="115730" name="Text Box 18"/>
          <p:cNvSpPr txBox="1">
            <a:spLocks noChangeArrowheads="1"/>
          </p:cNvSpPr>
          <p:nvPr/>
        </p:nvSpPr>
        <p:spPr bwMode="auto">
          <a:xfrm>
            <a:off x="3635375" y="6201172"/>
            <a:ext cx="20208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1400" dirty="0"/>
              <a:t>CC-CC-CC-CC-CC-CC</a:t>
            </a:r>
          </a:p>
        </p:txBody>
      </p:sp>
      <p:sp>
        <p:nvSpPr>
          <p:cNvPr id="115731" name="Text Box 19"/>
          <p:cNvSpPr txBox="1">
            <a:spLocks noChangeArrowheads="1"/>
          </p:cNvSpPr>
          <p:nvPr/>
        </p:nvSpPr>
        <p:spPr bwMode="auto">
          <a:xfrm>
            <a:off x="5795963" y="5840809"/>
            <a:ext cx="20208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1400"/>
              <a:t>DD-DD-DD-DD-DD-DD</a:t>
            </a:r>
          </a:p>
        </p:txBody>
      </p:sp>
      <p:sp>
        <p:nvSpPr>
          <p:cNvPr id="115732" name="Text Box 20"/>
          <p:cNvSpPr txBox="1">
            <a:spLocks noChangeArrowheads="1"/>
          </p:cNvSpPr>
          <p:nvPr/>
        </p:nvSpPr>
        <p:spPr bwMode="auto">
          <a:xfrm>
            <a:off x="7237413" y="4329509"/>
            <a:ext cx="19065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1400"/>
              <a:t>EE-EE-EE-EE-EE-EE</a:t>
            </a:r>
          </a:p>
        </p:txBody>
      </p:sp>
      <p:sp>
        <p:nvSpPr>
          <p:cNvPr id="115755" name="Text Box 43"/>
          <p:cNvSpPr txBox="1">
            <a:spLocks noChangeArrowheads="1"/>
          </p:cNvSpPr>
          <p:nvPr/>
        </p:nvSpPr>
        <p:spPr bwMode="auto">
          <a:xfrm>
            <a:off x="287012" y="275134"/>
            <a:ext cx="446628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Prikaz rada prespojnika</a:t>
            </a:r>
          </a:p>
        </p:txBody>
      </p:sp>
      <p:sp>
        <p:nvSpPr>
          <p:cNvPr id="115756" name="Text Box 44"/>
          <p:cNvSpPr txBox="1">
            <a:spLocks noChangeArrowheads="1"/>
          </p:cNvSpPr>
          <p:nvPr/>
        </p:nvSpPr>
        <p:spPr bwMode="auto">
          <a:xfrm>
            <a:off x="2987675" y="2313384"/>
            <a:ext cx="768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1800"/>
              <a:t>Fa0/1</a:t>
            </a:r>
          </a:p>
        </p:txBody>
      </p:sp>
      <p:sp>
        <p:nvSpPr>
          <p:cNvPr id="115757" name="Text Box 45"/>
          <p:cNvSpPr txBox="1">
            <a:spLocks noChangeArrowheads="1"/>
          </p:cNvSpPr>
          <p:nvPr/>
        </p:nvSpPr>
        <p:spPr bwMode="auto">
          <a:xfrm>
            <a:off x="3492500" y="2600722"/>
            <a:ext cx="768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1800"/>
              <a:t>Fa0/2</a:t>
            </a:r>
          </a:p>
        </p:txBody>
      </p:sp>
      <p:sp>
        <p:nvSpPr>
          <p:cNvPr id="115758" name="Text Box 46"/>
          <p:cNvSpPr txBox="1">
            <a:spLocks noChangeArrowheads="1"/>
          </p:cNvSpPr>
          <p:nvPr/>
        </p:nvSpPr>
        <p:spPr bwMode="auto">
          <a:xfrm>
            <a:off x="3924300" y="2168922"/>
            <a:ext cx="768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1800"/>
              <a:t>Fa0/3</a:t>
            </a:r>
          </a:p>
        </p:txBody>
      </p:sp>
      <p:sp>
        <p:nvSpPr>
          <p:cNvPr id="115759" name="Text Box 47"/>
          <p:cNvSpPr txBox="1">
            <a:spLocks noChangeArrowheads="1"/>
          </p:cNvSpPr>
          <p:nvPr/>
        </p:nvSpPr>
        <p:spPr bwMode="auto">
          <a:xfrm>
            <a:off x="4427538" y="2529284"/>
            <a:ext cx="768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1800"/>
              <a:t>Fa0/4</a:t>
            </a:r>
          </a:p>
        </p:txBody>
      </p:sp>
      <p:sp>
        <p:nvSpPr>
          <p:cNvPr id="115760" name="Text Box 48"/>
          <p:cNvSpPr txBox="1">
            <a:spLocks noChangeArrowheads="1"/>
          </p:cNvSpPr>
          <p:nvPr/>
        </p:nvSpPr>
        <p:spPr bwMode="auto">
          <a:xfrm>
            <a:off x="4787900" y="2095897"/>
            <a:ext cx="768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1800"/>
              <a:t>Fa0/5</a:t>
            </a:r>
          </a:p>
        </p:txBody>
      </p:sp>
      <p:pic>
        <p:nvPicPr>
          <p:cNvPr id="35" name="Picture 15" descr="Kuverta žut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172" y="2164159"/>
            <a:ext cx="623888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5" descr="Kuverta žut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8112" y="2202259"/>
            <a:ext cx="623888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5" descr="Kuverta žut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7309" y="2164159"/>
            <a:ext cx="623888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5" descr="Kuverta žut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400" y="2019696"/>
            <a:ext cx="623888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 Box 16"/>
          <p:cNvSpPr txBox="1">
            <a:spLocks noChangeArrowheads="1"/>
          </p:cNvSpPr>
          <p:nvPr/>
        </p:nvSpPr>
        <p:spPr bwMode="auto">
          <a:xfrm>
            <a:off x="-36512" y="1412776"/>
            <a:ext cx="19065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pPr algn="l"/>
            <a:r>
              <a:rPr lang="hr-HR" sz="1400" dirty="0"/>
              <a:t>AA-AA-AA-AA-AA-AA</a:t>
            </a:r>
          </a:p>
        </p:txBody>
      </p:sp>
      <p:pic>
        <p:nvPicPr>
          <p:cNvPr id="43" name="Picture 15" descr="Kuverta žut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166" y="5548709"/>
            <a:ext cx="623888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 Box 18"/>
          <p:cNvSpPr txBox="1">
            <a:spLocks noChangeArrowheads="1"/>
          </p:cNvSpPr>
          <p:nvPr/>
        </p:nvSpPr>
        <p:spPr bwMode="auto">
          <a:xfrm>
            <a:off x="3561556" y="1412776"/>
            <a:ext cx="20208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1400" dirty="0"/>
              <a:t>CC-CC-CC-CC-CC-CC</a:t>
            </a:r>
          </a:p>
        </p:txBody>
      </p:sp>
    </p:spTree>
    <p:extLst>
      <p:ext uri="{BB962C8B-B14F-4D97-AF65-F5344CB8AC3E}">
        <p14:creationId xmlns:p14="http://schemas.microsoft.com/office/powerpoint/2010/main" val="2938531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83333E-6 -5.49133E-6 L 0.30694 -0.31469 " pathEditMode="relative" ptsTypes="AA">
                                      <p:cBhvr>
                                        <p:cTn id="6" dur="2000" fill="hold"/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157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2.22222E-6 L -0.16771 0.46134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85" y="23056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2.22222E-6 L 0.05278 0.47176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9" y="2358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3.33333E-6 L 0.27674 0.42477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37" y="21227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1.85185E-6 L 0.3658 0.2463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81" y="12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54 -0.00046 L -0.12969 -0.49306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66" y="-246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813 -0.51342 L -0.44549 -0.1679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68" y="172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ChangeArrowheads="1"/>
          </p:cNvSpPr>
          <p:nvPr/>
        </p:nvSpPr>
        <p:spPr bwMode="auto">
          <a:xfrm>
            <a:off x="3708400" y="981987"/>
            <a:ext cx="1727200" cy="288702"/>
          </a:xfrm>
          <a:prstGeom prst="rect">
            <a:avLst/>
          </a:prstGeom>
          <a:solidFill>
            <a:srgbClr val="CC99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15715" name="Rectangle 3"/>
          <p:cNvSpPr>
            <a:spLocks noChangeArrowheads="1"/>
          </p:cNvSpPr>
          <p:nvPr/>
        </p:nvSpPr>
        <p:spPr bwMode="auto">
          <a:xfrm>
            <a:off x="107156" y="979488"/>
            <a:ext cx="1692275" cy="288925"/>
          </a:xfrm>
          <a:prstGeom prst="rect">
            <a:avLst/>
          </a:prstGeom>
          <a:solidFill>
            <a:srgbClr val="CC99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pic>
        <p:nvPicPr>
          <p:cNvPr id="115716" name="Picture 4" descr="Preklopni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1953022"/>
            <a:ext cx="1079500" cy="477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717" name="Picture 5" descr="Kompjut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4185047"/>
            <a:ext cx="930275" cy="93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718" name="Picture 6" descr="Kompjut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3464322"/>
            <a:ext cx="930275" cy="93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719" name="Picture 7" descr="Kompjut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4977209"/>
            <a:ext cx="930275" cy="93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720" name="Picture 8" descr="Kompjut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5193109"/>
            <a:ext cx="930275" cy="93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721" name="Picture 9" descr="Kompjut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5337572"/>
            <a:ext cx="930275" cy="93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722" name="Line 10"/>
          <p:cNvSpPr>
            <a:spLocks noChangeShapeType="1"/>
          </p:cNvSpPr>
          <p:nvPr/>
        </p:nvSpPr>
        <p:spPr bwMode="auto">
          <a:xfrm flipV="1">
            <a:off x="1116013" y="2384822"/>
            <a:ext cx="2808287" cy="22320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15723" name="Line 11"/>
          <p:cNvSpPr>
            <a:spLocks noChangeShapeType="1"/>
          </p:cNvSpPr>
          <p:nvPr/>
        </p:nvSpPr>
        <p:spPr bwMode="auto">
          <a:xfrm flipV="1">
            <a:off x="2700338" y="2384822"/>
            <a:ext cx="1366837" cy="302418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15724" name="Line 12"/>
          <p:cNvSpPr>
            <a:spLocks noChangeShapeType="1"/>
          </p:cNvSpPr>
          <p:nvPr/>
        </p:nvSpPr>
        <p:spPr bwMode="auto">
          <a:xfrm flipH="1" flipV="1">
            <a:off x="4211638" y="2384822"/>
            <a:ext cx="504825" cy="324008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15725" name="Line 13"/>
          <p:cNvSpPr>
            <a:spLocks noChangeShapeType="1"/>
          </p:cNvSpPr>
          <p:nvPr/>
        </p:nvSpPr>
        <p:spPr bwMode="auto">
          <a:xfrm flipH="1" flipV="1">
            <a:off x="4427538" y="2384822"/>
            <a:ext cx="2449512" cy="28797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15726" name="Line 14"/>
          <p:cNvSpPr>
            <a:spLocks noChangeShapeType="1"/>
          </p:cNvSpPr>
          <p:nvPr/>
        </p:nvSpPr>
        <p:spPr bwMode="auto">
          <a:xfrm flipH="1" flipV="1">
            <a:off x="4643438" y="2313384"/>
            <a:ext cx="3168650" cy="15113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pic>
        <p:nvPicPr>
          <p:cNvPr id="115727" name="Picture 15" descr="Kuverta žut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4185047"/>
            <a:ext cx="623888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728" name="Text Box 16"/>
          <p:cNvSpPr txBox="1">
            <a:spLocks noChangeArrowheads="1"/>
          </p:cNvSpPr>
          <p:nvPr/>
        </p:nvSpPr>
        <p:spPr bwMode="auto">
          <a:xfrm>
            <a:off x="0" y="4977209"/>
            <a:ext cx="19065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pPr algn="l"/>
            <a:r>
              <a:rPr lang="hr-HR" sz="1400"/>
              <a:t>AA-AA-AA-AA-AA-AA</a:t>
            </a:r>
          </a:p>
        </p:txBody>
      </p:sp>
      <p:sp>
        <p:nvSpPr>
          <p:cNvPr id="115729" name="Text Box 17"/>
          <p:cNvSpPr txBox="1">
            <a:spLocks noChangeArrowheads="1"/>
          </p:cNvSpPr>
          <p:nvPr/>
        </p:nvSpPr>
        <p:spPr bwMode="auto">
          <a:xfrm>
            <a:off x="1403350" y="6056709"/>
            <a:ext cx="19065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1400" dirty="0"/>
              <a:t>BB-BB-BB-BB-BB-BB</a:t>
            </a:r>
          </a:p>
        </p:txBody>
      </p:sp>
      <p:sp>
        <p:nvSpPr>
          <p:cNvPr id="115730" name="Text Box 18"/>
          <p:cNvSpPr txBox="1">
            <a:spLocks noChangeArrowheads="1"/>
          </p:cNvSpPr>
          <p:nvPr/>
        </p:nvSpPr>
        <p:spPr bwMode="auto">
          <a:xfrm>
            <a:off x="3635375" y="6201172"/>
            <a:ext cx="20208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1400"/>
              <a:t>CC-CC-CC-CC-CC-CC</a:t>
            </a:r>
          </a:p>
        </p:txBody>
      </p:sp>
      <p:sp>
        <p:nvSpPr>
          <p:cNvPr id="115731" name="Text Box 19"/>
          <p:cNvSpPr txBox="1">
            <a:spLocks noChangeArrowheads="1"/>
          </p:cNvSpPr>
          <p:nvPr/>
        </p:nvSpPr>
        <p:spPr bwMode="auto">
          <a:xfrm>
            <a:off x="5795963" y="5840809"/>
            <a:ext cx="20208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1400"/>
              <a:t>DD-DD-DD-DD-DD-DD</a:t>
            </a:r>
          </a:p>
        </p:txBody>
      </p:sp>
      <p:sp>
        <p:nvSpPr>
          <p:cNvPr id="115732" name="Text Box 20"/>
          <p:cNvSpPr txBox="1">
            <a:spLocks noChangeArrowheads="1"/>
          </p:cNvSpPr>
          <p:nvPr/>
        </p:nvSpPr>
        <p:spPr bwMode="auto">
          <a:xfrm>
            <a:off x="7237413" y="4329509"/>
            <a:ext cx="19065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1400"/>
              <a:t>EE-EE-EE-EE-EE-EE</a:t>
            </a:r>
          </a:p>
        </p:txBody>
      </p:sp>
      <p:sp>
        <p:nvSpPr>
          <p:cNvPr id="115753" name="Text Box 41"/>
          <p:cNvSpPr txBox="1">
            <a:spLocks noChangeArrowheads="1"/>
          </p:cNvSpPr>
          <p:nvPr/>
        </p:nvSpPr>
        <p:spPr bwMode="auto">
          <a:xfrm>
            <a:off x="0" y="3753247"/>
            <a:ext cx="1200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2000"/>
              <a:t>Ishodište</a:t>
            </a:r>
          </a:p>
        </p:txBody>
      </p:sp>
      <p:sp>
        <p:nvSpPr>
          <p:cNvPr id="115754" name="Text Box 42"/>
          <p:cNvSpPr txBox="1">
            <a:spLocks noChangeArrowheads="1"/>
          </p:cNvSpPr>
          <p:nvPr/>
        </p:nvSpPr>
        <p:spPr bwMode="auto">
          <a:xfrm>
            <a:off x="4140200" y="6488509"/>
            <a:ext cx="1284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2000"/>
              <a:t>Odredište</a:t>
            </a:r>
          </a:p>
        </p:txBody>
      </p:sp>
      <p:sp>
        <p:nvSpPr>
          <p:cNvPr id="115755" name="Text Box 43"/>
          <p:cNvSpPr txBox="1">
            <a:spLocks noChangeArrowheads="1"/>
          </p:cNvSpPr>
          <p:nvPr/>
        </p:nvSpPr>
        <p:spPr bwMode="auto">
          <a:xfrm>
            <a:off x="287012" y="275134"/>
            <a:ext cx="446628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Prikaz rada prespojnika</a:t>
            </a:r>
          </a:p>
        </p:txBody>
      </p:sp>
      <p:sp>
        <p:nvSpPr>
          <p:cNvPr id="115756" name="Text Box 44"/>
          <p:cNvSpPr txBox="1">
            <a:spLocks noChangeArrowheads="1"/>
          </p:cNvSpPr>
          <p:nvPr/>
        </p:nvSpPr>
        <p:spPr bwMode="auto">
          <a:xfrm>
            <a:off x="2987675" y="2313384"/>
            <a:ext cx="768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1800"/>
              <a:t>Fa0/1</a:t>
            </a:r>
          </a:p>
        </p:txBody>
      </p:sp>
      <p:sp>
        <p:nvSpPr>
          <p:cNvPr id="115757" name="Text Box 45"/>
          <p:cNvSpPr txBox="1">
            <a:spLocks noChangeArrowheads="1"/>
          </p:cNvSpPr>
          <p:nvPr/>
        </p:nvSpPr>
        <p:spPr bwMode="auto">
          <a:xfrm>
            <a:off x="3492500" y="2600722"/>
            <a:ext cx="768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1800"/>
              <a:t>Fa0/2</a:t>
            </a:r>
          </a:p>
        </p:txBody>
      </p:sp>
      <p:sp>
        <p:nvSpPr>
          <p:cNvPr id="115758" name="Text Box 46"/>
          <p:cNvSpPr txBox="1">
            <a:spLocks noChangeArrowheads="1"/>
          </p:cNvSpPr>
          <p:nvPr/>
        </p:nvSpPr>
        <p:spPr bwMode="auto">
          <a:xfrm>
            <a:off x="3924300" y="2168922"/>
            <a:ext cx="768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1800"/>
              <a:t>Fa0/3</a:t>
            </a:r>
          </a:p>
        </p:txBody>
      </p:sp>
      <p:sp>
        <p:nvSpPr>
          <p:cNvPr id="115759" name="Text Box 47"/>
          <p:cNvSpPr txBox="1">
            <a:spLocks noChangeArrowheads="1"/>
          </p:cNvSpPr>
          <p:nvPr/>
        </p:nvSpPr>
        <p:spPr bwMode="auto">
          <a:xfrm>
            <a:off x="4427538" y="2529284"/>
            <a:ext cx="768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1800"/>
              <a:t>Fa0/4</a:t>
            </a:r>
          </a:p>
        </p:txBody>
      </p:sp>
      <p:sp>
        <p:nvSpPr>
          <p:cNvPr id="115760" name="Text Box 48"/>
          <p:cNvSpPr txBox="1">
            <a:spLocks noChangeArrowheads="1"/>
          </p:cNvSpPr>
          <p:nvPr/>
        </p:nvSpPr>
        <p:spPr bwMode="auto">
          <a:xfrm>
            <a:off x="4787900" y="2095897"/>
            <a:ext cx="768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1800"/>
              <a:t>Fa0/5</a:t>
            </a:r>
          </a:p>
        </p:txBody>
      </p:sp>
      <p:graphicFrame>
        <p:nvGraphicFramePr>
          <p:cNvPr id="115733" name="Group 21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3009559408"/>
              </p:ext>
            </p:extLst>
          </p:nvPr>
        </p:nvGraphicFramePr>
        <p:xfrm>
          <a:off x="0" y="930424"/>
          <a:ext cx="91440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7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7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9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hr-H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</a:rPr>
                        <a:t>    Fa0/1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hr-H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</a:rPr>
                        <a:t>     Fa0/2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hr-H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</a:rPr>
                        <a:t>    Fa0/3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hr-H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</a:rPr>
                        <a:t>    Fa0/4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hr-H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</a:rPr>
                        <a:t>    Fa0/5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hr-H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AA-AA-AA-AA-AA-AA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r-H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BB-BB-BB-BB-BB-BB</a:t>
                      </a:r>
                      <a:endParaRPr kumimoji="0" lang="hr-H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hr-H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CC-CC-CC-CC-CC-CC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hr-H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DD-DD-DD-DD-DD-DD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r-H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EE-EE-EE-EE-EE-EE</a:t>
                      </a:r>
                      <a:endParaRPr kumimoji="0" lang="hr-H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084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83333E-6 -5.49133E-6 L 0.30694 -0.31469 " pathEditMode="relative" ptsTypes="AA">
                                      <p:cBhvr>
                                        <p:cTn id="6" dur="2000" fill="hold"/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694 -0.31468 L 0.36215 0.16763 " pathEditMode="relative" ptsTypes="AA">
                                      <p:cBhvr>
                                        <p:cTn id="15" dur="2000" fill="hold"/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4" grpId="0" animBg="1"/>
      <p:bldP spid="1157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62" name="Picture 2" descr="Kompju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3" y="3860800"/>
            <a:ext cx="728662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17763" name="Picture 3" descr="Preklopnik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2852738"/>
            <a:ext cx="9064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764" name="Picture 4" descr="Preklopnik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3068638"/>
            <a:ext cx="906462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765" name="Picture 5" descr="Koncentrato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2349500"/>
            <a:ext cx="492125" cy="58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766" name="Line 6"/>
          <p:cNvSpPr>
            <a:spLocks noChangeShapeType="1"/>
          </p:cNvSpPr>
          <p:nvPr/>
        </p:nvSpPr>
        <p:spPr bwMode="auto">
          <a:xfrm>
            <a:off x="1908175" y="2636838"/>
            <a:ext cx="230346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17767" name="Line 7"/>
          <p:cNvSpPr>
            <a:spLocks noChangeShapeType="1"/>
          </p:cNvSpPr>
          <p:nvPr/>
        </p:nvSpPr>
        <p:spPr bwMode="auto">
          <a:xfrm flipV="1">
            <a:off x="900113" y="2924175"/>
            <a:ext cx="647700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17768" name="Line 8"/>
          <p:cNvSpPr>
            <a:spLocks noChangeShapeType="1"/>
          </p:cNvSpPr>
          <p:nvPr/>
        </p:nvSpPr>
        <p:spPr bwMode="auto">
          <a:xfrm flipV="1">
            <a:off x="1116013" y="2924175"/>
            <a:ext cx="576262" cy="1512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17769" name="Line 9"/>
          <p:cNvSpPr>
            <a:spLocks noChangeShapeType="1"/>
          </p:cNvSpPr>
          <p:nvPr/>
        </p:nvSpPr>
        <p:spPr bwMode="auto">
          <a:xfrm>
            <a:off x="4932363" y="3068638"/>
            <a:ext cx="2232025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pic>
        <p:nvPicPr>
          <p:cNvPr id="117770" name="Picture 10" descr="Kompju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4221163"/>
            <a:ext cx="728662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771" name="Picture 11" descr="Kompju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620713"/>
            <a:ext cx="728662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772" name="Picture 12" descr="Kompju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141663"/>
            <a:ext cx="728662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773" name="Picture 13" descr="Kompju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4221163"/>
            <a:ext cx="728662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774" name="Picture 14" descr="Kompju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1412875"/>
            <a:ext cx="728662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775" name="Picture 15" descr="Kompju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92150"/>
            <a:ext cx="728663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776" name="Picture 16" descr="Kompju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1268413"/>
            <a:ext cx="728662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777" name="Picture 17" descr="Kompju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5338" y="4076700"/>
            <a:ext cx="728662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778" name="Picture 18" descr="Kompju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5300663"/>
            <a:ext cx="728663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779" name="Picture 19" descr="Kompju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5300663"/>
            <a:ext cx="728663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17780" name="Line 20"/>
          <p:cNvSpPr>
            <a:spLocks noChangeShapeType="1"/>
          </p:cNvSpPr>
          <p:nvPr/>
        </p:nvSpPr>
        <p:spPr bwMode="auto">
          <a:xfrm flipH="1" flipV="1">
            <a:off x="1835150" y="2852738"/>
            <a:ext cx="792163" cy="151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17781" name="Line 21"/>
          <p:cNvSpPr>
            <a:spLocks noChangeShapeType="1"/>
          </p:cNvSpPr>
          <p:nvPr/>
        </p:nvSpPr>
        <p:spPr bwMode="auto">
          <a:xfrm flipV="1">
            <a:off x="4932363" y="1844675"/>
            <a:ext cx="1873250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17782" name="Line 22"/>
          <p:cNvSpPr>
            <a:spLocks noChangeShapeType="1"/>
          </p:cNvSpPr>
          <p:nvPr/>
        </p:nvSpPr>
        <p:spPr bwMode="auto">
          <a:xfrm flipV="1">
            <a:off x="4716463" y="1196975"/>
            <a:ext cx="1223962" cy="1655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17783" name="Line 23"/>
          <p:cNvSpPr>
            <a:spLocks noChangeShapeType="1"/>
          </p:cNvSpPr>
          <p:nvPr/>
        </p:nvSpPr>
        <p:spPr bwMode="auto">
          <a:xfrm flipV="1">
            <a:off x="4500563" y="1196975"/>
            <a:ext cx="215900" cy="1655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17784" name="Line 24"/>
          <p:cNvSpPr>
            <a:spLocks noChangeShapeType="1"/>
          </p:cNvSpPr>
          <p:nvPr/>
        </p:nvSpPr>
        <p:spPr bwMode="auto">
          <a:xfrm>
            <a:off x="3348038" y="1844675"/>
            <a:ext cx="936625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17785" name="Line 25"/>
          <p:cNvSpPr>
            <a:spLocks noChangeShapeType="1"/>
          </p:cNvSpPr>
          <p:nvPr/>
        </p:nvSpPr>
        <p:spPr bwMode="auto">
          <a:xfrm flipV="1">
            <a:off x="6227763" y="3429000"/>
            <a:ext cx="1008062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17786" name="Line 26"/>
          <p:cNvSpPr>
            <a:spLocks noChangeShapeType="1"/>
          </p:cNvSpPr>
          <p:nvPr/>
        </p:nvSpPr>
        <p:spPr bwMode="auto">
          <a:xfrm flipH="1">
            <a:off x="6659563" y="3500438"/>
            <a:ext cx="792162" cy="1944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17787" name="Line 27"/>
          <p:cNvSpPr>
            <a:spLocks noChangeShapeType="1"/>
          </p:cNvSpPr>
          <p:nvPr/>
        </p:nvSpPr>
        <p:spPr bwMode="auto">
          <a:xfrm>
            <a:off x="7667625" y="3500438"/>
            <a:ext cx="504825" cy="1944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17788" name="Line 28"/>
          <p:cNvSpPr>
            <a:spLocks noChangeShapeType="1"/>
          </p:cNvSpPr>
          <p:nvPr/>
        </p:nvSpPr>
        <p:spPr bwMode="auto">
          <a:xfrm>
            <a:off x="7885113" y="3357563"/>
            <a:ext cx="935037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17789" name="Text Box 29"/>
          <p:cNvSpPr txBox="1">
            <a:spLocks noChangeArrowheads="1"/>
          </p:cNvSpPr>
          <p:nvPr/>
        </p:nvSpPr>
        <p:spPr bwMode="auto">
          <a:xfrm>
            <a:off x="5508625" y="4292600"/>
            <a:ext cx="5032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spcBef>
                <a:spcPct val="50000"/>
              </a:spcBef>
            </a:pPr>
            <a:r>
              <a:rPr lang="hr-HR" sz="2000" b="1">
                <a:solidFill>
                  <a:srgbClr val="FF3300"/>
                </a:solidFill>
              </a:rPr>
              <a:t>I1</a:t>
            </a:r>
          </a:p>
        </p:txBody>
      </p:sp>
      <p:sp>
        <p:nvSpPr>
          <p:cNvPr id="117790" name="Text Box 30"/>
          <p:cNvSpPr txBox="1">
            <a:spLocks noChangeArrowheads="1"/>
          </p:cNvSpPr>
          <p:nvPr/>
        </p:nvSpPr>
        <p:spPr bwMode="auto">
          <a:xfrm>
            <a:off x="6011863" y="5734050"/>
            <a:ext cx="5222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2000" b="1">
                <a:solidFill>
                  <a:srgbClr val="FF3300"/>
                </a:solidFill>
              </a:rPr>
              <a:t>O1</a:t>
            </a:r>
          </a:p>
        </p:txBody>
      </p:sp>
      <p:pic>
        <p:nvPicPr>
          <p:cNvPr id="117791" name="Picture 31" descr="Kuverta žut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3860800"/>
            <a:ext cx="695325" cy="40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792" name="Text Box 32"/>
          <p:cNvSpPr txBox="1">
            <a:spLocks noChangeArrowheads="1"/>
          </p:cNvSpPr>
          <p:nvPr/>
        </p:nvSpPr>
        <p:spPr bwMode="auto">
          <a:xfrm>
            <a:off x="7688263" y="5799138"/>
            <a:ext cx="3952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2000" b="1">
                <a:solidFill>
                  <a:srgbClr val="FF3300"/>
                </a:solidFill>
              </a:rPr>
              <a:t>I2</a:t>
            </a:r>
          </a:p>
        </p:txBody>
      </p:sp>
      <p:sp>
        <p:nvSpPr>
          <p:cNvPr id="117793" name="Text Box 33"/>
          <p:cNvSpPr txBox="1">
            <a:spLocks noChangeArrowheads="1"/>
          </p:cNvSpPr>
          <p:nvPr/>
        </p:nvSpPr>
        <p:spPr bwMode="auto">
          <a:xfrm>
            <a:off x="6040438" y="542925"/>
            <a:ext cx="5222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2000" b="1">
                <a:solidFill>
                  <a:srgbClr val="FF3300"/>
                </a:solidFill>
              </a:rPr>
              <a:t>O2</a:t>
            </a:r>
          </a:p>
        </p:txBody>
      </p:sp>
      <p:pic>
        <p:nvPicPr>
          <p:cNvPr id="117794" name="Picture 34" descr="Kuverta smeđ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1013" y="5300663"/>
            <a:ext cx="720725" cy="423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795" name="Text Box 35"/>
          <p:cNvSpPr txBox="1">
            <a:spLocks noChangeArrowheads="1"/>
          </p:cNvSpPr>
          <p:nvPr/>
        </p:nvSpPr>
        <p:spPr bwMode="auto">
          <a:xfrm>
            <a:off x="7308850" y="1484313"/>
            <a:ext cx="395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2000" b="1" dirty="0">
                <a:solidFill>
                  <a:srgbClr val="FF3300"/>
                </a:solidFill>
              </a:rPr>
              <a:t>I3</a:t>
            </a:r>
          </a:p>
        </p:txBody>
      </p:sp>
      <p:grpSp>
        <p:nvGrpSpPr>
          <p:cNvPr id="117796" name="Group 36"/>
          <p:cNvGrpSpPr>
            <a:grpSpLocks noChangeAspect="1"/>
          </p:cNvGrpSpPr>
          <p:nvPr/>
        </p:nvGrpSpPr>
        <p:grpSpPr bwMode="auto">
          <a:xfrm>
            <a:off x="6659563" y="1700213"/>
            <a:ext cx="720725" cy="422275"/>
            <a:chOff x="1882" y="3113"/>
            <a:chExt cx="454" cy="266"/>
          </a:xfrm>
        </p:grpSpPr>
        <p:sp>
          <p:nvSpPr>
            <p:cNvPr id="117797" name="AutoShape 37"/>
            <p:cNvSpPr>
              <a:spLocks noChangeAspect="1" noChangeArrowheads="1" noTextEdit="1"/>
            </p:cNvSpPr>
            <p:nvPr/>
          </p:nvSpPr>
          <p:spPr bwMode="auto">
            <a:xfrm>
              <a:off x="1882" y="3113"/>
              <a:ext cx="454" cy="266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7798" name="Group 38"/>
            <p:cNvGrpSpPr>
              <a:grpSpLocks/>
            </p:cNvGrpSpPr>
            <p:nvPr/>
          </p:nvGrpSpPr>
          <p:grpSpPr bwMode="auto">
            <a:xfrm>
              <a:off x="1883" y="3114"/>
              <a:ext cx="447" cy="259"/>
              <a:chOff x="1883" y="3114"/>
              <a:chExt cx="447" cy="259"/>
            </a:xfrm>
          </p:grpSpPr>
          <p:sp>
            <p:nvSpPr>
              <p:cNvPr id="117799" name="Rectangle 39"/>
              <p:cNvSpPr>
                <a:spLocks noChangeArrowheads="1"/>
              </p:cNvSpPr>
              <p:nvPr/>
            </p:nvSpPr>
            <p:spPr bwMode="auto">
              <a:xfrm>
                <a:off x="1883" y="3114"/>
                <a:ext cx="447" cy="259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800" name="Rectangle 40"/>
              <p:cNvSpPr>
                <a:spLocks noChangeArrowheads="1"/>
              </p:cNvSpPr>
              <p:nvPr/>
            </p:nvSpPr>
            <p:spPr bwMode="auto">
              <a:xfrm>
                <a:off x="1883" y="3114"/>
                <a:ext cx="447" cy="259"/>
              </a:xfrm>
              <a:prstGeom prst="rect">
                <a:avLst/>
              </a:prstGeom>
              <a:solidFill>
                <a:srgbClr val="008000"/>
              </a:solidFill>
              <a:ln w="4763" cap="rnd">
                <a:solidFill>
                  <a:srgbClr val="0033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7801" name="Line 41"/>
            <p:cNvSpPr>
              <a:spLocks noChangeShapeType="1"/>
            </p:cNvSpPr>
            <p:nvPr/>
          </p:nvSpPr>
          <p:spPr bwMode="auto">
            <a:xfrm>
              <a:off x="1883" y="3114"/>
              <a:ext cx="117" cy="94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02" name="Line 42"/>
            <p:cNvSpPr>
              <a:spLocks noChangeShapeType="1"/>
            </p:cNvSpPr>
            <p:nvPr/>
          </p:nvSpPr>
          <p:spPr bwMode="auto">
            <a:xfrm>
              <a:off x="2000" y="3208"/>
              <a:ext cx="213" cy="0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03" name="Line 43"/>
            <p:cNvSpPr>
              <a:spLocks noChangeShapeType="1"/>
            </p:cNvSpPr>
            <p:nvPr/>
          </p:nvSpPr>
          <p:spPr bwMode="auto">
            <a:xfrm flipV="1">
              <a:off x="2213" y="3114"/>
              <a:ext cx="117" cy="94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04" name="Line 44"/>
            <p:cNvSpPr>
              <a:spLocks noChangeShapeType="1"/>
            </p:cNvSpPr>
            <p:nvPr/>
          </p:nvSpPr>
          <p:spPr bwMode="auto">
            <a:xfrm flipH="1">
              <a:off x="1883" y="3185"/>
              <a:ext cx="94" cy="165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05" name="Line 45"/>
            <p:cNvSpPr>
              <a:spLocks noChangeShapeType="1"/>
            </p:cNvSpPr>
            <p:nvPr/>
          </p:nvSpPr>
          <p:spPr bwMode="auto">
            <a:xfrm>
              <a:off x="2236" y="3185"/>
              <a:ext cx="94" cy="188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7806" name="Group 46"/>
            <p:cNvGrpSpPr>
              <a:grpSpLocks/>
            </p:cNvGrpSpPr>
            <p:nvPr/>
          </p:nvGrpSpPr>
          <p:grpSpPr bwMode="auto">
            <a:xfrm>
              <a:off x="1883" y="3114"/>
              <a:ext cx="447" cy="259"/>
              <a:chOff x="1883" y="3114"/>
              <a:chExt cx="447" cy="259"/>
            </a:xfrm>
          </p:grpSpPr>
          <p:sp>
            <p:nvSpPr>
              <p:cNvPr id="117807" name="Rectangle 47"/>
              <p:cNvSpPr>
                <a:spLocks noChangeArrowheads="1"/>
              </p:cNvSpPr>
              <p:nvPr/>
            </p:nvSpPr>
            <p:spPr bwMode="auto">
              <a:xfrm>
                <a:off x="1883" y="3114"/>
                <a:ext cx="447" cy="259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808" name="Rectangle 48"/>
              <p:cNvSpPr>
                <a:spLocks noChangeArrowheads="1"/>
              </p:cNvSpPr>
              <p:nvPr/>
            </p:nvSpPr>
            <p:spPr bwMode="auto">
              <a:xfrm>
                <a:off x="1883" y="3114"/>
                <a:ext cx="447" cy="259"/>
              </a:xfrm>
              <a:prstGeom prst="rect">
                <a:avLst/>
              </a:prstGeom>
              <a:solidFill>
                <a:srgbClr val="008000"/>
              </a:solidFill>
              <a:ln w="4763" cap="rnd">
                <a:solidFill>
                  <a:srgbClr val="0033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7809" name="Line 49"/>
            <p:cNvSpPr>
              <a:spLocks noChangeShapeType="1"/>
            </p:cNvSpPr>
            <p:nvPr/>
          </p:nvSpPr>
          <p:spPr bwMode="auto">
            <a:xfrm>
              <a:off x="1883" y="3114"/>
              <a:ext cx="117" cy="94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10" name="Line 50"/>
            <p:cNvSpPr>
              <a:spLocks noChangeShapeType="1"/>
            </p:cNvSpPr>
            <p:nvPr/>
          </p:nvSpPr>
          <p:spPr bwMode="auto">
            <a:xfrm>
              <a:off x="2000" y="3208"/>
              <a:ext cx="213" cy="0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11" name="Line 51"/>
            <p:cNvSpPr>
              <a:spLocks noChangeShapeType="1"/>
            </p:cNvSpPr>
            <p:nvPr/>
          </p:nvSpPr>
          <p:spPr bwMode="auto">
            <a:xfrm flipV="1">
              <a:off x="2213" y="3114"/>
              <a:ext cx="117" cy="94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12" name="Line 52"/>
            <p:cNvSpPr>
              <a:spLocks noChangeShapeType="1"/>
            </p:cNvSpPr>
            <p:nvPr/>
          </p:nvSpPr>
          <p:spPr bwMode="auto">
            <a:xfrm flipH="1">
              <a:off x="1883" y="3185"/>
              <a:ext cx="94" cy="165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13" name="Line 53"/>
            <p:cNvSpPr>
              <a:spLocks noChangeShapeType="1"/>
            </p:cNvSpPr>
            <p:nvPr/>
          </p:nvSpPr>
          <p:spPr bwMode="auto">
            <a:xfrm>
              <a:off x="2236" y="3185"/>
              <a:ext cx="94" cy="188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7814" name="Group 54"/>
          <p:cNvGrpSpPr>
            <a:grpSpLocks noChangeAspect="1"/>
          </p:cNvGrpSpPr>
          <p:nvPr/>
        </p:nvGrpSpPr>
        <p:grpSpPr bwMode="auto">
          <a:xfrm>
            <a:off x="1692275" y="2852738"/>
            <a:ext cx="719138" cy="422275"/>
            <a:chOff x="2200" y="3113"/>
            <a:chExt cx="453" cy="266"/>
          </a:xfrm>
        </p:grpSpPr>
        <p:sp>
          <p:nvSpPr>
            <p:cNvPr id="117815" name="AutoShape 55"/>
            <p:cNvSpPr>
              <a:spLocks noChangeAspect="1" noChangeArrowheads="1" noTextEdit="1"/>
            </p:cNvSpPr>
            <p:nvPr/>
          </p:nvSpPr>
          <p:spPr bwMode="auto">
            <a:xfrm>
              <a:off x="2200" y="3113"/>
              <a:ext cx="453" cy="266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7816" name="Group 56"/>
            <p:cNvGrpSpPr>
              <a:grpSpLocks/>
            </p:cNvGrpSpPr>
            <p:nvPr/>
          </p:nvGrpSpPr>
          <p:grpSpPr bwMode="auto">
            <a:xfrm>
              <a:off x="2201" y="3114"/>
              <a:ext cx="446" cy="259"/>
              <a:chOff x="2201" y="3114"/>
              <a:chExt cx="446" cy="259"/>
            </a:xfrm>
          </p:grpSpPr>
          <p:sp>
            <p:nvSpPr>
              <p:cNvPr id="117817" name="Rectangle 57"/>
              <p:cNvSpPr>
                <a:spLocks noChangeArrowheads="1"/>
              </p:cNvSpPr>
              <p:nvPr/>
            </p:nvSpPr>
            <p:spPr bwMode="auto">
              <a:xfrm>
                <a:off x="2201" y="3114"/>
                <a:ext cx="446" cy="259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818" name="Rectangle 58"/>
              <p:cNvSpPr>
                <a:spLocks noChangeArrowheads="1"/>
              </p:cNvSpPr>
              <p:nvPr/>
            </p:nvSpPr>
            <p:spPr bwMode="auto">
              <a:xfrm>
                <a:off x="2201" y="3114"/>
                <a:ext cx="446" cy="259"/>
              </a:xfrm>
              <a:prstGeom prst="rect">
                <a:avLst/>
              </a:prstGeom>
              <a:solidFill>
                <a:srgbClr val="008000"/>
              </a:solidFill>
              <a:ln w="4763" cap="rnd">
                <a:solidFill>
                  <a:srgbClr val="0033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7819" name="Line 59"/>
            <p:cNvSpPr>
              <a:spLocks noChangeShapeType="1"/>
            </p:cNvSpPr>
            <p:nvPr/>
          </p:nvSpPr>
          <p:spPr bwMode="auto">
            <a:xfrm>
              <a:off x="2201" y="3114"/>
              <a:ext cx="117" cy="94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20" name="Line 60"/>
            <p:cNvSpPr>
              <a:spLocks noChangeShapeType="1"/>
            </p:cNvSpPr>
            <p:nvPr/>
          </p:nvSpPr>
          <p:spPr bwMode="auto">
            <a:xfrm>
              <a:off x="2318" y="3208"/>
              <a:ext cx="212" cy="0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21" name="Line 61"/>
            <p:cNvSpPr>
              <a:spLocks noChangeShapeType="1"/>
            </p:cNvSpPr>
            <p:nvPr/>
          </p:nvSpPr>
          <p:spPr bwMode="auto">
            <a:xfrm flipV="1">
              <a:off x="2530" y="3114"/>
              <a:ext cx="117" cy="94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22" name="Line 62"/>
            <p:cNvSpPr>
              <a:spLocks noChangeShapeType="1"/>
            </p:cNvSpPr>
            <p:nvPr/>
          </p:nvSpPr>
          <p:spPr bwMode="auto">
            <a:xfrm flipH="1">
              <a:off x="2201" y="3185"/>
              <a:ext cx="94" cy="165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23" name="Line 63"/>
            <p:cNvSpPr>
              <a:spLocks noChangeShapeType="1"/>
            </p:cNvSpPr>
            <p:nvPr/>
          </p:nvSpPr>
          <p:spPr bwMode="auto">
            <a:xfrm>
              <a:off x="2553" y="3185"/>
              <a:ext cx="94" cy="188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7824" name="Group 64"/>
            <p:cNvGrpSpPr>
              <a:grpSpLocks/>
            </p:cNvGrpSpPr>
            <p:nvPr/>
          </p:nvGrpSpPr>
          <p:grpSpPr bwMode="auto">
            <a:xfrm>
              <a:off x="2201" y="3114"/>
              <a:ext cx="446" cy="259"/>
              <a:chOff x="2201" y="3114"/>
              <a:chExt cx="446" cy="259"/>
            </a:xfrm>
          </p:grpSpPr>
          <p:sp>
            <p:nvSpPr>
              <p:cNvPr id="117825" name="Rectangle 65"/>
              <p:cNvSpPr>
                <a:spLocks noChangeArrowheads="1"/>
              </p:cNvSpPr>
              <p:nvPr/>
            </p:nvSpPr>
            <p:spPr bwMode="auto">
              <a:xfrm>
                <a:off x="2201" y="3114"/>
                <a:ext cx="446" cy="259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826" name="Rectangle 66"/>
              <p:cNvSpPr>
                <a:spLocks noChangeArrowheads="1"/>
              </p:cNvSpPr>
              <p:nvPr/>
            </p:nvSpPr>
            <p:spPr bwMode="auto">
              <a:xfrm>
                <a:off x="2201" y="3114"/>
                <a:ext cx="446" cy="259"/>
              </a:xfrm>
              <a:prstGeom prst="rect">
                <a:avLst/>
              </a:prstGeom>
              <a:solidFill>
                <a:srgbClr val="008000"/>
              </a:solidFill>
              <a:ln w="4763" cap="rnd">
                <a:solidFill>
                  <a:srgbClr val="0033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7827" name="Line 67"/>
            <p:cNvSpPr>
              <a:spLocks noChangeShapeType="1"/>
            </p:cNvSpPr>
            <p:nvPr/>
          </p:nvSpPr>
          <p:spPr bwMode="auto">
            <a:xfrm>
              <a:off x="2201" y="3114"/>
              <a:ext cx="117" cy="94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28" name="Line 68"/>
            <p:cNvSpPr>
              <a:spLocks noChangeShapeType="1"/>
            </p:cNvSpPr>
            <p:nvPr/>
          </p:nvSpPr>
          <p:spPr bwMode="auto">
            <a:xfrm>
              <a:off x="2318" y="3208"/>
              <a:ext cx="212" cy="0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29" name="Line 69"/>
            <p:cNvSpPr>
              <a:spLocks noChangeShapeType="1"/>
            </p:cNvSpPr>
            <p:nvPr/>
          </p:nvSpPr>
          <p:spPr bwMode="auto">
            <a:xfrm flipV="1">
              <a:off x="2530" y="3114"/>
              <a:ext cx="117" cy="94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30" name="Line 70"/>
            <p:cNvSpPr>
              <a:spLocks noChangeShapeType="1"/>
            </p:cNvSpPr>
            <p:nvPr/>
          </p:nvSpPr>
          <p:spPr bwMode="auto">
            <a:xfrm flipH="1">
              <a:off x="2201" y="3185"/>
              <a:ext cx="94" cy="165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31" name="Line 71"/>
            <p:cNvSpPr>
              <a:spLocks noChangeShapeType="1"/>
            </p:cNvSpPr>
            <p:nvPr/>
          </p:nvSpPr>
          <p:spPr bwMode="auto">
            <a:xfrm>
              <a:off x="2553" y="3185"/>
              <a:ext cx="94" cy="188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7832" name="Group 72"/>
          <p:cNvGrpSpPr>
            <a:grpSpLocks noChangeAspect="1"/>
          </p:cNvGrpSpPr>
          <p:nvPr/>
        </p:nvGrpSpPr>
        <p:grpSpPr bwMode="auto">
          <a:xfrm>
            <a:off x="1258888" y="2708275"/>
            <a:ext cx="719137" cy="422275"/>
            <a:chOff x="2200" y="3113"/>
            <a:chExt cx="453" cy="266"/>
          </a:xfrm>
        </p:grpSpPr>
        <p:sp>
          <p:nvSpPr>
            <p:cNvPr id="117833" name="AutoShape 73"/>
            <p:cNvSpPr>
              <a:spLocks noChangeAspect="1" noChangeArrowheads="1" noTextEdit="1"/>
            </p:cNvSpPr>
            <p:nvPr/>
          </p:nvSpPr>
          <p:spPr bwMode="auto">
            <a:xfrm>
              <a:off x="2200" y="3113"/>
              <a:ext cx="453" cy="266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7834" name="Group 74"/>
            <p:cNvGrpSpPr>
              <a:grpSpLocks/>
            </p:cNvGrpSpPr>
            <p:nvPr/>
          </p:nvGrpSpPr>
          <p:grpSpPr bwMode="auto">
            <a:xfrm>
              <a:off x="2201" y="3114"/>
              <a:ext cx="446" cy="259"/>
              <a:chOff x="2201" y="3114"/>
              <a:chExt cx="446" cy="259"/>
            </a:xfrm>
          </p:grpSpPr>
          <p:sp>
            <p:nvSpPr>
              <p:cNvPr id="117835" name="Rectangle 75"/>
              <p:cNvSpPr>
                <a:spLocks noChangeArrowheads="1"/>
              </p:cNvSpPr>
              <p:nvPr/>
            </p:nvSpPr>
            <p:spPr bwMode="auto">
              <a:xfrm>
                <a:off x="2201" y="3114"/>
                <a:ext cx="446" cy="259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836" name="Rectangle 76"/>
              <p:cNvSpPr>
                <a:spLocks noChangeArrowheads="1"/>
              </p:cNvSpPr>
              <p:nvPr/>
            </p:nvSpPr>
            <p:spPr bwMode="auto">
              <a:xfrm>
                <a:off x="2201" y="3114"/>
                <a:ext cx="446" cy="259"/>
              </a:xfrm>
              <a:prstGeom prst="rect">
                <a:avLst/>
              </a:prstGeom>
              <a:solidFill>
                <a:srgbClr val="008000"/>
              </a:solidFill>
              <a:ln w="4763" cap="rnd">
                <a:solidFill>
                  <a:srgbClr val="0033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7837" name="Line 77"/>
            <p:cNvSpPr>
              <a:spLocks noChangeShapeType="1"/>
            </p:cNvSpPr>
            <p:nvPr/>
          </p:nvSpPr>
          <p:spPr bwMode="auto">
            <a:xfrm>
              <a:off x="2201" y="3114"/>
              <a:ext cx="117" cy="94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38" name="Line 78"/>
            <p:cNvSpPr>
              <a:spLocks noChangeShapeType="1"/>
            </p:cNvSpPr>
            <p:nvPr/>
          </p:nvSpPr>
          <p:spPr bwMode="auto">
            <a:xfrm>
              <a:off x="2318" y="3208"/>
              <a:ext cx="212" cy="0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39" name="Line 79"/>
            <p:cNvSpPr>
              <a:spLocks noChangeShapeType="1"/>
            </p:cNvSpPr>
            <p:nvPr/>
          </p:nvSpPr>
          <p:spPr bwMode="auto">
            <a:xfrm flipV="1">
              <a:off x="2530" y="3114"/>
              <a:ext cx="117" cy="94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40" name="Line 80"/>
            <p:cNvSpPr>
              <a:spLocks noChangeShapeType="1"/>
            </p:cNvSpPr>
            <p:nvPr/>
          </p:nvSpPr>
          <p:spPr bwMode="auto">
            <a:xfrm flipH="1">
              <a:off x="2201" y="3185"/>
              <a:ext cx="94" cy="165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41" name="Line 81"/>
            <p:cNvSpPr>
              <a:spLocks noChangeShapeType="1"/>
            </p:cNvSpPr>
            <p:nvPr/>
          </p:nvSpPr>
          <p:spPr bwMode="auto">
            <a:xfrm>
              <a:off x="2553" y="3185"/>
              <a:ext cx="94" cy="188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7842" name="Group 82"/>
            <p:cNvGrpSpPr>
              <a:grpSpLocks/>
            </p:cNvGrpSpPr>
            <p:nvPr/>
          </p:nvGrpSpPr>
          <p:grpSpPr bwMode="auto">
            <a:xfrm>
              <a:off x="2201" y="3114"/>
              <a:ext cx="446" cy="259"/>
              <a:chOff x="2201" y="3114"/>
              <a:chExt cx="446" cy="259"/>
            </a:xfrm>
          </p:grpSpPr>
          <p:sp>
            <p:nvSpPr>
              <p:cNvPr id="117843" name="Rectangle 83"/>
              <p:cNvSpPr>
                <a:spLocks noChangeArrowheads="1"/>
              </p:cNvSpPr>
              <p:nvPr/>
            </p:nvSpPr>
            <p:spPr bwMode="auto">
              <a:xfrm>
                <a:off x="2201" y="3114"/>
                <a:ext cx="446" cy="259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844" name="Rectangle 84"/>
              <p:cNvSpPr>
                <a:spLocks noChangeArrowheads="1"/>
              </p:cNvSpPr>
              <p:nvPr/>
            </p:nvSpPr>
            <p:spPr bwMode="auto">
              <a:xfrm>
                <a:off x="2201" y="3114"/>
                <a:ext cx="446" cy="259"/>
              </a:xfrm>
              <a:prstGeom prst="rect">
                <a:avLst/>
              </a:prstGeom>
              <a:solidFill>
                <a:srgbClr val="008000"/>
              </a:solidFill>
              <a:ln w="4763" cap="rnd">
                <a:solidFill>
                  <a:srgbClr val="0033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7845" name="Line 85"/>
            <p:cNvSpPr>
              <a:spLocks noChangeShapeType="1"/>
            </p:cNvSpPr>
            <p:nvPr/>
          </p:nvSpPr>
          <p:spPr bwMode="auto">
            <a:xfrm>
              <a:off x="2201" y="3114"/>
              <a:ext cx="117" cy="94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46" name="Line 86"/>
            <p:cNvSpPr>
              <a:spLocks noChangeShapeType="1"/>
            </p:cNvSpPr>
            <p:nvPr/>
          </p:nvSpPr>
          <p:spPr bwMode="auto">
            <a:xfrm>
              <a:off x="2318" y="3208"/>
              <a:ext cx="212" cy="0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47" name="Line 87"/>
            <p:cNvSpPr>
              <a:spLocks noChangeShapeType="1"/>
            </p:cNvSpPr>
            <p:nvPr/>
          </p:nvSpPr>
          <p:spPr bwMode="auto">
            <a:xfrm flipV="1">
              <a:off x="2530" y="3114"/>
              <a:ext cx="117" cy="94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48" name="Line 88"/>
            <p:cNvSpPr>
              <a:spLocks noChangeShapeType="1"/>
            </p:cNvSpPr>
            <p:nvPr/>
          </p:nvSpPr>
          <p:spPr bwMode="auto">
            <a:xfrm flipH="1">
              <a:off x="2201" y="3185"/>
              <a:ext cx="94" cy="165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49" name="Line 89"/>
            <p:cNvSpPr>
              <a:spLocks noChangeShapeType="1"/>
            </p:cNvSpPr>
            <p:nvPr/>
          </p:nvSpPr>
          <p:spPr bwMode="auto">
            <a:xfrm>
              <a:off x="2553" y="3185"/>
              <a:ext cx="94" cy="188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7850" name="Group 90"/>
          <p:cNvGrpSpPr>
            <a:grpSpLocks noChangeAspect="1"/>
          </p:cNvGrpSpPr>
          <p:nvPr/>
        </p:nvGrpSpPr>
        <p:grpSpPr bwMode="auto">
          <a:xfrm>
            <a:off x="971550" y="2565400"/>
            <a:ext cx="719138" cy="422275"/>
            <a:chOff x="2200" y="3113"/>
            <a:chExt cx="453" cy="266"/>
          </a:xfrm>
        </p:grpSpPr>
        <p:sp>
          <p:nvSpPr>
            <p:cNvPr id="117851" name="AutoShape 91"/>
            <p:cNvSpPr>
              <a:spLocks noChangeAspect="1" noChangeArrowheads="1" noTextEdit="1"/>
            </p:cNvSpPr>
            <p:nvPr/>
          </p:nvSpPr>
          <p:spPr bwMode="auto">
            <a:xfrm>
              <a:off x="2200" y="3113"/>
              <a:ext cx="453" cy="266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7852" name="Group 92"/>
            <p:cNvGrpSpPr>
              <a:grpSpLocks/>
            </p:cNvGrpSpPr>
            <p:nvPr/>
          </p:nvGrpSpPr>
          <p:grpSpPr bwMode="auto">
            <a:xfrm>
              <a:off x="2201" y="3114"/>
              <a:ext cx="446" cy="259"/>
              <a:chOff x="2201" y="3114"/>
              <a:chExt cx="446" cy="259"/>
            </a:xfrm>
          </p:grpSpPr>
          <p:sp>
            <p:nvSpPr>
              <p:cNvPr id="117853" name="Rectangle 93"/>
              <p:cNvSpPr>
                <a:spLocks noChangeArrowheads="1"/>
              </p:cNvSpPr>
              <p:nvPr/>
            </p:nvSpPr>
            <p:spPr bwMode="auto">
              <a:xfrm>
                <a:off x="2201" y="3114"/>
                <a:ext cx="446" cy="259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854" name="Rectangle 94"/>
              <p:cNvSpPr>
                <a:spLocks noChangeArrowheads="1"/>
              </p:cNvSpPr>
              <p:nvPr/>
            </p:nvSpPr>
            <p:spPr bwMode="auto">
              <a:xfrm>
                <a:off x="2201" y="3114"/>
                <a:ext cx="446" cy="259"/>
              </a:xfrm>
              <a:prstGeom prst="rect">
                <a:avLst/>
              </a:prstGeom>
              <a:solidFill>
                <a:srgbClr val="008000"/>
              </a:solidFill>
              <a:ln w="4763" cap="rnd">
                <a:solidFill>
                  <a:srgbClr val="0033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7855" name="Line 95"/>
            <p:cNvSpPr>
              <a:spLocks noChangeShapeType="1"/>
            </p:cNvSpPr>
            <p:nvPr/>
          </p:nvSpPr>
          <p:spPr bwMode="auto">
            <a:xfrm>
              <a:off x="2201" y="3114"/>
              <a:ext cx="117" cy="94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56" name="Line 96"/>
            <p:cNvSpPr>
              <a:spLocks noChangeShapeType="1"/>
            </p:cNvSpPr>
            <p:nvPr/>
          </p:nvSpPr>
          <p:spPr bwMode="auto">
            <a:xfrm>
              <a:off x="2318" y="3208"/>
              <a:ext cx="212" cy="0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57" name="Line 97"/>
            <p:cNvSpPr>
              <a:spLocks noChangeShapeType="1"/>
            </p:cNvSpPr>
            <p:nvPr/>
          </p:nvSpPr>
          <p:spPr bwMode="auto">
            <a:xfrm flipV="1">
              <a:off x="2530" y="3114"/>
              <a:ext cx="117" cy="94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58" name="Line 98"/>
            <p:cNvSpPr>
              <a:spLocks noChangeShapeType="1"/>
            </p:cNvSpPr>
            <p:nvPr/>
          </p:nvSpPr>
          <p:spPr bwMode="auto">
            <a:xfrm flipH="1">
              <a:off x="2201" y="3185"/>
              <a:ext cx="94" cy="165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59" name="Line 99"/>
            <p:cNvSpPr>
              <a:spLocks noChangeShapeType="1"/>
            </p:cNvSpPr>
            <p:nvPr/>
          </p:nvSpPr>
          <p:spPr bwMode="auto">
            <a:xfrm>
              <a:off x="2553" y="3185"/>
              <a:ext cx="94" cy="188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7860" name="Group 100"/>
            <p:cNvGrpSpPr>
              <a:grpSpLocks/>
            </p:cNvGrpSpPr>
            <p:nvPr/>
          </p:nvGrpSpPr>
          <p:grpSpPr bwMode="auto">
            <a:xfrm>
              <a:off x="2201" y="3114"/>
              <a:ext cx="446" cy="259"/>
              <a:chOff x="2201" y="3114"/>
              <a:chExt cx="446" cy="259"/>
            </a:xfrm>
          </p:grpSpPr>
          <p:sp>
            <p:nvSpPr>
              <p:cNvPr id="117861" name="Rectangle 101"/>
              <p:cNvSpPr>
                <a:spLocks noChangeArrowheads="1"/>
              </p:cNvSpPr>
              <p:nvPr/>
            </p:nvSpPr>
            <p:spPr bwMode="auto">
              <a:xfrm>
                <a:off x="2201" y="3114"/>
                <a:ext cx="446" cy="259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862" name="Rectangle 102"/>
              <p:cNvSpPr>
                <a:spLocks noChangeArrowheads="1"/>
              </p:cNvSpPr>
              <p:nvPr/>
            </p:nvSpPr>
            <p:spPr bwMode="auto">
              <a:xfrm>
                <a:off x="2201" y="3114"/>
                <a:ext cx="446" cy="259"/>
              </a:xfrm>
              <a:prstGeom prst="rect">
                <a:avLst/>
              </a:prstGeom>
              <a:solidFill>
                <a:srgbClr val="008000"/>
              </a:solidFill>
              <a:ln w="4763" cap="rnd">
                <a:solidFill>
                  <a:srgbClr val="0033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7863" name="Line 103"/>
            <p:cNvSpPr>
              <a:spLocks noChangeShapeType="1"/>
            </p:cNvSpPr>
            <p:nvPr/>
          </p:nvSpPr>
          <p:spPr bwMode="auto">
            <a:xfrm>
              <a:off x="2201" y="3114"/>
              <a:ext cx="117" cy="94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64" name="Line 104"/>
            <p:cNvSpPr>
              <a:spLocks noChangeShapeType="1"/>
            </p:cNvSpPr>
            <p:nvPr/>
          </p:nvSpPr>
          <p:spPr bwMode="auto">
            <a:xfrm>
              <a:off x="2318" y="3208"/>
              <a:ext cx="212" cy="0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65" name="Line 105"/>
            <p:cNvSpPr>
              <a:spLocks noChangeShapeType="1"/>
            </p:cNvSpPr>
            <p:nvPr/>
          </p:nvSpPr>
          <p:spPr bwMode="auto">
            <a:xfrm flipV="1">
              <a:off x="2530" y="3114"/>
              <a:ext cx="117" cy="94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66" name="Line 106"/>
            <p:cNvSpPr>
              <a:spLocks noChangeShapeType="1"/>
            </p:cNvSpPr>
            <p:nvPr/>
          </p:nvSpPr>
          <p:spPr bwMode="auto">
            <a:xfrm flipH="1">
              <a:off x="2201" y="3185"/>
              <a:ext cx="94" cy="165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67" name="Line 107"/>
            <p:cNvSpPr>
              <a:spLocks noChangeShapeType="1"/>
            </p:cNvSpPr>
            <p:nvPr/>
          </p:nvSpPr>
          <p:spPr bwMode="auto">
            <a:xfrm>
              <a:off x="2553" y="3185"/>
              <a:ext cx="94" cy="188"/>
            </a:xfrm>
            <a:prstGeom prst="line">
              <a:avLst/>
            </a:prstGeom>
            <a:noFill/>
            <a:ln w="4763" cap="rnd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7868" name="Text Box 108"/>
          <p:cNvSpPr txBox="1">
            <a:spLocks noChangeArrowheads="1"/>
          </p:cNvSpPr>
          <p:nvPr/>
        </p:nvSpPr>
        <p:spPr bwMode="auto">
          <a:xfrm>
            <a:off x="539750" y="5516563"/>
            <a:ext cx="47656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pPr algn="l"/>
            <a:r>
              <a:rPr lang="hr-HR"/>
              <a:t>Razlika u načinu rada preklopnika</a:t>
            </a:r>
          </a:p>
          <a:p>
            <a:pPr algn="l"/>
            <a:r>
              <a:rPr lang="hr-HR"/>
              <a:t> i koncentratora</a:t>
            </a:r>
          </a:p>
        </p:txBody>
      </p:sp>
      <p:sp>
        <p:nvSpPr>
          <p:cNvPr id="109" name="Text Box 35"/>
          <p:cNvSpPr txBox="1">
            <a:spLocks noChangeArrowheads="1"/>
          </p:cNvSpPr>
          <p:nvPr/>
        </p:nvSpPr>
        <p:spPr bwMode="auto">
          <a:xfrm>
            <a:off x="2924175" y="4701097"/>
            <a:ext cx="55015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hr-HR" sz="2000" b="1" dirty="0">
                <a:solidFill>
                  <a:srgbClr val="FF3300"/>
                </a:solidFill>
              </a:rPr>
              <a:t>O3</a:t>
            </a:r>
          </a:p>
        </p:txBody>
      </p:sp>
    </p:spTree>
    <p:extLst>
      <p:ext uri="{BB962C8B-B14F-4D97-AF65-F5344CB8AC3E}">
        <p14:creationId xmlns:p14="http://schemas.microsoft.com/office/powerpoint/2010/main" val="47205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89017E-7 L 0.14167 -0.10474 " pathEditMode="relative" ptsTypes="AA">
                                      <p:cBhvr>
                                        <p:cTn id="15" dur="2000" fill="hold"/>
                                        <p:tgtEl>
                                          <p:spTgt spid="1177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14167 -0.10474 L 0.04705 0.20971 " pathEditMode="relative" ptsTypes="AA">
                                      <p:cBhvr>
                                        <p:cTn id="18" dur="2000" fill="hold"/>
                                        <p:tgtEl>
                                          <p:spTgt spid="1177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27778E-6 9.82659E-7 L -0.07084 -0.31468 " pathEditMode="relative" ptsTypes="AA">
                                      <p:cBhvr>
                                        <p:cTn id="32" dur="2000" fill="hold"/>
                                        <p:tgtEl>
                                          <p:spTgt spid="1177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962 -0.3156 L -0.45035 -0.36808 " pathEditMode="relative" ptsTypes="AA">
                                      <p:cBhvr>
                                        <p:cTn id="35" dur="2000" fill="hold"/>
                                        <p:tgtEl>
                                          <p:spTgt spid="1177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5035 -0.36808 L -0.29288 -0.64069 " pathEditMode="relative" ptsTypes="AA">
                                      <p:cBhvr>
                                        <p:cTn id="38" dur="2000" fill="hold"/>
                                        <p:tgtEl>
                                          <p:spTgt spid="1177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5.60694E-6 L -0.25209 0.17827 " pathEditMode="relative" ptsTypes="AA">
                                      <p:cBhvr>
                                        <p:cTn id="51" dur="2000" fill="hold"/>
                                        <p:tgtEl>
                                          <p:spTgt spid="1177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271 0.15631 L -0.61563 0.09342 " pathEditMode="relative" ptsTypes="AA">
                                      <p:cBhvr>
                                        <p:cTn id="54" dur="2000" fill="hold"/>
                                        <p:tgtEl>
                                          <p:spTgt spid="1177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2000"/>
                                        <p:tgtEl>
                                          <p:spTgt spid="1177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0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000"/>
                            </p:stCondLst>
                            <p:childTnLst>
                              <p:par>
                                <p:cTn id="6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2.19653E-6 L -0.09444 0.11538 " pathEditMode="relative" ptsTypes="AA">
                                      <p:cBhvr>
                                        <p:cTn id="68" dur="2000" fill="hold"/>
                                        <p:tgtEl>
                                          <p:spTgt spid="1178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5.60694E-6 L -0.07864 0.2622 " pathEditMode="relative" ptsTypes="AA">
                                      <p:cBhvr>
                                        <p:cTn id="70" dur="2000" fill="hold"/>
                                        <p:tgtEl>
                                          <p:spTgt spid="1178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6.82081E-6 L 0.071 0.23076 " pathEditMode="relative" ptsTypes="AA">
                                      <p:cBhvr>
                                        <p:cTn id="72" dur="2000" fill="hold"/>
                                        <p:tgtEl>
                                          <p:spTgt spid="1178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000"/>
                            </p:stCondLst>
                            <p:childTnLst>
                              <p:par>
                                <p:cTn id="74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5" dur="1000" fill="hold"/>
                                        <p:tgtEl>
                                          <p:spTgt spid="1178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7" dur="1000" fill="hold"/>
                                        <p:tgtEl>
                                          <p:spTgt spid="1178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000"/>
                            </p:stCondLst>
                            <p:childTnLst>
                              <p:par>
                                <p:cTn id="7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445 0.11538 L -0.09445 0.65018 " pathEditMode="relative" ptsTypes="AA">
                                      <p:cBhvr>
                                        <p:cTn id="80" dur="1000" fill="hold"/>
                                        <p:tgtEl>
                                          <p:spTgt spid="1178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864 0.2622 L -0.07864 0.62937 " pathEditMode="relative" ptsTypes="AA">
                                      <p:cBhvr>
                                        <p:cTn id="82" dur="1000" fill="hold"/>
                                        <p:tgtEl>
                                          <p:spTgt spid="1178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89" grpId="0"/>
      <p:bldP spid="117790" grpId="0"/>
      <p:bldP spid="117792" grpId="0"/>
      <p:bldP spid="117793" grpId="0"/>
      <p:bldP spid="117795" grpId="0"/>
      <p:bldP spid="10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/>
          <p:cNvSpPr txBox="1">
            <a:spLocks noChangeArrowheads="1"/>
          </p:cNvSpPr>
          <p:nvPr/>
        </p:nvSpPr>
        <p:spPr bwMode="auto">
          <a:xfrm>
            <a:off x="467544" y="1268760"/>
            <a:ext cx="5256584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sz="2400">
                <a:latin typeface="Calibri" pitchFamily="34" charset="0"/>
                <a:cs typeface="Calibri" pitchFamily="34" charset="0"/>
              </a:defRPr>
            </a:lvl1pPr>
            <a:lvl2pPr marL="742950" indent="-285750" eaLnBrk="0" hangingPunct="0">
              <a:defRPr sz="2400">
                <a:latin typeface="Arial" charset="0"/>
              </a:defRPr>
            </a:lvl2pPr>
            <a:lvl3pPr marL="1143000" indent="-228600" eaLnBrk="0" hangingPunct="0">
              <a:defRPr sz="2400">
                <a:latin typeface="Arial" charset="0"/>
              </a:defRPr>
            </a:lvl3pPr>
            <a:lvl4pPr marL="1600200" indent="-228600" eaLnBrk="0" hangingPunct="0">
              <a:defRPr sz="2400">
                <a:latin typeface="Arial" charset="0"/>
              </a:defRPr>
            </a:lvl4pPr>
            <a:lvl5pPr marL="2057400" indent="-228600" eaLnBrk="0" hangingPunct="0">
              <a:defRPr sz="2400"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9pPr>
          </a:lstStyle>
          <a:p>
            <a:pPr marL="457200" indent="-457200">
              <a:buFont typeface="+mj-lt"/>
              <a:buAutoNum type="arabicPeriod"/>
            </a:pPr>
            <a:endParaRPr lang="hr-HR" dirty="0"/>
          </a:p>
          <a:p>
            <a:pPr marL="457200" indent="-457200">
              <a:buFont typeface="+mj-lt"/>
              <a:buAutoNum type="arabicPeriod"/>
            </a:pPr>
            <a:r>
              <a:rPr lang="hr-HR" dirty="0"/>
              <a:t>Učenje</a:t>
            </a:r>
          </a:p>
          <a:p>
            <a:pPr marL="457200" indent="-457200">
              <a:buFont typeface="+mj-lt"/>
              <a:buAutoNum type="arabicPeriod"/>
            </a:pPr>
            <a:endParaRPr lang="hr-HR" dirty="0"/>
          </a:p>
          <a:p>
            <a:pPr marL="457200" indent="-457200">
              <a:buFont typeface="+mj-lt"/>
              <a:buAutoNum type="arabicPeriod"/>
            </a:pPr>
            <a:r>
              <a:rPr lang="hr-HR" dirty="0"/>
              <a:t>Zastarijevanje</a:t>
            </a:r>
          </a:p>
          <a:p>
            <a:pPr marL="457200" indent="-457200">
              <a:buFont typeface="+mj-lt"/>
              <a:buAutoNum type="arabicPeriod"/>
            </a:pPr>
            <a:endParaRPr lang="hr-HR" dirty="0"/>
          </a:p>
          <a:p>
            <a:pPr marL="457200" indent="-457200">
              <a:buFont typeface="+mj-lt"/>
              <a:buAutoNum type="arabicPeriod"/>
            </a:pPr>
            <a:r>
              <a:rPr lang="hr-HR" dirty="0"/>
              <a:t>Preplavljivanje</a:t>
            </a:r>
          </a:p>
          <a:p>
            <a:pPr marL="457200" indent="-457200">
              <a:buFont typeface="+mj-lt"/>
              <a:buAutoNum type="arabicPeriod"/>
            </a:pPr>
            <a:endParaRPr lang="hr-HR" dirty="0"/>
          </a:p>
          <a:p>
            <a:pPr marL="457200" indent="-457200">
              <a:buFont typeface="+mj-lt"/>
              <a:buAutoNum type="arabicPeriod"/>
            </a:pPr>
            <a:r>
              <a:rPr lang="hr-HR" dirty="0"/>
              <a:t>Selektivno prosljeđivanje</a:t>
            </a:r>
          </a:p>
          <a:p>
            <a:pPr marL="457200" indent="-457200">
              <a:buFont typeface="+mj-lt"/>
              <a:buAutoNum type="arabicPeriod"/>
            </a:pPr>
            <a:endParaRPr lang="hr-HR" dirty="0"/>
          </a:p>
          <a:p>
            <a:pPr marL="457200" indent="-457200">
              <a:buFont typeface="+mj-lt"/>
              <a:buAutoNum type="arabicPeriod"/>
            </a:pPr>
            <a:r>
              <a:rPr lang="hr-HR" dirty="0"/>
              <a:t>Filtriranje</a:t>
            </a:r>
          </a:p>
          <a:p>
            <a:pPr marL="457200" indent="-457200">
              <a:buFont typeface="+mj-lt"/>
              <a:buAutoNum type="arabicPeriod"/>
            </a:pPr>
            <a:endParaRPr lang="hr-HR" dirty="0"/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468313" y="544225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Operacije koje izvodi preklopnik</a:t>
            </a:r>
          </a:p>
        </p:txBody>
      </p:sp>
    </p:spTree>
    <p:extLst>
      <p:ext uri="{BB962C8B-B14F-4D97-AF65-F5344CB8AC3E}">
        <p14:creationId xmlns:p14="http://schemas.microsoft.com/office/powerpoint/2010/main" val="415083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Text Box 2"/>
          <p:cNvSpPr txBox="1">
            <a:spLocks noChangeArrowheads="1"/>
          </p:cNvSpPr>
          <p:nvPr/>
        </p:nvSpPr>
        <p:spPr bwMode="auto">
          <a:xfrm>
            <a:off x="467544" y="1412776"/>
            <a:ext cx="7327840" cy="298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sz="2400">
                <a:latin typeface="Calibri" pitchFamily="34" charset="0"/>
                <a:cs typeface="Calibri" pitchFamily="34" charset="0"/>
              </a:defRPr>
            </a:lvl1pPr>
            <a:lvl2pPr marL="742950" indent="-285750" eaLnBrk="0" hangingPunct="0">
              <a:defRPr sz="2400">
                <a:latin typeface="Arial" charset="0"/>
              </a:defRPr>
            </a:lvl2pPr>
            <a:lvl3pPr marL="1143000" indent="-228600" eaLnBrk="0" hangingPunct="0">
              <a:defRPr sz="2400">
                <a:latin typeface="Arial" charset="0"/>
              </a:defRPr>
            </a:lvl3pPr>
            <a:lvl4pPr marL="1600200" indent="-228600" eaLnBrk="0" hangingPunct="0">
              <a:defRPr sz="2400">
                <a:latin typeface="Arial" charset="0"/>
              </a:defRPr>
            </a:lvl4pPr>
            <a:lvl5pPr marL="2057400" indent="-228600" eaLnBrk="0" hangingPunct="0">
              <a:defRPr sz="2400"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9pPr>
          </a:lstStyle>
          <a:p>
            <a:r>
              <a:rPr lang="hr-HR" dirty="0"/>
              <a:t>Kod dolaska okvira ispituje se ishodišna MAC adresa</a:t>
            </a:r>
          </a:p>
          <a:p>
            <a:endParaRPr lang="hr-HR" dirty="0"/>
          </a:p>
          <a:p>
            <a:r>
              <a:rPr lang="hr-HR" dirty="0"/>
              <a:t>Ako ranije nije bilo prometa sa tog hosta, prespojnik upisuje MAC adresu u tablicu</a:t>
            </a:r>
          </a:p>
          <a:p>
            <a:endParaRPr lang="hr-HR" dirty="0"/>
          </a:p>
          <a:p>
            <a:r>
              <a:rPr lang="hr-HR" dirty="0"/>
              <a:t>Ako je MAC adresa otprije u tablici, i dalje se koristi kao odredišna</a:t>
            </a:r>
          </a:p>
        </p:txBody>
      </p:sp>
      <p:sp>
        <p:nvSpPr>
          <p:cNvPr id="4" name="Text Box 14"/>
          <p:cNvSpPr txBox="1">
            <a:spLocks noChangeArrowheads="1"/>
          </p:cNvSpPr>
          <p:nvPr/>
        </p:nvSpPr>
        <p:spPr bwMode="auto">
          <a:xfrm>
            <a:off x="468313" y="544225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>
              <a:buFontTx/>
              <a:buAutoNum type="arabicPeriod"/>
            </a:pPr>
            <a:r>
              <a:rPr lang="hr-HR" dirty="0"/>
              <a:t>Učenje (Learning) </a:t>
            </a:r>
          </a:p>
        </p:txBody>
      </p:sp>
    </p:spTree>
    <p:extLst>
      <p:ext uri="{BB962C8B-B14F-4D97-AF65-F5344CB8AC3E}">
        <p14:creationId xmlns:p14="http://schemas.microsoft.com/office/powerpoint/2010/main" val="171519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Text Box 2"/>
          <p:cNvSpPr txBox="1">
            <a:spLocks noChangeArrowheads="1"/>
          </p:cNvSpPr>
          <p:nvPr/>
        </p:nvSpPr>
        <p:spPr bwMode="auto">
          <a:xfrm>
            <a:off x="440428" y="1484784"/>
            <a:ext cx="7849368" cy="2092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sz="2400">
                <a:latin typeface="Calibri" pitchFamily="34" charset="0"/>
                <a:cs typeface="Calibri" pitchFamily="34" charset="0"/>
              </a:defRPr>
            </a:lvl1pPr>
            <a:lvl2pPr marL="742950" indent="-285750" eaLnBrk="0" hangingPunct="0">
              <a:defRPr sz="2400">
                <a:latin typeface="Arial" charset="0"/>
              </a:defRPr>
            </a:lvl2pPr>
            <a:lvl3pPr marL="1143000" indent="-228600" eaLnBrk="0" hangingPunct="0">
              <a:defRPr sz="2400">
                <a:latin typeface="Arial" charset="0"/>
              </a:defRPr>
            </a:lvl3pPr>
            <a:lvl4pPr marL="1600200" indent="-228600" eaLnBrk="0" hangingPunct="0">
              <a:defRPr sz="2400">
                <a:latin typeface="Arial" charset="0"/>
              </a:defRPr>
            </a:lvl4pPr>
            <a:lvl5pPr marL="2057400" indent="-228600" eaLnBrk="0" hangingPunct="0">
              <a:defRPr sz="2400"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9pPr>
          </a:lstStyle>
          <a:p>
            <a:r>
              <a:rPr lang="hr-HR" dirty="0"/>
              <a:t> Sadržaj tablica MAC adresa ima rok trajanja</a:t>
            </a:r>
          </a:p>
          <a:p>
            <a:endParaRPr lang="hr-HR" dirty="0"/>
          </a:p>
          <a:p>
            <a:r>
              <a:rPr lang="hr-HR" dirty="0"/>
              <a:t>Svaka upisana MAC adresa nakon nekog vremena ide u zastaru, ali se obnavlja kada ponovno stigne okvir sa tog hosta</a:t>
            </a:r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468313" y="544225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2. Zastarijevanje</a:t>
            </a:r>
          </a:p>
        </p:txBody>
      </p:sp>
    </p:spTree>
    <p:extLst>
      <p:ext uri="{BB962C8B-B14F-4D97-AF65-F5344CB8AC3E}">
        <p14:creationId xmlns:p14="http://schemas.microsoft.com/office/powerpoint/2010/main" val="3911845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ext Box 2"/>
          <p:cNvSpPr txBox="1">
            <a:spLocks noChangeArrowheads="1"/>
          </p:cNvSpPr>
          <p:nvPr/>
        </p:nvSpPr>
        <p:spPr bwMode="auto">
          <a:xfrm>
            <a:off x="468313" y="1484784"/>
            <a:ext cx="735695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sz="2400">
                <a:latin typeface="Calibri" pitchFamily="34" charset="0"/>
                <a:cs typeface="Calibri" pitchFamily="34" charset="0"/>
              </a:defRPr>
            </a:lvl1pPr>
            <a:lvl2pPr marL="742950" indent="-285750" eaLnBrk="0" hangingPunct="0">
              <a:defRPr sz="2400">
                <a:latin typeface="Arial" charset="0"/>
              </a:defRPr>
            </a:lvl2pPr>
            <a:lvl3pPr marL="1143000" indent="-228600" eaLnBrk="0" hangingPunct="0">
              <a:defRPr sz="2400">
                <a:latin typeface="Arial" charset="0"/>
              </a:defRPr>
            </a:lvl3pPr>
            <a:lvl4pPr marL="1600200" indent="-228600" eaLnBrk="0" hangingPunct="0">
              <a:defRPr sz="2400">
                <a:latin typeface="Arial" charset="0"/>
              </a:defRPr>
            </a:lvl4pPr>
            <a:lvl5pPr marL="2057400" indent="-228600" eaLnBrk="0" hangingPunct="0">
              <a:defRPr sz="2400"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9pPr>
          </a:lstStyle>
          <a:p>
            <a:r>
              <a:rPr lang="hr-HR" dirty="0"/>
              <a:t>Kada prespojnik nema odredišnu MAC adresu u tablici</a:t>
            </a:r>
          </a:p>
          <a:p>
            <a:endParaRPr lang="hr-HR" dirty="0"/>
          </a:p>
          <a:p>
            <a:r>
              <a:rPr lang="hr-HR" dirty="0"/>
              <a:t>Šalje okvire na sve portove osim onaj sa kojeg je stigao</a:t>
            </a:r>
          </a:p>
          <a:p>
            <a:endParaRPr lang="hr-HR" dirty="0"/>
          </a:p>
          <a:p>
            <a:r>
              <a:rPr lang="hr-HR" dirty="0"/>
              <a:t>Koristi se i kod slanja broadcast poruka</a:t>
            </a:r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468313" y="544225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3. Preplavljivanje (flooding)</a:t>
            </a:r>
          </a:p>
        </p:txBody>
      </p:sp>
    </p:spTree>
    <p:extLst>
      <p:ext uri="{BB962C8B-B14F-4D97-AF65-F5344CB8AC3E}">
        <p14:creationId xmlns:p14="http://schemas.microsoft.com/office/powerpoint/2010/main" val="3719862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ext Box 2"/>
          <p:cNvSpPr txBox="1">
            <a:spLocks noChangeArrowheads="1"/>
          </p:cNvSpPr>
          <p:nvPr/>
        </p:nvSpPr>
        <p:spPr bwMode="auto">
          <a:xfrm>
            <a:off x="502179" y="1484784"/>
            <a:ext cx="8174277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sz="2400">
                <a:latin typeface="Calibri" pitchFamily="34" charset="0"/>
                <a:cs typeface="Calibri" pitchFamily="34" charset="0"/>
              </a:defRPr>
            </a:lvl1pPr>
            <a:lvl2pPr marL="742950" indent="-285750" eaLnBrk="0" hangingPunct="0">
              <a:defRPr sz="2400">
                <a:latin typeface="Arial" charset="0"/>
              </a:defRPr>
            </a:lvl2pPr>
            <a:lvl3pPr marL="1143000" indent="-228600" eaLnBrk="0" hangingPunct="0">
              <a:defRPr sz="2400">
                <a:latin typeface="Arial" charset="0"/>
              </a:defRPr>
            </a:lvl3pPr>
            <a:lvl4pPr marL="1600200" indent="-228600" eaLnBrk="0" hangingPunct="0">
              <a:defRPr sz="2400">
                <a:latin typeface="Arial" charset="0"/>
              </a:defRPr>
            </a:lvl4pPr>
            <a:lvl5pPr marL="2057400" indent="-228600" eaLnBrk="0" hangingPunct="0">
              <a:defRPr sz="2400"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9pPr>
          </a:lstStyle>
          <a:p>
            <a:r>
              <a:rPr lang="hr-HR" dirty="0"/>
              <a:t>Glavna je funkcija prespojnika</a:t>
            </a:r>
          </a:p>
          <a:p>
            <a:endParaRPr lang="hr-HR" dirty="0"/>
          </a:p>
          <a:p>
            <a:r>
              <a:rPr lang="hr-HR" dirty="0"/>
              <a:t>Okvir sa MAC adresom koja je upisana u tablicu, prosljeđuje se odgovarajućem portu</a:t>
            </a:r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468313" y="544225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4. Selektivno prosljeđivanje</a:t>
            </a:r>
          </a:p>
        </p:txBody>
      </p:sp>
    </p:spTree>
    <p:extLst>
      <p:ext uri="{BB962C8B-B14F-4D97-AF65-F5344CB8AC3E}">
        <p14:creationId xmlns:p14="http://schemas.microsoft.com/office/powerpoint/2010/main" val="3188914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ext Box 2"/>
          <p:cNvSpPr txBox="1">
            <a:spLocks noChangeArrowheads="1"/>
          </p:cNvSpPr>
          <p:nvPr/>
        </p:nvSpPr>
        <p:spPr bwMode="auto">
          <a:xfrm>
            <a:off x="502179" y="1484784"/>
            <a:ext cx="817427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sz="2400">
                <a:latin typeface="Calibri" pitchFamily="34" charset="0"/>
                <a:cs typeface="Calibri" pitchFamily="34" charset="0"/>
              </a:defRPr>
            </a:lvl1pPr>
            <a:lvl2pPr marL="742950" indent="-285750" eaLnBrk="0" hangingPunct="0">
              <a:defRPr sz="2400">
                <a:latin typeface="Arial" charset="0"/>
              </a:defRPr>
            </a:lvl2pPr>
            <a:lvl3pPr marL="1143000" indent="-228600" eaLnBrk="0" hangingPunct="0">
              <a:defRPr sz="2400">
                <a:latin typeface="Arial" charset="0"/>
              </a:defRPr>
            </a:lvl3pPr>
            <a:lvl4pPr marL="1600200" indent="-228600" eaLnBrk="0" hangingPunct="0">
              <a:defRPr sz="2400">
                <a:latin typeface="Arial" charset="0"/>
              </a:defRPr>
            </a:lvl4pPr>
            <a:lvl5pPr marL="2057400" indent="-228600" eaLnBrk="0" hangingPunct="0">
              <a:defRPr sz="2400"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9pPr>
          </a:lstStyle>
          <a:p>
            <a:r>
              <a:rPr lang="hr-HR" dirty="0"/>
              <a:t>U nekim slučajevima okvir se ne prosljeđuje (ako je oštećen ili ako postoje sigurnosni razlozi)</a:t>
            </a:r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468313" y="544225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5. Filtriranje</a:t>
            </a:r>
          </a:p>
        </p:txBody>
      </p:sp>
    </p:spTree>
    <p:extLst>
      <p:ext uri="{BB962C8B-B14F-4D97-AF65-F5344CB8AC3E}">
        <p14:creationId xmlns:p14="http://schemas.microsoft.com/office/powerpoint/2010/main" val="3885909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ext Box 2"/>
          <p:cNvSpPr txBox="1">
            <a:spLocks noChangeArrowheads="1"/>
          </p:cNvSpPr>
          <p:nvPr/>
        </p:nvSpPr>
        <p:spPr bwMode="auto">
          <a:xfrm>
            <a:off x="502180" y="1484784"/>
            <a:ext cx="5237776" cy="340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sz="2400">
                <a:latin typeface="Calibri" pitchFamily="34" charset="0"/>
                <a:cs typeface="Calibri" pitchFamily="34" charset="0"/>
              </a:defRPr>
            </a:lvl1pPr>
            <a:lvl2pPr marL="742950" indent="-285750" eaLnBrk="0" hangingPunct="0">
              <a:defRPr sz="2400">
                <a:latin typeface="Arial" charset="0"/>
              </a:defRPr>
            </a:lvl2pPr>
            <a:lvl3pPr marL="1143000" indent="-228600" eaLnBrk="0" hangingPunct="0">
              <a:defRPr sz="2400">
                <a:latin typeface="Arial" charset="0"/>
              </a:defRPr>
            </a:lvl3pPr>
            <a:lvl4pPr marL="1600200" indent="-228600" eaLnBrk="0" hangingPunct="0">
              <a:defRPr sz="2400">
                <a:latin typeface="Arial" charset="0"/>
              </a:defRPr>
            </a:lvl4pPr>
            <a:lvl5pPr marL="2057400" indent="-228600" eaLnBrk="0" hangingPunct="0">
              <a:defRPr sz="2400"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9pPr>
          </a:lstStyle>
          <a:p>
            <a:pPr marL="0" indent="0">
              <a:buNone/>
            </a:pPr>
            <a:r>
              <a:rPr lang="hr-HR" sz="1800" dirty="0"/>
              <a:t>Scenarij:</a:t>
            </a:r>
          </a:p>
          <a:p>
            <a:r>
              <a:rPr lang="hr-HR" sz="1800" dirty="0"/>
              <a:t>Preklopnička tablica je inicijalno prazna</a:t>
            </a:r>
          </a:p>
          <a:p>
            <a:r>
              <a:rPr lang="hr-HR" sz="1800" dirty="0"/>
              <a:t>MAC adrese računala su AA-AA-AA-AA-AA-AA za računalo A, BB-BB-BB-BB-BB-BB za računalo B, itd.</a:t>
            </a:r>
          </a:p>
          <a:p>
            <a:r>
              <a:rPr lang="hr-HR" sz="1800" dirty="0"/>
              <a:t>Po koracima napiši što se događa i kako se popunjava tablica sa MAC adresama ako redom: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1800" dirty="0"/>
              <a:t>Računalo A šalje poruku računalu D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1800" dirty="0"/>
              <a:t>Računalo B šalje poruku računalu A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1800" dirty="0"/>
              <a:t>Računalo D šalje poruku računalu B</a:t>
            </a:r>
          </a:p>
          <a:p>
            <a:endParaRPr lang="hr-HR" sz="1800" dirty="0"/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468313" y="544225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Domaća zadaća!</a:t>
            </a:r>
          </a:p>
        </p:txBody>
      </p:sp>
      <p:pic>
        <p:nvPicPr>
          <p:cNvPr id="4" name="Picture 2" descr="Kompju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625" y="3357066"/>
            <a:ext cx="728662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" name="Picture 4" descr="Preklopni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950" y="2564904"/>
            <a:ext cx="906462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7" descr="Kompju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0900" y="3572966"/>
            <a:ext cx="728662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8" descr="Kompju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212" y="4796929"/>
            <a:ext cx="728663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9" descr="Kompju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887" y="4796929"/>
            <a:ext cx="728663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Line 25"/>
          <p:cNvSpPr>
            <a:spLocks noChangeShapeType="1"/>
          </p:cNvSpPr>
          <p:nvPr/>
        </p:nvSpPr>
        <p:spPr bwMode="auto">
          <a:xfrm flipV="1">
            <a:off x="6023325" y="2925266"/>
            <a:ext cx="1008062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0" name="Line 26"/>
          <p:cNvSpPr>
            <a:spLocks noChangeShapeType="1"/>
          </p:cNvSpPr>
          <p:nvPr/>
        </p:nvSpPr>
        <p:spPr bwMode="auto">
          <a:xfrm flipH="1">
            <a:off x="6455125" y="2996704"/>
            <a:ext cx="792162" cy="1944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1" name="Line 27"/>
          <p:cNvSpPr>
            <a:spLocks noChangeShapeType="1"/>
          </p:cNvSpPr>
          <p:nvPr/>
        </p:nvSpPr>
        <p:spPr bwMode="auto">
          <a:xfrm>
            <a:off x="7463187" y="2996704"/>
            <a:ext cx="504825" cy="1944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2" name="Line 28"/>
          <p:cNvSpPr>
            <a:spLocks noChangeShapeType="1"/>
          </p:cNvSpPr>
          <p:nvPr/>
        </p:nvSpPr>
        <p:spPr bwMode="auto">
          <a:xfrm>
            <a:off x="7680675" y="2853829"/>
            <a:ext cx="935037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3" name="Text Box 29"/>
          <p:cNvSpPr txBox="1">
            <a:spLocks noChangeArrowheads="1"/>
          </p:cNvSpPr>
          <p:nvPr/>
        </p:nvSpPr>
        <p:spPr bwMode="auto">
          <a:xfrm>
            <a:off x="5304187" y="3788866"/>
            <a:ext cx="5032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spcBef>
                <a:spcPct val="50000"/>
              </a:spcBef>
            </a:pPr>
            <a:r>
              <a:rPr lang="hr-HR" sz="2000" b="1" dirty="0">
                <a:solidFill>
                  <a:srgbClr val="FF3300"/>
                </a:solidFill>
              </a:rPr>
              <a:t>A</a:t>
            </a:r>
          </a:p>
        </p:txBody>
      </p:sp>
      <p:pic>
        <p:nvPicPr>
          <p:cNvPr id="15" name="Picture 31" descr="Kuverta žut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0087" y="3357066"/>
            <a:ext cx="695325" cy="40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8" name="Group 21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1077125257"/>
              </p:ext>
            </p:extLst>
          </p:nvPr>
        </p:nvGraphicFramePr>
        <p:xfrm>
          <a:off x="5796136" y="5882005"/>
          <a:ext cx="2880320" cy="701040"/>
        </p:xfrm>
        <a:graphic>
          <a:graphicData uri="http://schemas.openxmlformats.org/drawingml/2006/table">
            <a:tbl>
              <a:tblPr/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hr-H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hr-H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hr-H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hr-H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hr-H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r-H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hr-H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hr-H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527356" y="2764929"/>
            <a:ext cx="323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823" y="2987734"/>
            <a:ext cx="323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8750" y="2987734"/>
            <a:ext cx="323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4343" y="2732663"/>
            <a:ext cx="323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23" name="Text Box 29"/>
          <p:cNvSpPr txBox="1">
            <a:spLocks noChangeArrowheads="1"/>
          </p:cNvSpPr>
          <p:nvPr/>
        </p:nvSpPr>
        <p:spPr bwMode="auto">
          <a:xfrm>
            <a:off x="5815809" y="5331916"/>
            <a:ext cx="5032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spcBef>
                <a:spcPct val="50000"/>
              </a:spcBef>
            </a:pPr>
            <a:r>
              <a:rPr lang="hr-HR" sz="2000" b="1" dirty="0">
                <a:solidFill>
                  <a:srgbClr val="FF3300"/>
                </a:solidFill>
              </a:rPr>
              <a:t>B</a:t>
            </a:r>
          </a:p>
        </p:txBody>
      </p:sp>
      <p:sp>
        <p:nvSpPr>
          <p:cNvPr id="24" name="Text Box 29"/>
          <p:cNvSpPr txBox="1">
            <a:spLocks noChangeArrowheads="1"/>
          </p:cNvSpPr>
          <p:nvPr/>
        </p:nvSpPr>
        <p:spPr bwMode="auto">
          <a:xfrm>
            <a:off x="7681906" y="5331916"/>
            <a:ext cx="5032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spcBef>
                <a:spcPct val="50000"/>
              </a:spcBef>
            </a:pPr>
            <a:r>
              <a:rPr lang="hr-HR" sz="2000" b="1" dirty="0">
                <a:solidFill>
                  <a:srgbClr val="FF3300"/>
                </a:solidFill>
              </a:rPr>
              <a:t>C</a:t>
            </a: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8821290" y="4073763"/>
            <a:ext cx="5032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spcBef>
                <a:spcPct val="50000"/>
              </a:spcBef>
            </a:pPr>
            <a:r>
              <a:rPr lang="hr-HR" sz="2000" b="1" dirty="0">
                <a:solidFill>
                  <a:srgbClr val="FF3300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64646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39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39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39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39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39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39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39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39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39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39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39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39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4E09B-89FC-0B69-32B8-727A9DD6B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Pitanja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21BF6-287A-441A-EEC9-80E2B334A07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hr-HR" dirty="0"/>
              <a:t>1. Što je preklopnik (što je, kako se spaja, koja topologija)</a:t>
            </a:r>
          </a:p>
          <a:p>
            <a:r>
              <a:rPr lang="hr-HR" dirty="0"/>
              <a:t>2.  Opiši koji su 3 načina prijenosa s ozbirom na smjer ?</a:t>
            </a:r>
          </a:p>
          <a:p>
            <a:r>
              <a:rPr lang="hr-HR" dirty="0"/>
              <a:t>3. Opiši što je kolizijska domena ?</a:t>
            </a:r>
          </a:p>
          <a:p>
            <a:r>
              <a:rPr lang="hr-HR" dirty="0"/>
              <a:t>4. Opiši što je brodcast domena ?</a:t>
            </a:r>
          </a:p>
          <a:p>
            <a:r>
              <a:rPr lang="hr-HR" dirty="0"/>
              <a:t>5. Opiši u nekoliko rečenica kako radi preklopnik ?</a:t>
            </a:r>
          </a:p>
          <a:p>
            <a:r>
              <a:rPr lang="hr-HR" dirty="0"/>
              <a:t>6. Navedi razliku između koncentratora i prespojnika ?</a:t>
            </a:r>
          </a:p>
          <a:p>
            <a:r>
              <a:rPr lang="hr-HR" dirty="0"/>
              <a:t>7. Navedi 5 operacija koje izvodi preklopnik te opiši svaku od njih ?</a:t>
            </a:r>
          </a:p>
        </p:txBody>
      </p:sp>
    </p:spTree>
    <p:extLst>
      <p:ext uri="{BB962C8B-B14F-4D97-AF65-F5344CB8AC3E}">
        <p14:creationId xmlns:p14="http://schemas.microsoft.com/office/powerpoint/2010/main" val="14582485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74526B780CB7E40AAED50781EDEFDF6" ma:contentTypeVersion="3" ma:contentTypeDescription="Stvaranje novog dokumenta." ma:contentTypeScope="" ma:versionID="311e1801ccda84ba81c0d1833d3c6843">
  <xsd:schema xmlns:xsd="http://www.w3.org/2001/XMLSchema" xmlns:xs="http://www.w3.org/2001/XMLSchema" xmlns:p="http://schemas.microsoft.com/office/2006/metadata/properties" xmlns:ns2="c041744a-391e-4a25-927f-1fb68203ca47" targetNamespace="http://schemas.microsoft.com/office/2006/metadata/properties" ma:root="true" ma:fieldsID="e75d90df016b33bfbe8e0c9e77e49adb" ns2:_="">
    <xsd:import namespace="c041744a-391e-4a25-927f-1fb68203ca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41744a-391e-4a25-927f-1fb68203ca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sadržaja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B1CB30E-D4A4-4124-865A-5B91CC22D91F}"/>
</file>

<file path=customXml/itemProps2.xml><?xml version="1.0" encoding="utf-8"?>
<ds:datastoreItem xmlns:ds="http://schemas.openxmlformats.org/officeDocument/2006/customXml" ds:itemID="{0B0B4F1B-D690-4E71-9C78-78556803A882}"/>
</file>

<file path=customXml/itemProps3.xml><?xml version="1.0" encoding="utf-8"?>
<ds:datastoreItem xmlns:ds="http://schemas.openxmlformats.org/officeDocument/2006/customXml" ds:itemID="{C5585F68-9F0E-4393-8F1E-845FB4CF4065}"/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2395</TotalTime>
  <Words>890</Words>
  <Application>Microsoft Office PowerPoint</Application>
  <PresentationFormat>On-screen Show (4:3)</PresentationFormat>
  <Paragraphs>179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Bookman Old Style</vt:lpstr>
      <vt:lpstr>Calibri</vt:lpstr>
      <vt:lpstr>Gill Sans MT</vt:lpstr>
      <vt:lpstr>Wingdings</vt:lpstr>
      <vt:lpstr>Wingdings 3</vt:lpstr>
      <vt:lpstr>Origin</vt:lpstr>
      <vt:lpstr>PODATKOVNI SLOJ Osnove rada preklopnika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Pitanja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Opći model komunikacijskog sustava</dc:title>
  <dc:creator>p</dc:creator>
  <cp:lastModifiedBy>Luka Huzjak</cp:lastModifiedBy>
  <cp:revision>126</cp:revision>
  <cp:lastPrinted>2015-09-11T08:26:32Z</cp:lastPrinted>
  <dcterms:created xsi:type="dcterms:W3CDTF">2015-09-07T20:59:37Z</dcterms:created>
  <dcterms:modified xsi:type="dcterms:W3CDTF">2025-01-12T22:26:18Z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0x010100C74526B780CB7E40AAED50781EDEFDF6</vt:lpwstr>
  </property>
</Properties>
</file>