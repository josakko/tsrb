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handoutMasterIdLst>
    <p:handoutMasterId r:id="rId22"/>
  </p:handoutMasterIdLst>
  <p:sldIdLst>
    <p:sldId id="256" r:id="rId5"/>
    <p:sldId id="308" r:id="rId6"/>
    <p:sldId id="343" r:id="rId7"/>
    <p:sldId id="339" r:id="rId8"/>
    <p:sldId id="342" r:id="rId9"/>
    <p:sldId id="338" r:id="rId10"/>
    <p:sldId id="336" r:id="rId11"/>
    <p:sldId id="311" r:id="rId12"/>
    <p:sldId id="310" r:id="rId13"/>
    <p:sldId id="324" r:id="rId14"/>
    <p:sldId id="313" r:id="rId15"/>
    <p:sldId id="319" r:id="rId16"/>
    <p:sldId id="340" r:id="rId17"/>
    <p:sldId id="341" r:id="rId18"/>
    <p:sldId id="312" r:id="rId19"/>
    <p:sldId id="344" r:id="rId20"/>
  </p:sldIdLst>
  <p:sldSz cx="9144000" cy="6858000" type="screen4x3"/>
  <p:notesSz cx="6834188" cy="9979025"/>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FEE83F-D3B9-46E2-9E05-4CE251CF2FF9}" v="1" dt="2025-12-14T20:16:59.8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129" autoAdjust="0"/>
  </p:normalViewPr>
  <p:slideViewPr>
    <p:cSldViewPr>
      <p:cViewPr varScale="1">
        <p:scale>
          <a:sx n="67" d="100"/>
          <a:sy n="67" d="100"/>
        </p:scale>
        <p:origin x="1906"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lip Sharairi" userId="S::filip.sharairi@skole.hr::4510401a-0a80-467b-a818-e5d2ce086c68" providerId="AD" clId="Web-{8C2730AD-24DB-A7D6-4ED7-313C3C9DA2AC}"/>
    <pc:docChg chg="modSld">
      <pc:chgData name="Filip Sharairi" userId="S::filip.sharairi@skole.hr::4510401a-0a80-467b-a818-e5d2ce086c68" providerId="AD" clId="Web-{8C2730AD-24DB-A7D6-4ED7-313C3C9DA2AC}" dt="2025-12-01T16:06:27.002" v="0" actId="1076"/>
      <pc:docMkLst>
        <pc:docMk/>
      </pc:docMkLst>
      <pc:sldChg chg="modSp">
        <pc:chgData name="Filip Sharairi" userId="S::filip.sharairi@skole.hr::4510401a-0a80-467b-a818-e5d2ce086c68" providerId="AD" clId="Web-{8C2730AD-24DB-A7D6-4ED7-313C3C9DA2AC}" dt="2025-12-01T16:06:27.002" v="0" actId="1076"/>
        <pc:sldMkLst>
          <pc:docMk/>
          <pc:sldMk cId="2653023010" sldId="338"/>
        </pc:sldMkLst>
        <pc:picChg chg="mod">
          <ac:chgData name="Filip Sharairi" userId="S::filip.sharairi@skole.hr::4510401a-0a80-467b-a818-e5d2ce086c68" providerId="AD" clId="Web-{8C2730AD-24DB-A7D6-4ED7-313C3C9DA2AC}" dt="2025-12-01T16:06:27.002" v="0" actId="1076"/>
          <ac:picMkLst>
            <pc:docMk/>
            <pc:sldMk cId="2653023010" sldId="338"/>
            <ac:picMk id="74758" creationId="{00000000-0000-0000-0000-000000000000}"/>
          </ac:picMkLst>
        </pc:picChg>
      </pc:sldChg>
    </pc:docChg>
  </pc:docChgLst>
  <pc:docChgLst>
    <pc:chgData name="Adrijan Bilić" userId="S::adrijan.bilic@skole.hr::6f32116f-d823-4038-a568-592b210654da" providerId="AD" clId="Web-{72FEE83F-D3B9-46E2-9E05-4CE251CF2FF9}"/>
    <pc:docChg chg="modSld">
      <pc:chgData name="Adrijan Bilić" userId="S::adrijan.bilic@skole.hr::6f32116f-d823-4038-a568-592b210654da" providerId="AD" clId="Web-{72FEE83F-D3B9-46E2-9E05-4CE251CF2FF9}" dt="2025-12-14T20:16:59.805" v="0" actId="1076"/>
      <pc:docMkLst>
        <pc:docMk/>
      </pc:docMkLst>
      <pc:sldChg chg="modSp">
        <pc:chgData name="Adrijan Bilić" userId="S::adrijan.bilic@skole.hr::6f32116f-d823-4038-a568-592b210654da" providerId="AD" clId="Web-{72FEE83F-D3B9-46E2-9E05-4CE251CF2FF9}" dt="2025-12-14T20:16:59.805" v="0" actId="1076"/>
        <pc:sldMkLst>
          <pc:docMk/>
          <pc:sldMk cId="78566129" sldId="256"/>
        </pc:sldMkLst>
        <pc:picChg chg="mod">
          <ac:chgData name="Adrijan Bilić" userId="S::adrijan.bilic@skole.hr::6f32116f-d823-4038-a568-592b210654da" providerId="AD" clId="Web-{72FEE83F-D3B9-46E2-9E05-4CE251CF2FF9}" dt="2025-12-14T20:16:59.805" v="0" actId="1076"/>
          <ac:picMkLst>
            <pc:docMk/>
            <pc:sldMk cId="78566129" sldId="256"/>
            <ac:picMk id="4"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62275" cy="498475"/>
          </a:xfrm>
          <a:prstGeom prst="rect">
            <a:avLst/>
          </a:prstGeom>
        </p:spPr>
        <p:txBody>
          <a:bodyPr vert="horz" lIns="91440" tIns="45720" rIns="91440" bIns="45720" rtlCol="0"/>
          <a:lstStyle>
            <a:lvl1pPr algn="l">
              <a:defRPr sz="1200"/>
            </a:lvl1pPr>
          </a:lstStyle>
          <a:p>
            <a:endParaRPr lang="hr-HR"/>
          </a:p>
        </p:txBody>
      </p:sp>
      <p:sp>
        <p:nvSpPr>
          <p:cNvPr id="3" name="Date Placeholder 2"/>
          <p:cNvSpPr>
            <a:spLocks noGrp="1"/>
          </p:cNvSpPr>
          <p:nvPr>
            <p:ph type="dt" sz="quarter" idx="1"/>
          </p:nvPr>
        </p:nvSpPr>
        <p:spPr>
          <a:xfrm>
            <a:off x="3871913" y="0"/>
            <a:ext cx="2960687" cy="498475"/>
          </a:xfrm>
          <a:prstGeom prst="rect">
            <a:avLst/>
          </a:prstGeom>
        </p:spPr>
        <p:txBody>
          <a:bodyPr vert="horz" lIns="91440" tIns="45720" rIns="91440" bIns="45720" rtlCol="0"/>
          <a:lstStyle>
            <a:lvl1pPr algn="r">
              <a:defRPr sz="1200"/>
            </a:lvl1pPr>
          </a:lstStyle>
          <a:p>
            <a:fld id="{39BA4583-234D-4C7C-BD5B-A095720B3B84}" type="datetimeFigureOut">
              <a:rPr lang="hr-HR" smtClean="0"/>
              <a:pPr/>
              <a:t>14.12.2025.</a:t>
            </a:fld>
            <a:endParaRPr lang="hr-HR"/>
          </a:p>
        </p:txBody>
      </p:sp>
      <p:sp>
        <p:nvSpPr>
          <p:cNvPr id="4" name="Footer Placeholder 3"/>
          <p:cNvSpPr>
            <a:spLocks noGrp="1"/>
          </p:cNvSpPr>
          <p:nvPr>
            <p:ph type="ftr" sz="quarter" idx="2"/>
          </p:nvPr>
        </p:nvSpPr>
        <p:spPr>
          <a:xfrm>
            <a:off x="0" y="9478963"/>
            <a:ext cx="2962275" cy="498475"/>
          </a:xfrm>
          <a:prstGeom prst="rect">
            <a:avLst/>
          </a:prstGeom>
        </p:spPr>
        <p:txBody>
          <a:bodyPr vert="horz" lIns="91440" tIns="45720" rIns="91440" bIns="45720" rtlCol="0" anchor="b"/>
          <a:lstStyle>
            <a:lvl1pPr algn="l">
              <a:defRPr sz="1200"/>
            </a:lvl1pPr>
          </a:lstStyle>
          <a:p>
            <a:endParaRPr lang="hr-HR"/>
          </a:p>
        </p:txBody>
      </p:sp>
      <p:sp>
        <p:nvSpPr>
          <p:cNvPr id="5" name="Slide Number Placeholder 4"/>
          <p:cNvSpPr>
            <a:spLocks noGrp="1"/>
          </p:cNvSpPr>
          <p:nvPr>
            <p:ph type="sldNum" sz="quarter" idx="3"/>
          </p:nvPr>
        </p:nvSpPr>
        <p:spPr>
          <a:xfrm>
            <a:off x="3871913" y="9478963"/>
            <a:ext cx="2960687" cy="498475"/>
          </a:xfrm>
          <a:prstGeom prst="rect">
            <a:avLst/>
          </a:prstGeom>
        </p:spPr>
        <p:txBody>
          <a:bodyPr vert="horz" lIns="91440" tIns="45720" rIns="91440" bIns="45720" rtlCol="0" anchor="b"/>
          <a:lstStyle>
            <a:lvl1pPr algn="r">
              <a:defRPr sz="1200"/>
            </a:lvl1pPr>
          </a:lstStyle>
          <a:p>
            <a:fld id="{D9B59343-547E-4B6E-AE6F-D11BFA7371D1}" type="slidenum">
              <a:rPr lang="hr-HR" smtClean="0"/>
              <a:pPr/>
              <a:t>‹#›</a:t>
            </a:fld>
            <a:endParaRPr lang="hr-HR"/>
          </a:p>
        </p:txBody>
      </p:sp>
    </p:spTree>
    <p:extLst>
      <p:ext uri="{BB962C8B-B14F-4D97-AF65-F5344CB8AC3E}">
        <p14:creationId xmlns:p14="http://schemas.microsoft.com/office/powerpoint/2010/main" val="18012359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61481" cy="498951"/>
          </a:xfrm>
          <a:prstGeom prst="rect">
            <a:avLst/>
          </a:prstGeom>
        </p:spPr>
        <p:txBody>
          <a:bodyPr vert="horz" lIns="91440" tIns="45720" rIns="91440" bIns="45720" rtlCol="0"/>
          <a:lstStyle>
            <a:lvl1pPr algn="l">
              <a:defRPr sz="1200"/>
            </a:lvl1pPr>
          </a:lstStyle>
          <a:p>
            <a:endParaRPr lang="hr-HR"/>
          </a:p>
        </p:txBody>
      </p:sp>
      <p:sp>
        <p:nvSpPr>
          <p:cNvPr id="3" name="Date Placeholder 2"/>
          <p:cNvSpPr>
            <a:spLocks noGrp="1"/>
          </p:cNvSpPr>
          <p:nvPr>
            <p:ph type="dt" idx="1"/>
          </p:nvPr>
        </p:nvSpPr>
        <p:spPr>
          <a:xfrm>
            <a:off x="3871125" y="0"/>
            <a:ext cx="2961481" cy="498951"/>
          </a:xfrm>
          <a:prstGeom prst="rect">
            <a:avLst/>
          </a:prstGeom>
        </p:spPr>
        <p:txBody>
          <a:bodyPr vert="horz" lIns="91440" tIns="45720" rIns="91440" bIns="45720" rtlCol="0"/>
          <a:lstStyle>
            <a:lvl1pPr algn="r">
              <a:defRPr sz="1200"/>
            </a:lvl1pPr>
          </a:lstStyle>
          <a:p>
            <a:fld id="{68F7C12A-4DF7-403B-A283-50D78C81ABE6}" type="datetimeFigureOut">
              <a:rPr lang="hr-HR" smtClean="0"/>
              <a:pPr/>
              <a:t>14.12.2025.</a:t>
            </a:fld>
            <a:endParaRPr lang="hr-HR"/>
          </a:p>
        </p:txBody>
      </p:sp>
      <p:sp>
        <p:nvSpPr>
          <p:cNvPr id="4" name="Slide Image Placeholder 3"/>
          <p:cNvSpPr>
            <a:spLocks noGrp="1" noRot="1" noChangeAspect="1"/>
          </p:cNvSpPr>
          <p:nvPr>
            <p:ph type="sldImg" idx="2"/>
          </p:nvPr>
        </p:nvSpPr>
        <p:spPr>
          <a:xfrm>
            <a:off x="922338" y="747713"/>
            <a:ext cx="4991100" cy="3743325"/>
          </a:xfrm>
          <a:prstGeom prst="rect">
            <a:avLst/>
          </a:prstGeom>
          <a:noFill/>
          <a:ln w="12700">
            <a:solidFill>
              <a:prstClr val="black"/>
            </a:solidFill>
          </a:ln>
        </p:spPr>
        <p:txBody>
          <a:bodyPr vert="horz" lIns="91440" tIns="45720" rIns="91440" bIns="45720" rtlCol="0" anchor="ctr"/>
          <a:lstStyle/>
          <a:p>
            <a:endParaRPr lang="hr-HR"/>
          </a:p>
        </p:txBody>
      </p:sp>
      <p:sp>
        <p:nvSpPr>
          <p:cNvPr id="5" name="Notes Placeholder 4"/>
          <p:cNvSpPr>
            <a:spLocks noGrp="1"/>
          </p:cNvSpPr>
          <p:nvPr>
            <p:ph type="body" sz="quarter" idx="3"/>
          </p:nvPr>
        </p:nvSpPr>
        <p:spPr>
          <a:xfrm>
            <a:off x="683419" y="4740037"/>
            <a:ext cx="5467350" cy="449056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r-HR"/>
          </a:p>
        </p:txBody>
      </p:sp>
      <p:sp>
        <p:nvSpPr>
          <p:cNvPr id="6" name="Footer Placeholder 5"/>
          <p:cNvSpPr>
            <a:spLocks noGrp="1"/>
          </p:cNvSpPr>
          <p:nvPr>
            <p:ph type="ftr" sz="quarter" idx="4"/>
          </p:nvPr>
        </p:nvSpPr>
        <p:spPr>
          <a:xfrm>
            <a:off x="0" y="9478342"/>
            <a:ext cx="2961481" cy="498951"/>
          </a:xfrm>
          <a:prstGeom prst="rect">
            <a:avLst/>
          </a:prstGeom>
        </p:spPr>
        <p:txBody>
          <a:bodyPr vert="horz" lIns="91440" tIns="45720" rIns="91440" bIns="45720" rtlCol="0" anchor="b"/>
          <a:lstStyle>
            <a:lvl1pPr algn="l">
              <a:defRPr sz="1200"/>
            </a:lvl1pPr>
          </a:lstStyle>
          <a:p>
            <a:endParaRPr lang="hr-HR"/>
          </a:p>
        </p:txBody>
      </p:sp>
      <p:sp>
        <p:nvSpPr>
          <p:cNvPr id="7" name="Slide Number Placeholder 6"/>
          <p:cNvSpPr>
            <a:spLocks noGrp="1"/>
          </p:cNvSpPr>
          <p:nvPr>
            <p:ph type="sldNum" sz="quarter" idx="5"/>
          </p:nvPr>
        </p:nvSpPr>
        <p:spPr>
          <a:xfrm>
            <a:off x="3871125" y="9478342"/>
            <a:ext cx="2961481" cy="498951"/>
          </a:xfrm>
          <a:prstGeom prst="rect">
            <a:avLst/>
          </a:prstGeom>
        </p:spPr>
        <p:txBody>
          <a:bodyPr vert="horz" lIns="91440" tIns="45720" rIns="91440" bIns="45720" rtlCol="0" anchor="b"/>
          <a:lstStyle>
            <a:lvl1pPr algn="r">
              <a:defRPr sz="1200"/>
            </a:lvl1pPr>
          </a:lstStyle>
          <a:p>
            <a:fld id="{2EE6B4AA-7FC7-404C-91AE-549D4281B966}" type="slidenum">
              <a:rPr lang="hr-HR" smtClean="0"/>
              <a:pPr/>
              <a:t>‹#›</a:t>
            </a:fld>
            <a:endParaRPr lang="hr-HR"/>
          </a:p>
        </p:txBody>
      </p:sp>
    </p:spTree>
    <p:extLst>
      <p:ext uri="{BB962C8B-B14F-4D97-AF65-F5344CB8AC3E}">
        <p14:creationId xmlns:p14="http://schemas.microsoft.com/office/powerpoint/2010/main" val="185135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r-HR"/>
          </a:p>
        </p:txBody>
      </p:sp>
      <p:sp>
        <p:nvSpPr>
          <p:cNvPr id="4" name="Slide Number Placeholder 3"/>
          <p:cNvSpPr>
            <a:spLocks noGrp="1"/>
          </p:cNvSpPr>
          <p:nvPr>
            <p:ph type="sldNum" sz="quarter" idx="10"/>
          </p:nvPr>
        </p:nvSpPr>
        <p:spPr/>
        <p:txBody>
          <a:bodyPr/>
          <a:lstStyle/>
          <a:p>
            <a:fld id="{2EE6B4AA-7FC7-404C-91AE-549D4281B966}" type="slidenum">
              <a:rPr lang="hr-HR" smtClean="0"/>
              <a:pPr/>
              <a:t>1</a:t>
            </a:fld>
            <a:endParaRPr lang="hr-HR"/>
          </a:p>
        </p:txBody>
      </p:sp>
    </p:spTree>
    <p:extLst>
      <p:ext uri="{BB962C8B-B14F-4D97-AF65-F5344CB8AC3E}">
        <p14:creationId xmlns:p14="http://schemas.microsoft.com/office/powerpoint/2010/main" val="22236020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343BC586-36D9-424D-BD3C-866B8C74720D}" type="slidenum">
              <a:rPr lang="hr-HR"/>
              <a:pPr eaLnBrk="1" hangingPunct="1"/>
              <a:t>2</a:t>
            </a:fld>
            <a:endParaRPr lang="hr-H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343BC586-36D9-424D-BD3C-866B8C74720D}" type="slidenum">
              <a:rPr lang="hr-HR"/>
              <a:pPr eaLnBrk="1" hangingPunct="1"/>
              <a:t>3</a:t>
            </a:fld>
            <a:endParaRPr lang="hr-H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a:p>
        </p:txBody>
      </p:sp>
    </p:spTree>
    <p:extLst>
      <p:ext uri="{BB962C8B-B14F-4D97-AF65-F5344CB8AC3E}">
        <p14:creationId xmlns:p14="http://schemas.microsoft.com/office/powerpoint/2010/main" val="3411561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343BC586-36D9-424D-BD3C-866B8C74720D}" type="slidenum">
              <a:rPr lang="hr-HR"/>
              <a:pPr eaLnBrk="1" hangingPunct="1"/>
              <a:t>4</a:t>
            </a:fld>
            <a:endParaRPr lang="hr-H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a:p>
        </p:txBody>
      </p:sp>
    </p:spTree>
    <p:extLst>
      <p:ext uri="{BB962C8B-B14F-4D97-AF65-F5344CB8AC3E}">
        <p14:creationId xmlns:p14="http://schemas.microsoft.com/office/powerpoint/2010/main" val="3508320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343BC586-36D9-424D-BD3C-866B8C74720D}" type="slidenum">
              <a:rPr lang="hr-HR"/>
              <a:pPr eaLnBrk="1" hangingPunct="1"/>
              <a:t>6</a:t>
            </a:fld>
            <a:endParaRPr lang="hr-H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a:p>
        </p:txBody>
      </p:sp>
    </p:spTree>
    <p:extLst>
      <p:ext uri="{BB962C8B-B14F-4D97-AF65-F5344CB8AC3E}">
        <p14:creationId xmlns:p14="http://schemas.microsoft.com/office/powerpoint/2010/main" val="2398233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F69B849A-BCE5-4904-A180-A8CE4D5D2741}" type="slidenum">
              <a:rPr lang="hr-HR"/>
              <a:pPr eaLnBrk="1" hangingPunct="1"/>
              <a:t>8</a:t>
            </a:fld>
            <a:endParaRPr lang="hr-H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3DB85655-6834-4896-BEC9-3DF99AC9D42F}" type="slidenum">
              <a:rPr lang="hr-HR"/>
              <a:pPr eaLnBrk="1" hangingPunct="1"/>
              <a:t>9</a:t>
            </a:fld>
            <a:endParaRPr lang="hr-H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0C4634-75E1-4836-A07A-8705F3E496BA}" type="slidenum">
              <a:rPr lang="hr-HR"/>
              <a:pPr/>
              <a:t>10</a:t>
            </a:fld>
            <a:endParaRPr lang="hr-HR"/>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A786AD9F-11C8-4D6B-B4F9-48C687B984D0}" type="slidenum">
              <a:rPr lang="hr-HR"/>
              <a:pPr eaLnBrk="1" hangingPunct="1"/>
              <a:t>11</a:t>
            </a:fld>
            <a:endParaRPr lang="hr-H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0C7D8F92-F303-4147-B0B8-43246132F568}" type="slidenum">
              <a:rPr lang="hr-HR"/>
              <a:pPr eaLnBrk="1" hangingPunct="1"/>
              <a:t>12</a:t>
            </a:fld>
            <a:endParaRPr lang="hr-H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eaLnBrk="1" hangingPunct="1"/>
            <a:fld id="{DC8DB64D-9C57-49FC-A382-9DAA6F26D3C0}" type="slidenum">
              <a:rPr lang="hr-HR"/>
              <a:pPr eaLnBrk="1" hangingPunct="1"/>
              <a:t>15</a:t>
            </a:fld>
            <a:endParaRPr lang="hr-H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F26BEB08-B0C2-45E8-8318-CFD0EF8EE004}" type="datetimeFigureOut">
              <a:rPr lang="hr-HR" smtClean="0"/>
              <a:pPr/>
              <a:t>14.12.2025.</a:t>
            </a:fld>
            <a:endParaRPr lang="hr-HR"/>
          </a:p>
        </p:txBody>
      </p:sp>
      <p:sp>
        <p:nvSpPr>
          <p:cNvPr id="17" name="Footer Placeholder 16"/>
          <p:cNvSpPr>
            <a:spLocks noGrp="1"/>
          </p:cNvSpPr>
          <p:nvPr>
            <p:ph type="ftr" sz="quarter" idx="11"/>
          </p:nvPr>
        </p:nvSpPr>
        <p:spPr>
          <a:xfrm>
            <a:off x="2898648" y="6355080"/>
            <a:ext cx="3474720" cy="365760"/>
          </a:xfrm>
        </p:spPr>
        <p:txBody>
          <a:bodyPr/>
          <a:lstStyle/>
          <a:p>
            <a:endParaRPr lang="hr-HR"/>
          </a:p>
        </p:txBody>
      </p:sp>
      <p:sp>
        <p:nvSpPr>
          <p:cNvPr id="29" name="Slide Number Placeholder 28"/>
          <p:cNvSpPr>
            <a:spLocks noGrp="1"/>
          </p:cNvSpPr>
          <p:nvPr>
            <p:ph type="sldNum" sz="quarter" idx="12"/>
          </p:nvPr>
        </p:nvSpPr>
        <p:spPr>
          <a:xfrm>
            <a:off x="1216152" y="6355080"/>
            <a:ext cx="1219200" cy="365760"/>
          </a:xfrm>
        </p:spPr>
        <p:txBody>
          <a:bodyPr/>
          <a:lstStyle/>
          <a:p>
            <a:fld id="{1AB60E86-8D67-4FDC-9E77-73D5ED035159}" type="slidenum">
              <a:rPr lang="hr-HR" smtClean="0"/>
              <a:pPr/>
              <a:t>‹#›</a:t>
            </a:fld>
            <a:endParaRPr lang="hr-H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F26BEB08-B0C2-45E8-8318-CFD0EF8EE004}" type="datetimeFigureOut">
              <a:rPr lang="hr-HR" smtClean="0"/>
              <a:pPr/>
              <a:t>14.12.2025.</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1AB60E86-8D67-4FDC-9E77-73D5ED035159}" type="slidenum">
              <a:rPr lang="hr-HR" smtClean="0"/>
              <a:pPr/>
              <a:t>‹#›</a:t>
            </a:fld>
            <a:endParaRPr lang="hr-H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F26BEB08-B0C2-45E8-8318-CFD0EF8EE004}" type="datetimeFigureOut">
              <a:rPr lang="hr-HR" smtClean="0"/>
              <a:pPr/>
              <a:t>14.12.2025.</a:t>
            </a:fld>
            <a:endParaRPr lang="hr-HR"/>
          </a:p>
        </p:txBody>
      </p:sp>
      <p:sp>
        <p:nvSpPr>
          <p:cNvPr id="5" name="Footer Placeholder 4"/>
          <p:cNvSpPr>
            <a:spLocks noGrp="1"/>
          </p:cNvSpPr>
          <p:nvPr>
            <p:ph type="ftr" sz="quarter" idx="11"/>
          </p:nvPr>
        </p:nvSpPr>
        <p:spPr>
          <a:xfrm>
            <a:off x="2898648" y="6355080"/>
            <a:ext cx="3474720" cy="365760"/>
          </a:xfrm>
        </p:spPr>
        <p:txBody>
          <a:bodyPr/>
          <a:lstStyle/>
          <a:p>
            <a:endParaRPr lang="hr-HR"/>
          </a:p>
        </p:txBody>
      </p:sp>
      <p:sp>
        <p:nvSpPr>
          <p:cNvPr id="6" name="Slide Number Placeholder 5"/>
          <p:cNvSpPr>
            <a:spLocks noGrp="1"/>
          </p:cNvSpPr>
          <p:nvPr>
            <p:ph type="sldNum" sz="quarter" idx="12"/>
          </p:nvPr>
        </p:nvSpPr>
        <p:spPr>
          <a:xfrm>
            <a:off x="1069848" y="6355080"/>
            <a:ext cx="1520952" cy="365760"/>
          </a:xfrm>
        </p:spPr>
        <p:txBody>
          <a:bodyPr/>
          <a:lstStyle/>
          <a:p>
            <a:fld id="{1AB60E86-8D67-4FDC-9E77-73D5ED035159}" type="slidenum">
              <a:rPr lang="hr-HR" smtClean="0"/>
              <a:pPr/>
              <a:t>‹#›</a:t>
            </a:fld>
            <a:endParaRPr lang="hr-H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F26BEB08-B0C2-45E8-8318-CFD0EF8EE004}" type="datetimeFigureOut">
              <a:rPr lang="hr-HR" smtClean="0"/>
              <a:pPr/>
              <a:t>14.12.2025.</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1AB60E86-8D67-4FDC-9E77-73D5ED035159}" type="slidenum">
              <a:rPr lang="hr-HR" smtClean="0"/>
              <a:pPr/>
              <a:t>‹#›</a:t>
            </a:fld>
            <a:endParaRPr lang="hr-H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F26BEB08-B0C2-45E8-8318-CFD0EF8EE004}" type="datetimeFigureOut">
              <a:rPr lang="hr-HR" smtClean="0"/>
              <a:pPr/>
              <a:t>14.12.2025.</a:t>
            </a:fld>
            <a:endParaRPr lang="hr-HR"/>
          </a:p>
        </p:txBody>
      </p:sp>
      <p:sp>
        <p:nvSpPr>
          <p:cNvPr id="8" name="Footer Placeholder 7"/>
          <p:cNvSpPr>
            <a:spLocks noGrp="1"/>
          </p:cNvSpPr>
          <p:nvPr>
            <p:ph type="ftr" sz="quarter" idx="11"/>
          </p:nvPr>
        </p:nvSpPr>
        <p:spPr/>
        <p:txBody>
          <a:bodyPr/>
          <a:lstStyle/>
          <a:p>
            <a:endParaRPr lang="hr-HR"/>
          </a:p>
        </p:txBody>
      </p:sp>
      <p:sp>
        <p:nvSpPr>
          <p:cNvPr id="9" name="Slide Number Placeholder 8"/>
          <p:cNvSpPr>
            <a:spLocks noGrp="1"/>
          </p:cNvSpPr>
          <p:nvPr>
            <p:ph type="sldNum" sz="quarter" idx="12"/>
          </p:nvPr>
        </p:nvSpPr>
        <p:spPr/>
        <p:txBody>
          <a:bodyPr/>
          <a:lstStyle/>
          <a:p>
            <a:fld id="{1AB60E86-8D67-4FDC-9E77-73D5ED035159}" type="slidenum">
              <a:rPr lang="hr-HR" smtClean="0"/>
              <a:pPr/>
              <a:t>‹#›</a:t>
            </a:fld>
            <a:endParaRPr lang="hr-H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F26BEB08-B0C2-45E8-8318-CFD0EF8EE004}" type="datetimeFigureOut">
              <a:rPr lang="hr-HR" smtClean="0"/>
              <a:pPr/>
              <a:t>14.12.2025.</a:t>
            </a:fld>
            <a:endParaRPr lang="hr-HR"/>
          </a:p>
        </p:txBody>
      </p:sp>
      <p:sp>
        <p:nvSpPr>
          <p:cNvPr id="4" name="Footer Placeholder 3"/>
          <p:cNvSpPr>
            <a:spLocks noGrp="1"/>
          </p:cNvSpPr>
          <p:nvPr>
            <p:ph type="ftr" sz="quarter" idx="11"/>
          </p:nvPr>
        </p:nvSpPr>
        <p:spPr/>
        <p:txBody>
          <a:bodyPr/>
          <a:lstStyle/>
          <a:p>
            <a:endParaRPr lang="hr-HR"/>
          </a:p>
        </p:txBody>
      </p:sp>
      <p:sp>
        <p:nvSpPr>
          <p:cNvPr id="5" name="Slide Number Placeholder 4"/>
          <p:cNvSpPr>
            <a:spLocks noGrp="1"/>
          </p:cNvSpPr>
          <p:nvPr>
            <p:ph type="sldNum" sz="quarter" idx="12"/>
          </p:nvPr>
        </p:nvSpPr>
        <p:spPr/>
        <p:txBody>
          <a:bodyPr/>
          <a:lstStyle/>
          <a:p>
            <a:fld id="{1AB60E86-8D67-4FDC-9E77-73D5ED035159}" type="slidenum">
              <a:rPr lang="hr-HR" smtClean="0"/>
              <a:pPr/>
              <a:t>‹#›</a:t>
            </a:fld>
            <a:endParaRPr lang="hr-H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6BEB08-B0C2-45E8-8318-CFD0EF8EE004}" type="datetimeFigureOut">
              <a:rPr lang="hr-HR" smtClean="0"/>
              <a:pPr/>
              <a:t>14.12.2025.</a:t>
            </a:fld>
            <a:endParaRPr lang="hr-HR"/>
          </a:p>
        </p:txBody>
      </p:sp>
      <p:sp>
        <p:nvSpPr>
          <p:cNvPr id="3" name="Footer Placeholder 2"/>
          <p:cNvSpPr>
            <a:spLocks noGrp="1"/>
          </p:cNvSpPr>
          <p:nvPr>
            <p:ph type="ftr" sz="quarter" idx="11"/>
          </p:nvPr>
        </p:nvSpPr>
        <p:spPr/>
        <p:txBody>
          <a:bodyPr/>
          <a:lstStyle/>
          <a:p>
            <a:endParaRPr lang="hr-HR"/>
          </a:p>
        </p:txBody>
      </p:sp>
      <p:sp>
        <p:nvSpPr>
          <p:cNvPr id="4" name="Slide Number Placeholder 3"/>
          <p:cNvSpPr>
            <a:spLocks noGrp="1"/>
          </p:cNvSpPr>
          <p:nvPr>
            <p:ph type="sldNum" sz="quarter" idx="12"/>
          </p:nvPr>
        </p:nvSpPr>
        <p:spPr/>
        <p:txBody>
          <a:bodyPr/>
          <a:lstStyle/>
          <a:p>
            <a:fld id="{1AB60E86-8D67-4FDC-9E77-73D5ED035159}" type="slidenum">
              <a:rPr lang="hr-HR" smtClean="0"/>
              <a:pPr/>
              <a:t>‹#›</a:t>
            </a:fld>
            <a:endParaRPr lang="hr-H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F26BEB08-B0C2-45E8-8318-CFD0EF8EE004}" type="datetimeFigureOut">
              <a:rPr lang="hr-HR" smtClean="0"/>
              <a:pPr/>
              <a:t>14.12.2025.</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1AB60E86-8D67-4FDC-9E77-73D5ED035159}" type="slidenum">
              <a:rPr lang="hr-HR" smtClean="0"/>
              <a:pPr/>
              <a:t>‹#›</a:t>
            </a:fld>
            <a:endParaRPr lang="hr-H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F26BEB08-B0C2-45E8-8318-CFD0EF8EE004}" type="datetimeFigureOut">
              <a:rPr lang="hr-HR" smtClean="0"/>
              <a:pPr/>
              <a:t>14.12.2025.</a:t>
            </a:fld>
            <a:endParaRPr lang="hr-HR"/>
          </a:p>
        </p:txBody>
      </p:sp>
      <p:sp>
        <p:nvSpPr>
          <p:cNvPr id="6" name="Footer Placeholder 5"/>
          <p:cNvSpPr>
            <a:spLocks noGrp="1"/>
          </p:cNvSpPr>
          <p:nvPr>
            <p:ph type="ftr" sz="quarter" idx="11"/>
          </p:nvPr>
        </p:nvSpPr>
        <p:spPr/>
        <p:txBody>
          <a:bodyPr/>
          <a:lstStyle/>
          <a:p>
            <a:endParaRPr lang="hr-HR"/>
          </a:p>
        </p:txBody>
      </p:sp>
      <p:sp>
        <p:nvSpPr>
          <p:cNvPr id="7" name="Slide Number Placeholder 6"/>
          <p:cNvSpPr>
            <a:spLocks noGrp="1"/>
          </p:cNvSpPr>
          <p:nvPr>
            <p:ph type="sldNum" sz="quarter" idx="12"/>
          </p:nvPr>
        </p:nvSpPr>
        <p:spPr/>
        <p:txBody>
          <a:bodyPr/>
          <a:lstStyle/>
          <a:p>
            <a:fld id="{1AB60E86-8D67-4FDC-9E77-73D5ED035159}" type="slidenum">
              <a:rPr lang="hr-HR" smtClean="0"/>
              <a:pPr/>
              <a:t>‹#›</a:t>
            </a:fld>
            <a:endParaRPr lang="hr-H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26BEB08-B0C2-45E8-8318-CFD0EF8EE004}" type="datetimeFigureOut">
              <a:rPr lang="hr-HR" smtClean="0"/>
              <a:pPr/>
              <a:t>14.12.2025.</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1AB60E86-8D67-4FDC-9E77-73D5ED035159}" type="slidenum">
              <a:rPr lang="hr-HR" smtClean="0"/>
              <a:pPr/>
              <a:t>‹#›</a:t>
            </a:fld>
            <a:endParaRPr lang="hr-H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26BEB08-B0C2-45E8-8318-CFD0EF8EE004}" type="datetimeFigureOut">
              <a:rPr lang="hr-HR" smtClean="0"/>
              <a:pPr/>
              <a:t>14.12.2025.</a:t>
            </a:fld>
            <a:endParaRPr lang="hr-HR"/>
          </a:p>
        </p:txBody>
      </p:sp>
      <p:sp>
        <p:nvSpPr>
          <p:cNvPr id="5" name="Footer Placeholder 4"/>
          <p:cNvSpPr>
            <a:spLocks noGrp="1"/>
          </p:cNvSpPr>
          <p:nvPr>
            <p:ph type="ftr" sz="quarter" idx="11"/>
          </p:nvPr>
        </p:nvSpPr>
        <p:spPr/>
        <p:txBody>
          <a:bodyPr/>
          <a:lstStyle/>
          <a:p>
            <a:endParaRPr lang="hr-HR"/>
          </a:p>
        </p:txBody>
      </p:sp>
      <p:sp>
        <p:nvSpPr>
          <p:cNvPr id="6" name="Slide Number Placeholder 5"/>
          <p:cNvSpPr>
            <a:spLocks noGrp="1"/>
          </p:cNvSpPr>
          <p:nvPr>
            <p:ph type="sldNum" sz="quarter" idx="12"/>
          </p:nvPr>
        </p:nvSpPr>
        <p:spPr/>
        <p:txBody>
          <a:bodyPr/>
          <a:lstStyle/>
          <a:p>
            <a:fld id="{1AB60E86-8D67-4FDC-9E77-73D5ED035159}" type="slidenum">
              <a:rPr lang="hr-HR" smtClean="0"/>
              <a:pPr/>
              <a:t>‹#›</a:t>
            </a:fld>
            <a:endParaRPr lang="hr-H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F26BEB08-B0C2-45E8-8318-CFD0EF8EE004}" type="datetimeFigureOut">
              <a:rPr lang="hr-HR" smtClean="0"/>
              <a:pPr/>
              <a:t>14.12.2025.</a:t>
            </a:fld>
            <a:endParaRPr lang="hr-H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hr-H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1AB60E86-8D67-4FDC-9E77-73D5ED035159}" type="slidenum">
              <a:rPr lang="hr-HR" smtClean="0"/>
              <a:pPr/>
              <a:t>‹#›</a:t>
            </a:fld>
            <a:endParaRPr lang="hr-H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734544"/>
            <a:ext cx="7128792" cy="990600"/>
          </a:xfrm>
        </p:spPr>
        <p:txBody>
          <a:bodyPr>
            <a:noAutofit/>
          </a:bodyPr>
          <a:lstStyle/>
          <a:p>
            <a:r>
              <a:rPr lang="hr-HR" sz="3600" b="1" dirty="0">
                <a:solidFill>
                  <a:schemeClr val="hlink"/>
                </a:solidFill>
              </a:rPr>
              <a:t>FIZIČKI SLOJ</a:t>
            </a:r>
            <a:br>
              <a:rPr lang="hr-HR" sz="3600" dirty="0">
                <a:solidFill>
                  <a:schemeClr val="hlink"/>
                </a:solidFill>
              </a:rPr>
            </a:br>
            <a:r>
              <a:rPr lang="hr-HR" sz="3600" dirty="0" err="1">
                <a:solidFill>
                  <a:schemeClr val="hlink"/>
                </a:solidFill>
              </a:rPr>
              <a:t>Kabeliranje</a:t>
            </a:r>
            <a:r>
              <a:rPr lang="hr-HR" sz="3600" dirty="0">
                <a:solidFill>
                  <a:schemeClr val="hlink"/>
                </a:solidFill>
              </a:rPr>
              <a:t> LAN mreža</a:t>
            </a:r>
          </a:p>
        </p:txBody>
      </p:sp>
      <p:sp>
        <p:nvSpPr>
          <p:cNvPr id="3" name="Subtitle 2"/>
          <p:cNvSpPr>
            <a:spLocks noGrp="1"/>
          </p:cNvSpPr>
          <p:nvPr>
            <p:ph type="subTitle" idx="1"/>
          </p:nvPr>
        </p:nvSpPr>
        <p:spPr/>
        <p:txBody>
          <a:bodyPr/>
          <a:lstStyle/>
          <a:p>
            <a:r>
              <a:rPr lang="hr-HR"/>
              <a:t>Uvod u </a:t>
            </a:r>
            <a:r>
              <a:rPr lang="hr-HR" dirty="0"/>
              <a:t>r</a:t>
            </a:r>
            <a:r>
              <a:rPr lang="hr-HR"/>
              <a:t>ačunalne </a:t>
            </a:r>
            <a:r>
              <a:rPr lang="hr-HR" dirty="0"/>
              <a:t>mreže</a:t>
            </a:r>
          </a:p>
        </p:txBody>
      </p:sp>
      <p:pic>
        <p:nvPicPr>
          <p:cNvPr id="4"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19" y="17188"/>
            <a:ext cx="9123362"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566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7" name="Rectangle 5"/>
          <p:cNvSpPr>
            <a:spLocks noGrp="1" noChangeArrowheads="1"/>
          </p:cNvSpPr>
          <p:nvPr>
            <p:ph type="body" idx="1"/>
          </p:nvPr>
        </p:nvSpPr>
        <p:spPr>
          <a:xfrm>
            <a:off x="457200" y="1190631"/>
            <a:ext cx="8329642" cy="4758649"/>
          </a:xfrm>
        </p:spPr>
        <p:txBody>
          <a:bodyPr>
            <a:noAutofit/>
          </a:bodyPr>
          <a:lstStyle/>
          <a:p>
            <a:r>
              <a:rPr lang="hr-HR" sz="3200" dirty="0">
                <a:latin typeface="Calibri" pitchFamily="34" charset="0"/>
              </a:rPr>
              <a:t>Sistematski pristup kabliranju</a:t>
            </a:r>
          </a:p>
          <a:p>
            <a:r>
              <a:rPr lang="hr-HR" sz="3200" dirty="0">
                <a:latin typeface="Calibri" pitchFamily="34" charset="0"/>
              </a:rPr>
              <a:t>Kreiranje hijerarhijski organizirane kabelske infrastrukture </a:t>
            </a:r>
          </a:p>
          <a:p>
            <a:r>
              <a:rPr lang="hr-HR" sz="3200" dirty="0">
                <a:latin typeface="Calibri" pitchFamily="34" charset="0"/>
              </a:rPr>
              <a:t>Pravila:</a:t>
            </a:r>
          </a:p>
          <a:p>
            <a:pPr lvl="1"/>
            <a:r>
              <a:rPr lang="hr-HR" sz="2400" dirty="0">
                <a:latin typeface="Calibri" pitchFamily="34" charset="0"/>
              </a:rPr>
              <a:t>Osigurati potpunu povezanost u skladu sa standardima</a:t>
            </a:r>
          </a:p>
          <a:p>
            <a:pPr lvl="1"/>
            <a:r>
              <a:rPr lang="hr-HR" sz="2400" dirty="0">
                <a:latin typeface="Calibri" pitchFamily="34" charset="0"/>
              </a:rPr>
              <a:t>Osigurati skalabilnost mreže</a:t>
            </a:r>
          </a:p>
          <a:p>
            <a:pPr lvl="1"/>
            <a:r>
              <a:rPr lang="hr-HR" sz="2400" dirty="0">
                <a:latin typeface="Calibri" pitchFamily="34" charset="0"/>
              </a:rPr>
              <a:t>Uzeti u obzir troškove (instalacija, održavanje i nadogradnja) i osigurati dugotrajnu funkcionalnost mreže</a:t>
            </a:r>
          </a:p>
          <a:p>
            <a:pPr lvl="1"/>
            <a:r>
              <a:rPr lang="hr-HR" sz="2400" dirty="0">
                <a:latin typeface="Calibri" pitchFamily="34" charset="0"/>
              </a:rPr>
              <a:t>Izbjegavati nestandardizirane proizvode</a:t>
            </a:r>
          </a:p>
          <a:p>
            <a:pPr eaLnBrk="1" hangingPunct="1">
              <a:buFont typeface="Wingdings" pitchFamily="2" charset="2"/>
              <a:buNone/>
            </a:pPr>
            <a:endParaRPr lang="hr-HR" sz="3200" dirty="0">
              <a:latin typeface="Calibri" pitchFamily="34" charset="0"/>
            </a:endParaRPr>
          </a:p>
        </p:txBody>
      </p:sp>
      <p:sp>
        <p:nvSpPr>
          <p:cNvPr id="3" name="Title 1">
            <a:extLst>
              <a:ext uri="{FF2B5EF4-FFF2-40B4-BE49-F238E27FC236}">
                <a16:creationId xmlns:a16="http://schemas.microsoft.com/office/drawing/2014/main" id="{284BC8D9-2262-4293-A9E4-9FA386932197}"/>
              </a:ext>
            </a:extLst>
          </p:cNvPr>
          <p:cNvSpPr>
            <a:spLocks noGrp="1"/>
          </p:cNvSpPr>
          <p:nvPr>
            <p:ph type="title"/>
          </p:nvPr>
        </p:nvSpPr>
        <p:spPr>
          <a:xfrm>
            <a:off x="526092" y="152400"/>
            <a:ext cx="8160707" cy="987468"/>
          </a:xfrm>
        </p:spPr>
        <p:txBody>
          <a:bodyPr/>
          <a:lstStyle/>
          <a:p>
            <a:r>
              <a:rPr lang="hr-HR" dirty="0">
                <a:solidFill>
                  <a:schemeClr val="hlink"/>
                </a:solidFill>
                <a:latin typeface="Arial" charset="0"/>
              </a:rPr>
              <a:t>Strukturno kabliranje</a:t>
            </a:r>
          </a:p>
        </p:txBody>
      </p:sp>
    </p:spTree>
    <p:extLst>
      <p:ext uri="{BB962C8B-B14F-4D97-AF65-F5344CB8AC3E}">
        <p14:creationId xmlns:p14="http://schemas.microsoft.com/office/powerpoint/2010/main" val="56092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7" name="Rectangle 5"/>
          <p:cNvSpPr>
            <a:spLocks noGrp="1" noChangeArrowheads="1"/>
          </p:cNvSpPr>
          <p:nvPr>
            <p:ph type="body" idx="1"/>
          </p:nvPr>
        </p:nvSpPr>
        <p:spPr>
          <a:xfrm>
            <a:off x="457200" y="1190631"/>
            <a:ext cx="8329642" cy="4758649"/>
          </a:xfrm>
        </p:spPr>
        <p:txBody>
          <a:bodyPr>
            <a:noAutofit/>
          </a:bodyPr>
          <a:lstStyle/>
          <a:p>
            <a:pPr eaLnBrk="1" hangingPunct="1"/>
            <a:r>
              <a:rPr lang="hr-HR" sz="3200" dirty="0">
                <a:latin typeface="Calibri" pitchFamily="34" charset="0"/>
              </a:rPr>
              <a:t>Pri kabliranju LAN mreže vodi se računa o 4 područja:</a:t>
            </a:r>
          </a:p>
          <a:p>
            <a:pPr lvl="1"/>
            <a:r>
              <a:rPr lang="hr-HR" sz="2900" dirty="0">
                <a:latin typeface="Calibri" pitchFamily="34" charset="0"/>
              </a:rPr>
              <a:t>Radno područje</a:t>
            </a:r>
          </a:p>
          <a:p>
            <a:pPr lvl="1"/>
            <a:r>
              <a:rPr lang="hr-HR" sz="2900" dirty="0">
                <a:latin typeface="Calibri" pitchFamily="34" charset="0"/>
              </a:rPr>
              <a:t>Telekomunikacijska soba</a:t>
            </a:r>
          </a:p>
          <a:p>
            <a:pPr lvl="1"/>
            <a:r>
              <a:rPr lang="hr-HR" sz="2900" dirty="0">
                <a:latin typeface="Calibri" pitchFamily="34" charset="0"/>
              </a:rPr>
              <a:t>Horizontalno </a:t>
            </a:r>
            <a:r>
              <a:rPr lang="hr-HR" sz="2900" dirty="0" err="1">
                <a:latin typeface="Calibri" pitchFamily="34" charset="0"/>
              </a:rPr>
              <a:t>kabeliranje</a:t>
            </a:r>
            <a:endParaRPr lang="hr-HR" sz="2900" dirty="0">
              <a:latin typeface="Calibri" pitchFamily="34" charset="0"/>
            </a:endParaRPr>
          </a:p>
          <a:p>
            <a:pPr lvl="1"/>
            <a:r>
              <a:rPr lang="hr-HR" sz="2900" dirty="0">
                <a:latin typeface="Calibri" pitchFamily="34" charset="0"/>
              </a:rPr>
              <a:t>Vertikalno </a:t>
            </a:r>
            <a:r>
              <a:rPr lang="hr-HR" sz="2900" dirty="0" err="1">
                <a:latin typeface="Calibri" pitchFamily="34" charset="0"/>
              </a:rPr>
              <a:t>kabeliranje</a:t>
            </a:r>
            <a:endParaRPr lang="hr-HR" sz="2900" dirty="0">
              <a:latin typeface="Calibri" pitchFamily="34" charset="0"/>
            </a:endParaRPr>
          </a:p>
          <a:p>
            <a:pPr marL="0" indent="0" eaLnBrk="1" hangingPunct="1">
              <a:buNone/>
            </a:pPr>
            <a:endParaRPr lang="hr-HR" sz="3200" dirty="0">
              <a:latin typeface="Calibri" pitchFamily="34" charset="0"/>
            </a:endParaRPr>
          </a:p>
          <a:p>
            <a:pPr eaLnBrk="1" hangingPunct="1">
              <a:buFont typeface="Wingdings" pitchFamily="2" charset="2"/>
              <a:buNone/>
            </a:pPr>
            <a:endParaRPr lang="hr-HR" sz="3200" dirty="0">
              <a:latin typeface="Calibri" pitchFamily="34" charset="0"/>
            </a:endParaRPr>
          </a:p>
        </p:txBody>
      </p:sp>
    </p:spTree>
    <p:extLst>
      <p:ext uri="{BB962C8B-B14F-4D97-AF65-F5344CB8AC3E}">
        <p14:creationId xmlns:p14="http://schemas.microsoft.com/office/powerpoint/2010/main" val="2699904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ka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515" y="476672"/>
            <a:ext cx="8712969" cy="6231427"/>
          </a:xfrm>
          <a:prstGeom prst="rect">
            <a:avLst/>
          </a:prstGeom>
        </p:spPr>
      </p:pic>
    </p:spTree>
    <p:extLst>
      <p:ext uri="{BB962C8B-B14F-4D97-AF65-F5344CB8AC3E}">
        <p14:creationId xmlns:p14="http://schemas.microsoft.com/office/powerpoint/2010/main" val="691720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B300DC9A-273C-4E3F-9276-9DAB8F675AE7}"/>
              </a:ext>
            </a:extLst>
          </p:cNvPr>
          <p:cNvSpPr>
            <a:spLocks noGrp="1"/>
          </p:cNvSpPr>
          <p:nvPr>
            <p:ph type="title"/>
          </p:nvPr>
        </p:nvSpPr>
        <p:spPr/>
        <p:txBody>
          <a:bodyPr/>
          <a:lstStyle/>
          <a:p>
            <a:endParaRPr lang="hr-HR"/>
          </a:p>
        </p:txBody>
      </p:sp>
      <p:sp>
        <p:nvSpPr>
          <p:cNvPr id="3" name="Rezervirano mjesto sadržaja 2">
            <a:extLst>
              <a:ext uri="{FF2B5EF4-FFF2-40B4-BE49-F238E27FC236}">
                <a16:creationId xmlns:a16="http://schemas.microsoft.com/office/drawing/2014/main" id="{30CB9647-63D9-47BD-87C7-F083DC354075}"/>
              </a:ext>
            </a:extLst>
          </p:cNvPr>
          <p:cNvSpPr>
            <a:spLocks noGrp="1"/>
          </p:cNvSpPr>
          <p:nvPr>
            <p:ph sz="quarter" idx="1"/>
          </p:nvPr>
        </p:nvSpPr>
        <p:spPr/>
        <p:txBody>
          <a:bodyPr>
            <a:normAutofit/>
          </a:bodyPr>
          <a:lstStyle/>
          <a:p>
            <a:pPr>
              <a:defRPr/>
            </a:pPr>
            <a:r>
              <a:rPr lang="hr-HR" sz="2800" dirty="0">
                <a:latin typeface="Calibri" pitchFamily="34" charset="0"/>
              </a:rPr>
              <a:t>Računalo se na LAN spaja pomoću posebnog hardverskog sklopa – mrežnog ili LAN sučelja</a:t>
            </a:r>
          </a:p>
          <a:p>
            <a:pPr>
              <a:defRPr/>
            </a:pPr>
            <a:r>
              <a:rPr lang="hr-HR" sz="2800" dirty="0">
                <a:latin typeface="Calibri" pitchFamily="34" charset="0"/>
              </a:rPr>
              <a:t>LAN sučelje preuzima poslove praćenja prometa na mreži, slanja i primanja okvira, te tako rasterećuje procesor računala</a:t>
            </a:r>
          </a:p>
          <a:p>
            <a:pPr>
              <a:defRPr/>
            </a:pPr>
            <a:r>
              <a:rPr lang="hr-HR" sz="2800" dirty="0">
                <a:latin typeface="Calibri" pitchFamily="34" charset="0"/>
              </a:rPr>
              <a:t>LAN sučelje realizirano je kao </a:t>
            </a:r>
            <a:r>
              <a:rPr lang="hr-HR" sz="2800" b="1" dirty="0">
                <a:latin typeface="Calibri" pitchFamily="34" charset="0"/>
              </a:rPr>
              <a:t>mrežna kartica </a:t>
            </a:r>
            <a:r>
              <a:rPr lang="hr-HR" sz="2800" dirty="0">
                <a:latin typeface="Calibri" pitchFamily="34" charset="0"/>
              </a:rPr>
              <a:t>(network interface </a:t>
            </a:r>
            <a:r>
              <a:rPr lang="hr-HR" sz="2800" dirty="0" err="1">
                <a:latin typeface="Calibri" pitchFamily="34" charset="0"/>
              </a:rPr>
              <a:t>card</a:t>
            </a:r>
            <a:r>
              <a:rPr lang="hr-HR" sz="2800" dirty="0">
                <a:latin typeface="Calibri" pitchFamily="34" charset="0"/>
              </a:rPr>
              <a:t>/</a:t>
            </a:r>
            <a:r>
              <a:rPr lang="hr-HR" sz="2800" dirty="0" err="1">
                <a:latin typeface="Calibri" pitchFamily="34" charset="0"/>
              </a:rPr>
              <a:t>controller</a:t>
            </a:r>
            <a:r>
              <a:rPr lang="hr-HR" sz="2800" dirty="0">
                <a:latin typeface="Calibri" pitchFamily="34" charset="0"/>
              </a:rPr>
              <a:t> – NIC)</a:t>
            </a:r>
          </a:p>
          <a:p>
            <a:endParaRPr lang="hr-HR" dirty="0"/>
          </a:p>
        </p:txBody>
      </p:sp>
    </p:spTree>
    <p:extLst>
      <p:ext uri="{BB962C8B-B14F-4D97-AF65-F5344CB8AC3E}">
        <p14:creationId xmlns:p14="http://schemas.microsoft.com/office/powerpoint/2010/main" val="3732126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aslov 2">
            <a:extLst>
              <a:ext uri="{FF2B5EF4-FFF2-40B4-BE49-F238E27FC236}">
                <a16:creationId xmlns:a16="http://schemas.microsoft.com/office/drawing/2014/main" id="{DD3F296B-17EC-42E3-8DA9-1EBD911686E9}"/>
              </a:ext>
            </a:extLst>
          </p:cNvPr>
          <p:cNvSpPr>
            <a:spLocks noGrp="1"/>
          </p:cNvSpPr>
          <p:nvPr>
            <p:ph type="title"/>
          </p:nvPr>
        </p:nvSpPr>
        <p:spPr/>
        <p:txBody>
          <a:bodyPr/>
          <a:lstStyle/>
          <a:p>
            <a:endParaRPr lang="hr-HR"/>
          </a:p>
        </p:txBody>
      </p:sp>
      <p:sp>
        <p:nvSpPr>
          <p:cNvPr id="74757" name="Rectangle 5"/>
          <p:cNvSpPr>
            <a:spLocks noGrp="1" noChangeArrowheads="1"/>
          </p:cNvSpPr>
          <p:nvPr>
            <p:ph type="body" idx="1"/>
          </p:nvPr>
        </p:nvSpPr>
        <p:spPr/>
        <p:txBody>
          <a:bodyPr/>
          <a:lstStyle/>
          <a:p>
            <a:r>
              <a:rPr lang="hr-HR" dirty="0">
                <a:latin typeface="Calibri" pitchFamily="34" charset="0"/>
              </a:rPr>
              <a:t>U računalnim mrežama najviše se koriste UTP kabeli</a:t>
            </a:r>
          </a:p>
          <a:p>
            <a:r>
              <a:rPr lang="hr-HR" dirty="0">
                <a:latin typeface="Calibri" pitchFamily="34" charset="0"/>
              </a:rPr>
              <a:t>Međunarodni standardi propisuju ožičenje, odnosno shemu rasporeda žica - dva načina ožičenja: T568A i T568B</a:t>
            </a:r>
          </a:p>
          <a:p>
            <a:endParaRPr lang="hr-HR" dirty="0"/>
          </a:p>
          <a:p>
            <a:endParaRPr lang="hr-HR" dirty="0"/>
          </a:p>
        </p:txBody>
      </p:sp>
      <p:pic>
        <p:nvPicPr>
          <p:cNvPr id="7475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4833" y="2825171"/>
            <a:ext cx="5832475" cy="331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6530230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4757">
                                            <p:txEl>
                                              <p:pRg st="1" end="1"/>
                                            </p:txEl>
                                          </p:spTgt>
                                        </p:tgtEl>
                                        <p:attrNameLst>
                                          <p:attrName>style.visibility</p:attrName>
                                        </p:attrNameLst>
                                      </p:cBhvr>
                                      <p:to>
                                        <p:strVal val="visible"/>
                                      </p:to>
                                    </p:set>
                                    <p:anim calcmode="lin" valueType="num">
                                      <p:cBhvr additive="base">
                                        <p:cTn id="7" dur="500" fill="hold"/>
                                        <p:tgtEl>
                                          <p:spTgt spid="7475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475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74758"/>
                                        </p:tgtEl>
                                        <p:attrNameLst>
                                          <p:attrName>style.visibility</p:attrName>
                                        </p:attrNameLst>
                                      </p:cBhvr>
                                      <p:to>
                                        <p:strVal val="visible"/>
                                      </p:to>
                                    </p:set>
                                    <p:animEffect transition="in" filter="fade">
                                      <p:cBhvr>
                                        <p:cTn id="13" dur="2000"/>
                                        <p:tgtEl>
                                          <p:spTgt spid="74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r-HR"/>
          </a:p>
        </p:txBody>
      </p:sp>
      <p:sp>
        <p:nvSpPr>
          <p:cNvPr id="3" name="Content Placeholder 2"/>
          <p:cNvSpPr>
            <a:spLocks noGrp="1"/>
          </p:cNvSpPr>
          <p:nvPr>
            <p:ph sz="quarter" idx="1"/>
          </p:nvPr>
        </p:nvSpPr>
        <p:spPr/>
        <p:txBody>
          <a:bodyPr/>
          <a:lstStyle/>
          <a:p>
            <a:r>
              <a:rPr lang="hr-HR" dirty="0">
                <a:latin typeface="Calibri" pitchFamily="34" charset="0"/>
              </a:rPr>
              <a:t>Koristeći ove sheme možemo kreirati dvije vrste kabela:    ravni (</a:t>
            </a:r>
            <a:r>
              <a:rPr lang="hr-HR" b="1" i="1" dirty="0" err="1">
                <a:latin typeface="Calibri" pitchFamily="34" charset="0"/>
              </a:rPr>
              <a:t>straight-through</a:t>
            </a:r>
            <a:r>
              <a:rPr lang="hr-HR" dirty="0">
                <a:latin typeface="Calibri" pitchFamily="34" charset="0"/>
              </a:rPr>
              <a:t>) i križani (</a:t>
            </a:r>
            <a:r>
              <a:rPr lang="hr-HR" b="1" i="1" dirty="0" err="1">
                <a:latin typeface="Calibri" pitchFamily="34" charset="0"/>
              </a:rPr>
              <a:t>crossover</a:t>
            </a:r>
            <a:r>
              <a:rPr lang="hr-HR" dirty="0">
                <a:latin typeface="Calibri" pitchFamily="34" charset="0"/>
              </a:rPr>
              <a:t>)</a:t>
            </a:r>
          </a:p>
          <a:p>
            <a:endParaRPr lang="hr-HR" b="1" i="1" dirty="0">
              <a:latin typeface="Calibri" pitchFamily="34" charset="0"/>
            </a:endParaRPr>
          </a:p>
          <a:p>
            <a:r>
              <a:rPr lang="hr-HR" dirty="0">
                <a:latin typeface="Calibri" pitchFamily="34" charset="0"/>
              </a:rPr>
              <a:t>Ravni kabeli najčešće se koriste za spajanje krajnjih uređaja u mrežu, tzv. </a:t>
            </a:r>
            <a:r>
              <a:rPr lang="hr-HR" dirty="0" err="1">
                <a:latin typeface="Calibri" pitchFamily="34" charset="0"/>
              </a:rPr>
              <a:t>patch</a:t>
            </a:r>
            <a:r>
              <a:rPr lang="hr-HR" dirty="0">
                <a:latin typeface="Calibri" pitchFamily="34" charset="0"/>
              </a:rPr>
              <a:t> kabeli</a:t>
            </a:r>
          </a:p>
          <a:p>
            <a:endParaRPr lang="hr-HR" dirty="0">
              <a:latin typeface="Calibri" pitchFamily="34" charset="0"/>
            </a:endParaRPr>
          </a:p>
          <a:p>
            <a:r>
              <a:rPr lang="hr-HR" dirty="0">
                <a:latin typeface="Calibri" pitchFamily="34" charset="0"/>
              </a:rPr>
              <a:t>Pravilo: različiti tipovi uređaja povezuju se ravnim kabelom, a istovrsni tipovi križanim kabelom</a:t>
            </a:r>
          </a:p>
          <a:p>
            <a:endParaRPr lang="hr-HR" dirty="0">
              <a:latin typeface="Calibri" pitchFamily="34" charset="0"/>
            </a:endParaRPr>
          </a:p>
          <a:p>
            <a:endParaRPr lang="hr-HR" dirty="0">
              <a:latin typeface="Calibri" pitchFamily="34" charset="0"/>
            </a:endParaRPr>
          </a:p>
          <a:p>
            <a:endParaRPr lang="hr-HR" dirty="0"/>
          </a:p>
        </p:txBody>
      </p:sp>
    </p:spTree>
    <p:extLst>
      <p:ext uri="{BB962C8B-B14F-4D97-AF65-F5344CB8AC3E}">
        <p14:creationId xmlns:p14="http://schemas.microsoft.com/office/powerpoint/2010/main" val="3406440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noChangeArrowheads="1"/>
          </p:cNvSpPr>
          <p:nvPr>
            <p:ph type="body" idx="1"/>
          </p:nvPr>
        </p:nvSpPr>
        <p:spPr>
          <a:xfrm>
            <a:off x="428596" y="1214422"/>
            <a:ext cx="8229600" cy="3983047"/>
          </a:xfrm>
        </p:spPr>
        <p:txBody>
          <a:bodyPr>
            <a:normAutofit/>
          </a:bodyPr>
          <a:lstStyle/>
          <a:p>
            <a:pPr>
              <a:lnSpc>
                <a:spcPct val="90000"/>
              </a:lnSpc>
              <a:defRPr/>
            </a:pPr>
            <a:r>
              <a:rPr lang="hr-HR" dirty="0">
                <a:latin typeface="Calibri" pitchFamily="34" charset="0"/>
                <a:cs typeface="Calibri" pitchFamily="34" charset="0"/>
              </a:rPr>
              <a:t>Sa oba kraja imaju isti način </a:t>
            </a:r>
            <a:r>
              <a:rPr lang="hr-HR" dirty="0" err="1">
                <a:latin typeface="Calibri" pitchFamily="34" charset="0"/>
                <a:cs typeface="Calibri" pitchFamily="34" charset="0"/>
              </a:rPr>
              <a:t>ožičavanja</a:t>
            </a:r>
            <a:endParaRPr lang="hr-HR" dirty="0">
              <a:latin typeface="Calibri" pitchFamily="34" charset="0"/>
              <a:cs typeface="Calibri" pitchFamily="34" charset="0"/>
            </a:endParaRPr>
          </a:p>
          <a:p>
            <a:pPr eaLnBrk="1" hangingPunct="1"/>
            <a:r>
              <a:rPr lang="hr-HR" dirty="0">
                <a:latin typeface="Calibri" pitchFamily="34" charset="0"/>
                <a:cs typeface="Calibri" pitchFamily="34" charset="0"/>
              </a:rPr>
              <a:t>Uređaje koji se direktno spajaju i koriste različite kontakte za odašiljanje i prijam povezujemo straight-through kabelom:</a:t>
            </a:r>
          </a:p>
          <a:p>
            <a:pPr lvl="1"/>
            <a:r>
              <a:rPr lang="hr-HR" dirty="0">
                <a:latin typeface="Calibri" pitchFamily="34" charset="0"/>
                <a:cs typeface="Calibri" pitchFamily="34" charset="0"/>
              </a:rPr>
              <a:t>Preklopnik i </a:t>
            </a:r>
            <a:r>
              <a:rPr lang="hr-HR" dirty="0" err="1">
                <a:latin typeface="Calibri" pitchFamily="34" charset="0"/>
                <a:cs typeface="Calibri" pitchFamily="34" charset="0"/>
              </a:rPr>
              <a:t>usmjernik</a:t>
            </a:r>
            <a:endParaRPr lang="hr-HR" dirty="0">
              <a:latin typeface="Calibri" pitchFamily="34" charset="0"/>
              <a:cs typeface="Calibri" pitchFamily="34" charset="0"/>
            </a:endParaRPr>
          </a:p>
          <a:p>
            <a:pPr lvl="1"/>
            <a:r>
              <a:rPr lang="hr-HR" dirty="0">
                <a:latin typeface="Calibri" pitchFamily="34" charset="0"/>
                <a:cs typeface="Calibri" pitchFamily="34" charset="0"/>
              </a:rPr>
              <a:t>Računalo i preklopnik/koncentrator</a:t>
            </a:r>
          </a:p>
          <a:p>
            <a:pPr eaLnBrk="1" hangingPunct="1">
              <a:buFont typeface="Wingdings" pitchFamily="2" charset="2"/>
              <a:buNone/>
            </a:pPr>
            <a:endParaRPr lang="hr-HR" dirty="0"/>
          </a:p>
        </p:txBody>
      </p:sp>
      <p:pic>
        <p:nvPicPr>
          <p:cNvPr id="819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538" y="4077072"/>
            <a:ext cx="7127875" cy="267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7" name="Line 7"/>
          <p:cNvSpPr>
            <a:spLocks noChangeShapeType="1"/>
          </p:cNvSpPr>
          <p:nvPr/>
        </p:nvSpPr>
        <p:spPr bwMode="auto">
          <a:xfrm>
            <a:off x="2285984" y="4214818"/>
            <a:ext cx="431800"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vert="eaVert" wrap="none" anchor="ctr"/>
          <a:lstStyle/>
          <a:p>
            <a:endParaRPr lang="hr-HR"/>
          </a:p>
        </p:txBody>
      </p:sp>
      <p:sp>
        <p:nvSpPr>
          <p:cNvPr id="81929" name="Line 9"/>
          <p:cNvSpPr>
            <a:spLocks noChangeShapeType="1"/>
          </p:cNvSpPr>
          <p:nvPr/>
        </p:nvSpPr>
        <p:spPr bwMode="auto">
          <a:xfrm>
            <a:off x="2285984" y="4502156"/>
            <a:ext cx="431800"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vert="eaVert" wrap="none" anchor="ctr"/>
          <a:lstStyle/>
          <a:p>
            <a:endParaRPr lang="hr-HR"/>
          </a:p>
        </p:txBody>
      </p:sp>
      <p:sp>
        <p:nvSpPr>
          <p:cNvPr id="81930" name="Line 10"/>
          <p:cNvSpPr>
            <a:spLocks noChangeShapeType="1"/>
          </p:cNvSpPr>
          <p:nvPr/>
        </p:nvSpPr>
        <p:spPr bwMode="auto">
          <a:xfrm flipH="1">
            <a:off x="6643702" y="4849829"/>
            <a:ext cx="504825"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vert="eaVert" wrap="none" anchor="ctr"/>
          <a:lstStyle/>
          <a:p>
            <a:endParaRPr lang="hr-HR"/>
          </a:p>
        </p:txBody>
      </p:sp>
      <p:sp>
        <p:nvSpPr>
          <p:cNvPr id="81934" name="Line 14"/>
          <p:cNvSpPr>
            <a:spLocks noChangeShapeType="1"/>
          </p:cNvSpPr>
          <p:nvPr/>
        </p:nvSpPr>
        <p:spPr bwMode="auto">
          <a:xfrm flipH="1">
            <a:off x="6650047" y="5786454"/>
            <a:ext cx="504825"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vert="eaVert" wrap="none" anchor="ctr"/>
          <a:lstStyle/>
          <a:p>
            <a:endParaRPr lang="hr-HR"/>
          </a:p>
        </p:txBody>
      </p:sp>
      <p:sp>
        <p:nvSpPr>
          <p:cNvPr id="8" name="Title 1"/>
          <p:cNvSpPr>
            <a:spLocks noGrp="1"/>
          </p:cNvSpPr>
          <p:nvPr>
            <p:ph type="title"/>
          </p:nvPr>
        </p:nvSpPr>
        <p:spPr>
          <a:xfrm>
            <a:off x="526092" y="152400"/>
            <a:ext cx="8160707" cy="987468"/>
          </a:xfrm>
        </p:spPr>
        <p:txBody>
          <a:bodyPr/>
          <a:lstStyle/>
          <a:p>
            <a:r>
              <a:rPr lang="hr-HR" dirty="0">
                <a:solidFill>
                  <a:schemeClr val="hlink"/>
                </a:solidFill>
                <a:latin typeface="Arial" charset="0"/>
              </a:rPr>
              <a:t>Ravni kabeli</a:t>
            </a:r>
          </a:p>
        </p:txBody>
      </p:sp>
    </p:spTree>
    <p:extLst>
      <p:ext uri="{BB962C8B-B14F-4D97-AF65-F5344CB8AC3E}">
        <p14:creationId xmlns:p14="http://schemas.microsoft.com/office/powerpoint/2010/main" val="19265355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1923">
                                            <p:txEl>
                                              <p:pRg st="2" end="2"/>
                                            </p:txEl>
                                          </p:spTgt>
                                        </p:tgtEl>
                                        <p:attrNameLst>
                                          <p:attrName>style.visibility</p:attrName>
                                        </p:attrNameLst>
                                      </p:cBhvr>
                                      <p:to>
                                        <p:strVal val="visible"/>
                                      </p:to>
                                    </p:set>
                                    <p:anim calcmode="lin" valueType="num">
                                      <p:cBhvr additive="base">
                                        <p:cTn id="7" dur="500" fill="hold"/>
                                        <p:tgtEl>
                                          <p:spTgt spid="8192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1923">
                                            <p:txEl>
                                              <p:pRg st="3" end="3"/>
                                            </p:txEl>
                                          </p:spTgt>
                                        </p:tgtEl>
                                        <p:attrNameLst>
                                          <p:attrName>style.visibility</p:attrName>
                                        </p:attrNameLst>
                                      </p:cBhvr>
                                      <p:to>
                                        <p:strVal val="visible"/>
                                      </p:to>
                                    </p:set>
                                    <p:anim calcmode="lin" valueType="num">
                                      <p:cBhvr additive="base">
                                        <p:cTn id="13" dur="500" fill="hold"/>
                                        <p:tgtEl>
                                          <p:spTgt spid="8192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1924"/>
                                        </p:tgtEl>
                                        <p:attrNameLst>
                                          <p:attrName>style.visibility</p:attrName>
                                        </p:attrNameLst>
                                      </p:cBhvr>
                                      <p:to>
                                        <p:strVal val="visible"/>
                                      </p:to>
                                    </p:set>
                                    <p:anim calcmode="lin" valueType="num">
                                      <p:cBhvr additive="base">
                                        <p:cTn id="19" dur="500" fill="hold"/>
                                        <p:tgtEl>
                                          <p:spTgt spid="81924"/>
                                        </p:tgtEl>
                                        <p:attrNameLst>
                                          <p:attrName>ppt_x</p:attrName>
                                        </p:attrNameLst>
                                      </p:cBhvr>
                                      <p:tavLst>
                                        <p:tav tm="0">
                                          <p:val>
                                            <p:strVal val="#ppt_x"/>
                                          </p:val>
                                        </p:tav>
                                        <p:tav tm="100000">
                                          <p:val>
                                            <p:strVal val="#ppt_x"/>
                                          </p:val>
                                        </p:tav>
                                      </p:tavLst>
                                    </p:anim>
                                    <p:anim calcmode="lin" valueType="num">
                                      <p:cBhvr additive="base">
                                        <p:cTn id="20" dur="500" fill="hold"/>
                                        <p:tgtEl>
                                          <p:spTgt spid="8192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19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192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0" presetClass="path" presetSubtype="0" accel="50000" decel="50000" fill="hold" grpId="1" nodeType="clickEffect">
                                  <p:stCondLst>
                                    <p:cond delay="0"/>
                                  </p:stCondLst>
                                  <p:childTnLst>
                                    <p:animMotion origin="layout" path="M 0.02378 -1.96532E-6 L 0.48038 -1.96532E-6 " pathEditMode="relative" ptsTypes="AA">
                                      <p:cBhvr>
                                        <p:cTn id="30" dur="2000" fill="hold"/>
                                        <p:tgtEl>
                                          <p:spTgt spid="81927"/>
                                        </p:tgtEl>
                                        <p:attrNameLst>
                                          <p:attrName>ppt_x</p:attrName>
                                          <p:attrName>ppt_y</p:attrName>
                                        </p:attrNameLst>
                                      </p:cBhvr>
                                    </p:animMotion>
                                  </p:childTnLst>
                                </p:cTn>
                              </p:par>
                              <p:par>
                                <p:cTn id="31" presetID="0" presetClass="path" presetSubtype="0" accel="50000" decel="50000" fill="hold" grpId="1" nodeType="withEffect">
                                  <p:stCondLst>
                                    <p:cond delay="0"/>
                                  </p:stCondLst>
                                  <p:childTnLst>
                                    <p:animMotion origin="layout" path="M 0.02378 -1.6763E-6 L 0.48038 -1.6763E-6 " pathEditMode="relative" ptsTypes="AA">
                                      <p:cBhvr>
                                        <p:cTn id="32" dur="2000" fill="hold"/>
                                        <p:tgtEl>
                                          <p:spTgt spid="81929"/>
                                        </p:tgtEl>
                                        <p:attrNameLst>
                                          <p:attrName>ppt_x</p:attrName>
                                          <p:attrName>ppt_y</p:attrName>
                                        </p:attrNameLst>
                                      </p:cBhvr>
                                    </p:animMotion>
                                  </p:childTnLst>
                                </p:cTn>
                              </p:par>
                            </p:childTnLst>
                          </p:cTn>
                        </p:par>
                        <p:par>
                          <p:cTn id="33" fill="hold" nodeType="afterGroup">
                            <p:stCondLst>
                              <p:cond delay="2000"/>
                            </p:stCondLst>
                            <p:childTnLst>
                              <p:par>
                                <p:cTn id="34" presetID="1" presetClass="entr" presetSubtype="0" fill="hold" grpId="0" nodeType="afterEffect">
                                  <p:stCondLst>
                                    <p:cond delay="500"/>
                                  </p:stCondLst>
                                  <p:childTnLst>
                                    <p:set>
                                      <p:cBhvr>
                                        <p:cTn id="35" dur="1" fill="hold">
                                          <p:stCondLst>
                                            <p:cond delay="0"/>
                                          </p:stCondLst>
                                        </p:cTn>
                                        <p:tgtEl>
                                          <p:spTgt spid="81930"/>
                                        </p:tgtEl>
                                        <p:attrNameLst>
                                          <p:attrName>style.visibility</p:attrName>
                                        </p:attrNameLst>
                                      </p:cBhvr>
                                      <p:to>
                                        <p:strVal val="visible"/>
                                      </p:to>
                                    </p:set>
                                  </p:childTnLst>
                                </p:cTn>
                              </p:par>
                              <p:par>
                                <p:cTn id="36" presetID="1" presetClass="entr" presetSubtype="0" fill="hold" grpId="0" nodeType="withEffect">
                                  <p:stCondLst>
                                    <p:cond delay="500"/>
                                  </p:stCondLst>
                                  <p:childTnLst>
                                    <p:set>
                                      <p:cBhvr>
                                        <p:cTn id="37" dur="1" fill="hold">
                                          <p:stCondLst>
                                            <p:cond delay="0"/>
                                          </p:stCondLst>
                                        </p:cTn>
                                        <p:tgtEl>
                                          <p:spTgt spid="81934"/>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0" presetClass="path" presetSubtype="0" accel="50000" decel="50000" fill="hold" grpId="1" nodeType="clickEffect">
                                  <p:stCondLst>
                                    <p:cond delay="0"/>
                                  </p:stCondLst>
                                  <p:childTnLst>
                                    <p:animMotion origin="layout" path="M 4.16667E-6 -2.60116E-6 L -0.46459 -2.60116E-6 " pathEditMode="relative" rAng="0" ptsTypes="AA">
                                      <p:cBhvr>
                                        <p:cTn id="41" dur="2000" fill="hold"/>
                                        <p:tgtEl>
                                          <p:spTgt spid="81930"/>
                                        </p:tgtEl>
                                        <p:attrNameLst>
                                          <p:attrName>ppt_x</p:attrName>
                                          <p:attrName>ppt_y</p:attrName>
                                        </p:attrNameLst>
                                      </p:cBhvr>
                                      <p:rCtr x="0" y="0"/>
                                    </p:animMotion>
                                  </p:childTnLst>
                                </p:cTn>
                              </p:par>
                              <p:par>
                                <p:cTn id="42" presetID="0" presetClass="path" presetSubtype="0" accel="50000" decel="50000" fill="hold" grpId="1" nodeType="withEffect">
                                  <p:stCondLst>
                                    <p:cond delay="0"/>
                                  </p:stCondLst>
                                  <p:childTnLst>
                                    <p:animMotion origin="layout" path="M -0.03542 1.21387E-6 L -0.49219 1.21387E-6 " pathEditMode="relative" rAng="0" ptsTypes="AA">
                                      <p:cBhvr>
                                        <p:cTn id="43" dur="2000" fill="hold"/>
                                        <p:tgtEl>
                                          <p:spTgt spid="81934"/>
                                        </p:tgtEl>
                                        <p:attrNameLst>
                                          <p:attrName>ppt_x</p:attrName>
                                          <p:attrName>ppt_y</p:attrName>
                                        </p:attrNameLst>
                                      </p:cBhvr>
                                      <p:rCtr x="-2284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7" grpId="0" animBg="1"/>
      <p:bldP spid="81927" grpId="1" animBg="1"/>
      <p:bldP spid="81929" grpId="0" animBg="1"/>
      <p:bldP spid="81929" grpId="1" animBg="1"/>
      <p:bldP spid="81930" grpId="0" animBg="1"/>
      <p:bldP spid="81930" grpId="1" animBg="1"/>
      <p:bldP spid="81934" grpId="0" animBg="1"/>
      <p:bldP spid="81934"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9" name="Rectangle 7"/>
          <p:cNvSpPr>
            <a:spLocks noGrp="1" noChangeArrowheads="1"/>
          </p:cNvSpPr>
          <p:nvPr>
            <p:ph type="body" idx="1"/>
          </p:nvPr>
        </p:nvSpPr>
        <p:spPr>
          <a:xfrm>
            <a:off x="468313" y="1190631"/>
            <a:ext cx="8207375" cy="2666997"/>
          </a:xfrm>
        </p:spPr>
        <p:txBody>
          <a:bodyPr>
            <a:normAutofit/>
          </a:bodyPr>
          <a:lstStyle/>
          <a:p>
            <a:pPr>
              <a:lnSpc>
                <a:spcPct val="90000"/>
              </a:lnSpc>
              <a:defRPr/>
            </a:pPr>
            <a:r>
              <a:rPr lang="hr-HR" dirty="0">
                <a:latin typeface="Calibri" pitchFamily="34" charset="0"/>
                <a:cs typeface="Calibri" pitchFamily="34" charset="0"/>
              </a:rPr>
              <a:t>Na krajevima imaju različite načine ožičenja</a:t>
            </a:r>
          </a:p>
          <a:p>
            <a:pPr eaLnBrk="1" hangingPunct="1"/>
            <a:r>
              <a:rPr lang="hr-HR" dirty="0">
                <a:latin typeface="Calibri" pitchFamily="34" charset="0"/>
                <a:cs typeface="Calibri" pitchFamily="34" charset="0"/>
              </a:rPr>
              <a:t>Uređaje koji se direktno spajaju i koriste iste kontakte za odašiljanje i prijam povezujemo </a:t>
            </a:r>
            <a:r>
              <a:rPr lang="hr-HR" dirty="0" err="1">
                <a:latin typeface="Calibri" pitchFamily="34" charset="0"/>
                <a:cs typeface="Calibri" pitchFamily="34" charset="0"/>
              </a:rPr>
              <a:t>crossover</a:t>
            </a:r>
            <a:r>
              <a:rPr lang="hr-HR" dirty="0">
                <a:latin typeface="Calibri" pitchFamily="34" charset="0"/>
                <a:cs typeface="Calibri" pitchFamily="34" charset="0"/>
              </a:rPr>
              <a:t> kabelom:</a:t>
            </a:r>
          </a:p>
          <a:p>
            <a:pPr lvl="1"/>
            <a:r>
              <a:rPr lang="hr-HR" dirty="0">
                <a:latin typeface="Calibri" pitchFamily="34" charset="0"/>
                <a:cs typeface="Calibri" pitchFamily="34" charset="0"/>
              </a:rPr>
              <a:t>PC – PC,  usmjernik – usmjernik, preklopnik - preklopnik</a:t>
            </a:r>
            <a:endParaRPr lang="hr-HR" dirty="0"/>
          </a:p>
          <a:p>
            <a:pPr eaLnBrk="1" hangingPunct="1">
              <a:buFont typeface="Wingdings" pitchFamily="2" charset="2"/>
              <a:buNone/>
            </a:pPr>
            <a:endParaRPr lang="hr-HR" dirty="0"/>
          </a:p>
          <a:p>
            <a:pPr eaLnBrk="1" hangingPunct="1"/>
            <a:endParaRPr lang="hr-HR" dirty="0"/>
          </a:p>
          <a:p>
            <a:pPr eaLnBrk="1" hangingPunct="1"/>
            <a:endParaRPr lang="hr-HR" dirty="0"/>
          </a:p>
        </p:txBody>
      </p:sp>
      <p:pic>
        <p:nvPicPr>
          <p:cNvPr id="79881"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3716338"/>
            <a:ext cx="7129462" cy="267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83" name="Line 11"/>
          <p:cNvSpPr>
            <a:spLocks noChangeShapeType="1"/>
          </p:cNvSpPr>
          <p:nvPr/>
        </p:nvSpPr>
        <p:spPr bwMode="auto">
          <a:xfrm>
            <a:off x="2051050" y="3860800"/>
            <a:ext cx="576263"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vert="eaVert" wrap="none" anchor="ctr"/>
          <a:lstStyle/>
          <a:p>
            <a:endParaRPr lang="hr-HR"/>
          </a:p>
        </p:txBody>
      </p:sp>
      <p:sp>
        <p:nvSpPr>
          <p:cNvPr id="79884" name="Line 12"/>
          <p:cNvSpPr>
            <a:spLocks noChangeShapeType="1"/>
          </p:cNvSpPr>
          <p:nvPr/>
        </p:nvSpPr>
        <p:spPr bwMode="auto">
          <a:xfrm>
            <a:off x="2051050" y="4221163"/>
            <a:ext cx="576263"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vert="eaVert" wrap="none" anchor="ctr"/>
          <a:lstStyle/>
          <a:p>
            <a:endParaRPr lang="hr-HR"/>
          </a:p>
        </p:txBody>
      </p:sp>
      <p:sp>
        <p:nvSpPr>
          <p:cNvPr id="79885" name="Line 13"/>
          <p:cNvSpPr>
            <a:spLocks noChangeShapeType="1"/>
          </p:cNvSpPr>
          <p:nvPr/>
        </p:nvSpPr>
        <p:spPr bwMode="auto">
          <a:xfrm flipH="1">
            <a:off x="6300788" y="3933825"/>
            <a:ext cx="647700"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vert="eaVert" wrap="none" anchor="ctr"/>
          <a:lstStyle/>
          <a:p>
            <a:endParaRPr lang="hr-HR"/>
          </a:p>
        </p:txBody>
      </p:sp>
      <p:sp>
        <p:nvSpPr>
          <p:cNvPr id="79886" name="Line 14"/>
          <p:cNvSpPr>
            <a:spLocks noChangeShapeType="1"/>
          </p:cNvSpPr>
          <p:nvPr/>
        </p:nvSpPr>
        <p:spPr bwMode="auto">
          <a:xfrm flipH="1">
            <a:off x="6300788" y="4221163"/>
            <a:ext cx="647700"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vert="eaVert" wrap="none" anchor="ctr"/>
          <a:lstStyle/>
          <a:p>
            <a:endParaRPr lang="hr-HR"/>
          </a:p>
        </p:txBody>
      </p:sp>
      <p:sp>
        <p:nvSpPr>
          <p:cNvPr id="8" name="Title 1"/>
          <p:cNvSpPr>
            <a:spLocks noGrp="1"/>
          </p:cNvSpPr>
          <p:nvPr>
            <p:ph type="title"/>
          </p:nvPr>
        </p:nvSpPr>
        <p:spPr>
          <a:xfrm>
            <a:off x="457200" y="152400"/>
            <a:ext cx="8229600" cy="990600"/>
          </a:xfrm>
        </p:spPr>
        <p:txBody>
          <a:bodyPr/>
          <a:lstStyle/>
          <a:p>
            <a:r>
              <a:rPr lang="hr-HR" dirty="0" err="1">
                <a:solidFill>
                  <a:schemeClr val="hlink"/>
                </a:solidFill>
                <a:latin typeface="Arial" charset="0"/>
              </a:rPr>
              <a:t>Crossover</a:t>
            </a:r>
            <a:r>
              <a:rPr lang="hr-HR" dirty="0">
                <a:solidFill>
                  <a:schemeClr val="hlink"/>
                </a:solidFill>
                <a:latin typeface="Arial" charset="0"/>
              </a:rPr>
              <a:t> kabeli</a:t>
            </a:r>
          </a:p>
        </p:txBody>
      </p:sp>
    </p:spTree>
    <p:extLst>
      <p:ext uri="{BB962C8B-B14F-4D97-AF65-F5344CB8AC3E}">
        <p14:creationId xmlns:p14="http://schemas.microsoft.com/office/powerpoint/2010/main" val="32237753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9879">
                                            <p:txEl>
                                              <p:pRg st="2" end="2"/>
                                            </p:txEl>
                                          </p:spTgt>
                                        </p:tgtEl>
                                        <p:attrNameLst>
                                          <p:attrName>style.visibility</p:attrName>
                                        </p:attrNameLst>
                                      </p:cBhvr>
                                      <p:to>
                                        <p:strVal val="visible"/>
                                      </p:to>
                                    </p:set>
                                    <p:anim calcmode="lin" valueType="num">
                                      <p:cBhvr additive="base">
                                        <p:cTn id="7" dur="500" fill="hold"/>
                                        <p:tgtEl>
                                          <p:spTgt spid="7987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98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79881"/>
                                        </p:tgtEl>
                                        <p:attrNameLst>
                                          <p:attrName>style.visibility</p:attrName>
                                        </p:attrNameLst>
                                      </p:cBhvr>
                                      <p:to>
                                        <p:strVal val="visible"/>
                                      </p:to>
                                    </p:set>
                                    <p:animEffect transition="in" filter="fade">
                                      <p:cBhvr>
                                        <p:cTn id="13" dur="2000"/>
                                        <p:tgtEl>
                                          <p:spTgt spid="7988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9883"/>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9884"/>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0" presetClass="path" presetSubtype="0" accel="50000" decel="50000" fill="hold" grpId="1" nodeType="clickEffect">
                                  <p:stCondLst>
                                    <p:cond delay="0"/>
                                  </p:stCondLst>
                                  <p:childTnLst>
                                    <p:animMotion origin="layout" path="M 0.02951 0.00093 C 0.05035 0.00093 0.07101 0.00093 0.09184 0.00093 C 0.10451 0.00463 0.11424 0.00624 0.12795 0.00763 C 0.13281 0.01411 0.13785 0.02081 0.14271 0.02729 C 0.14514 0.03052 0.14896 0.03122 0.15243 0.03145 C 0.16615 0.03214 0.17969 0.03307 0.1934 0.03376 C 0.20503 0.03861 0.20087 0.03977 0.21632 0.04255 C 0.22135 0.04578 0.2276 0.05087 0.23281 0.05341 C 0.25139 0.06266 0.27413 0.05873 0.2934 0.0622 C 0.31302 0.06567 0.33021 0.07977 0.34913 0.08601 C 0.36128 0.09665 0.38142 0.09781 0.39514 0.09919 C 0.42465 0.1133 0.39826 0.10151 0.47865 0.10151 " pathEditMode="relative" ptsTypes="fffffffffffA">
                                      <p:cBhvr>
                                        <p:cTn id="23" dur="2000" fill="hold"/>
                                        <p:tgtEl>
                                          <p:spTgt spid="79883"/>
                                        </p:tgtEl>
                                        <p:attrNameLst>
                                          <p:attrName>ppt_x</p:attrName>
                                          <p:attrName>ppt_y</p:attrName>
                                        </p:attrNameLst>
                                      </p:cBhvr>
                                    </p:animMotion>
                                  </p:childTnLst>
                                </p:cTn>
                              </p:par>
                              <p:par>
                                <p:cTn id="24" presetID="0" presetClass="path" presetSubtype="0" accel="50000" decel="50000" fill="hold" grpId="1" nodeType="withEffect">
                                  <p:stCondLst>
                                    <p:cond delay="0"/>
                                  </p:stCondLst>
                                  <p:childTnLst>
                                    <p:animMotion origin="layout" path="M 0.03108 -0.00139 C 0.04965 -0.00139 0.0684 -0.00139 0.08698 -0.00139 C 0.10104 0.00254 0.11424 0.00832 0.12795 0.01387 C 0.14045 0.01896 0.13385 0.01988 0.15087 0.02266 C 0.16771 0.03075 0.14253 0.01665 0.15746 0.03352 C 0.16007 0.03653 0.16389 0.03653 0.16719 0.03792 C 0.17621 0.04208 0.17031 0.03884 0.18194 0.04902 C 0.20156 0.06636 0.17257 0.04 0.19184 0.05757 C 0.1934 0.05896 0.1967 0.06196 0.1967 0.06196 C 0.20069 0.07029 0.20764 0.07422 0.21476 0.07722 C 0.22396 0.08532 0.23177 0.09179 0.24271 0.0948 C 0.24913 0.10058 0.2559 0.09873 0.26233 0.10358 C 0.27917 0.11607 0.26615 0.10913 0.27708 0.11445 C 0.2809 0.11815 0.28594 0.12023 0.28854 0.12532 C 0.29236 0.13271 0.29514 0.13549 0.30156 0.13849 C 0.30208 0.14058 0.30191 0.14358 0.3033 0.14497 C 0.30608 0.14774 0.3099 0.14797 0.31319 0.14936 C 0.32361 0.15399 0.33351 0.15792 0.34427 0.16023 C 0.34583 0.16162 0.3474 0.16347 0.34913 0.16462 C 0.35069 0.16555 0.35278 0.16532 0.35417 0.1667 C 0.35608 0.16832 0.35729 0.17133 0.35903 0.17341 C 0.36111 0.17572 0.36371 0.17734 0.36562 0.17988 C 0.37378 0.19075 0.37604 0.19861 0.38854 0.20393 C 0.42083 0.20323 0.51753 0.20185 0.48524 0.20185 " pathEditMode="relative" ptsTypes="fffffffffffffffffffffffA">
                                      <p:cBhvr>
                                        <p:cTn id="25" dur="2000" fill="hold"/>
                                        <p:tgtEl>
                                          <p:spTgt spid="79884"/>
                                        </p:tgtEl>
                                        <p:attrNameLst>
                                          <p:attrName>ppt_x</p:attrName>
                                          <p:attrName>ppt_y</p:attrName>
                                        </p:attrNameLst>
                                      </p:cBhvr>
                                    </p:animMotion>
                                  </p:childTnLst>
                                </p:cTn>
                              </p:par>
                            </p:childTnLst>
                          </p:cTn>
                        </p:par>
                        <p:par>
                          <p:cTn id="26" fill="hold" nodeType="afterGroup">
                            <p:stCondLst>
                              <p:cond delay="2000"/>
                            </p:stCondLst>
                            <p:childTnLst>
                              <p:par>
                                <p:cTn id="27" presetID="1" presetClass="entr" presetSubtype="0" fill="hold" grpId="0" nodeType="afterEffect">
                                  <p:stCondLst>
                                    <p:cond delay="500"/>
                                  </p:stCondLst>
                                  <p:childTnLst>
                                    <p:set>
                                      <p:cBhvr>
                                        <p:cTn id="28" dur="1" fill="hold">
                                          <p:stCondLst>
                                            <p:cond delay="0"/>
                                          </p:stCondLst>
                                        </p:cTn>
                                        <p:tgtEl>
                                          <p:spTgt spid="79885"/>
                                        </p:tgtEl>
                                        <p:attrNameLst>
                                          <p:attrName>style.visibility</p:attrName>
                                        </p:attrNameLst>
                                      </p:cBhvr>
                                      <p:to>
                                        <p:strVal val="visible"/>
                                      </p:to>
                                    </p:set>
                                  </p:childTnLst>
                                </p:cTn>
                              </p:par>
                              <p:par>
                                <p:cTn id="29" presetID="1" presetClass="entr" presetSubtype="0" fill="hold" grpId="0" nodeType="withEffect">
                                  <p:stCondLst>
                                    <p:cond delay="500"/>
                                  </p:stCondLst>
                                  <p:childTnLst>
                                    <p:set>
                                      <p:cBhvr>
                                        <p:cTn id="30" dur="1" fill="hold">
                                          <p:stCondLst>
                                            <p:cond delay="0"/>
                                          </p:stCondLst>
                                        </p:cTn>
                                        <p:tgtEl>
                                          <p:spTgt spid="7988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0" presetClass="path" presetSubtype="0" accel="50000" decel="50000" fill="hold" grpId="1" nodeType="clickEffect">
                                  <p:stCondLst>
                                    <p:cond delay="0"/>
                                  </p:stCondLst>
                                  <p:childTnLst>
                                    <p:animMotion origin="layout" path="M -0.04254 0.00115 C -0.11962 0.00323 -0.10764 0.00023 -0.1507 0.00786 C -0.15677 0.01341 -0.16354 0.01688 -0.17031 0.02081 C -0.1816 0.02751 -0.18507 0.03098 -0.19653 0.03399 C -0.2224 0.05665 -0.2757 0.04439 -0.2934 0.04485 C -0.30208 0.04902 -0.31198 0.05133 -0.32118 0.05364 C -0.32205 0.0548 -0.33542 0.06867 -0.33594 0.0689 C -0.35347 0.07514 -0.37205 0.07214 -0.3901 0.07329 C -0.41771 0.08508 -0.47691 0.07537 -0.47691 0.07537 " pathEditMode="relative" ptsTypes="ffffffffA">
                                      <p:cBhvr>
                                        <p:cTn id="34" dur="2000" fill="hold"/>
                                        <p:tgtEl>
                                          <p:spTgt spid="79885"/>
                                        </p:tgtEl>
                                        <p:attrNameLst>
                                          <p:attrName>ppt_x</p:attrName>
                                          <p:attrName>ppt_y</p:attrName>
                                        </p:attrNameLst>
                                      </p:cBhvr>
                                    </p:animMotion>
                                  </p:childTnLst>
                                </p:cTn>
                              </p:par>
                              <p:par>
                                <p:cTn id="35" presetID="0" presetClass="path" presetSubtype="0" accel="50000" decel="50000" fill="hold" grpId="1" nodeType="withEffect">
                                  <p:stCondLst>
                                    <p:cond delay="0"/>
                                  </p:stCondLst>
                                  <p:childTnLst>
                                    <p:animMotion origin="layout" path="M -0.03767 0.00092 C -0.06493 0.01248 -0.01493 -0.00809 -0.10642 0.00532 C -0.11042 0.00578 -0.11302 0.0111 -0.11632 0.01387 C -0.1191 0.01618 -0.12274 0.01549 -0.12604 0.01618 C -0.13698 0.02566 -0.14983 0.02497 -0.16215 0.02936 C -0.16545 0.03214 -0.16875 0.03514 -0.17205 0.03792 C -0.17795 0.043 -0.17969 0.05387 -0.18507 0.05988 C -0.19358 0.06936 -0.20764 0.07121 -0.21788 0.07283 C -0.22674 0.07676 -0.23333 0.07977 -0.24254 0.08162 C -0.25174 0.09433 -0.25347 0.09271 -0.26875 0.0948 C -0.27813 0.10728 -0.29549 0.11121 -0.30816 0.11653 C -0.31024 0.11884 -0.31285 0.12046 -0.31458 0.12323 C -0.31823 0.12925 -0.31736 0.1378 -0.32448 0.14058 C -0.32882 0.14219 -0.33333 0.14219 -0.33767 0.14289 C -0.34097 0.14428 -0.3441 0.14566 -0.3474 0.14705 C -0.34931 0.14797 -0.34913 0.15191 -0.3507 0.15375 C -0.35365 0.15722 -0.35781 0.15884 -0.36059 0.16254 C -0.36215 0.16462 -0.36354 0.1674 -0.36545 0.16902 C -0.36823 0.17156 -0.3816 0.17341 -0.38177 0.17341 C -0.41458 0.18705 -0.4526 0.17988 -0.48681 0.17988 " pathEditMode="relative" ptsTypes="fffffffffffffffffffA">
                                      <p:cBhvr>
                                        <p:cTn id="36" dur="2000" fill="hold"/>
                                        <p:tgtEl>
                                          <p:spTgt spid="7988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83" grpId="0" animBg="1"/>
      <p:bldP spid="79883" grpId="1" animBg="1"/>
      <p:bldP spid="79884" grpId="0" animBg="1"/>
      <p:bldP spid="79884" grpId="1" animBg="1"/>
      <p:bldP spid="79885" grpId="0" animBg="1"/>
      <p:bldP spid="79885" grpId="1" animBg="1"/>
      <p:bldP spid="79886" grpId="0" animBg="1"/>
      <p:bldP spid="79886"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Text Box 4"/>
          <p:cNvSpPr txBox="1">
            <a:spLocks noChangeArrowheads="1"/>
          </p:cNvSpPr>
          <p:nvPr/>
        </p:nvSpPr>
        <p:spPr bwMode="auto">
          <a:xfrm>
            <a:off x="500034" y="1214422"/>
            <a:ext cx="8202613"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hr-HR" sz="2400" dirty="0">
                <a:latin typeface="Calibri" pitchFamily="34" charset="0"/>
              </a:rPr>
              <a:t>Za završavanje simetričnih kabela koristi se konektor RJ 45</a:t>
            </a:r>
          </a:p>
          <a:p>
            <a:r>
              <a:rPr lang="hr-HR" sz="2400" dirty="0">
                <a:latin typeface="Calibri" pitchFamily="34" charset="0"/>
              </a:rPr>
              <a:t>koji se montira na kabel specijalnim kliještima.</a:t>
            </a:r>
          </a:p>
          <a:p>
            <a:pPr marL="274320" indent="-274320">
              <a:spcBef>
                <a:spcPts val="600"/>
              </a:spcBef>
              <a:buClr>
                <a:schemeClr val="accent1"/>
              </a:buClr>
              <a:buSzPct val="76000"/>
              <a:buFont typeface="Wingdings 3"/>
              <a:buChar char=""/>
            </a:pPr>
            <a:r>
              <a:rPr lang="hr-HR" sz="2600" dirty="0">
                <a:latin typeface="Calibri" pitchFamily="34" charset="0"/>
              </a:rPr>
              <a:t>Postupak se naziva </a:t>
            </a:r>
            <a:r>
              <a:rPr lang="hr-HR" sz="2600" b="1" dirty="0" err="1">
                <a:latin typeface="Calibri" pitchFamily="34" charset="0"/>
              </a:rPr>
              <a:t>krimpanje</a:t>
            </a:r>
            <a:endParaRPr lang="hr-HR" sz="2600" b="1" dirty="0">
              <a:latin typeface="Calibri" pitchFamily="34" charset="0"/>
            </a:endParaRPr>
          </a:p>
          <a:p>
            <a:pPr marL="274320" indent="-274320">
              <a:spcBef>
                <a:spcPts val="600"/>
              </a:spcBef>
              <a:buClr>
                <a:schemeClr val="accent1"/>
              </a:buClr>
              <a:buSzPct val="76000"/>
              <a:buFont typeface="Wingdings 3"/>
              <a:buChar char=""/>
            </a:pPr>
            <a:r>
              <a:rPr lang="hr-HR" sz="2600" dirty="0">
                <a:latin typeface="Calibri" pitchFamily="34" charset="0"/>
              </a:rPr>
              <a:t>Konektor je „muška” komponenta kabela</a:t>
            </a:r>
          </a:p>
        </p:txBody>
      </p:sp>
      <p:pic>
        <p:nvPicPr>
          <p:cNvPr id="6349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3213100"/>
            <a:ext cx="3887787" cy="261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2914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body" idx="1"/>
          </p:nvPr>
        </p:nvSpPr>
        <p:spPr>
          <a:xfrm>
            <a:off x="457200" y="1214421"/>
            <a:ext cx="8229600" cy="4911741"/>
          </a:xfrm>
        </p:spPr>
        <p:txBody>
          <a:bodyPr/>
          <a:lstStyle/>
          <a:p>
            <a:pPr eaLnBrk="1" hangingPunct="1"/>
            <a:r>
              <a:rPr lang="hr-HR" dirty="0">
                <a:latin typeface="Calibri" pitchFamily="34" charset="0"/>
              </a:rPr>
              <a:t>Priključnica je “ženska” komponenta, a ugrađena je u zidnu priključnicu ili u </a:t>
            </a:r>
            <a:r>
              <a:rPr lang="hr-HR" dirty="0" err="1">
                <a:latin typeface="Calibri" pitchFamily="34" charset="0"/>
              </a:rPr>
              <a:t>prespojnu</a:t>
            </a:r>
            <a:r>
              <a:rPr lang="hr-HR" dirty="0">
                <a:latin typeface="Calibri" pitchFamily="34" charset="0"/>
              </a:rPr>
              <a:t> ploču (</a:t>
            </a:r>
            <a:r>
              <a:rPr lang="hr-HR" dirty="0" err="1">
                <a:latin typeface="Calibri" pitchFamily="34" charset="0"/>
              </a:rPr>
              <a:t>engl</a:t>
            </a:r>
            <a:r>
              <a:rPr lang="hr-HR" dirty="0">
                <a:latin typeface="Calibri" pitchFamily="34" charset="0"/>
              </a:rPr>
              <a:t>. </a:t>
            </a:r>
            <a:r>
              <a:rPr lang="hr-HR" dirty="0" err="1">
                <a:latin typeface="Calibri" pitchFamily="34" charset="0"/>
              </a:rPr>
              <a:t>patch</a:t>
            </a:r>
            <a:r>
              <a:rPr lang="hr-HR" dirty="0">
                <a:latin typeface="Calibri" pitchFamily="34" charset="0"/>
              </a:rPr>
              <a:t> panel)</a:t>
            </a:r>
          </a:p>
        </p:txBody>
      </p:sp>
      <p:pic>
        <p:nvPicPr>
          <p:cNvPr id="860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781300"/>
            <a:ext cx="2590800"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8602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738" y="2708275"/>
            <a:ext cx="4537075" cy="306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7555914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6020"/>
                                        </p:tgtEl>
                                        <p:attrNameLst>
                                          <p:attrName>style.visibility</p:attrName>
                                        </p:attrNameLst>
                                      </p:cBhvr>
                                      <p:to>
                                        <p:strVal val="visible"/>
                                      </p:to>
                                    </p:set>
                                    <p:anim calcmode="lin" valueType="num">
                                      <p:cBhvr additive="base">
                                        <p:cTn id="7" dur="500" fill="hold"/>
                                        <p:tgtEl>
                                          <p:spTgt spid="86020"/>
                                        </p:tgtEl>
                                        <p:attrNameLst>
                                          <p:attrName>ppt_x</p:attrName>
                                        </p:attrNameLst>
                                      </p:cBhvr>
                                      <p:tavLst>
                                        <p:tav tm="0">
                                          <p:val>
                                            <p:strVal val="#ppt_x"/>
                                          </p:val>
                                        </p:tav>
                                        <p:tav tm="100000">
                                          <p:val>
                                            <p:strVal val="#ppt_x"/>
                                          </p:val>
                                        </p:tav>
                                      </p:tavLst>
                                    </p:anim>
                                    <p:anim calcmode="lin" valueType="num">
                                      <p:cBhvr additive="base">
                                        <p:cTn id="8" dur="500" fill="hold"/>
                                        <p:tgtEl>
                                          <p:spTgt spid="86020"/>
                                        </p:tgtEl>
                                        <p:attrNameLst>
                                          <p:attrName>ppt_y</p:attrName>
                                        </p:attrNameLst>
                                      </p:cBhvr>
                                      <p:tavLst>
                                        <p:tav tm="0">
                                          <p:val>
                                            <p:strVal val="1+#ppt_h/2"/>
                                          </p:val>
                                        </p:tav>
                                        <p:tav tm="100000">
                                          <p:val>
                                            <p:strVal val="#ppt_y"/>
                                          </p:val>
                                        </p:tav>
                                      </p:tavLst>
                                    </p:anim>
                                  </p:childTnLst>
                                </p:cTn>
                              </p:par>
                              <p:par>
                                <p:cTn id="9" presetID="1" presetClass="entr" presetSubtype="0" fill="hold" nodeType="withEffect">
                                  <p:stCondLst>
                                    <p:cond delay="0"/>
                                  </p:stCondLst>
                                  <p:childTnLst>
                                    <p:set>
                                      <p:cBhvr>
                                        <p:cTn id="10" dur="1" fill="hold">
                                          <p:stCondLst>
                                            <p:cond delay="0"/>
                                          </p:stCondLst>
                                        </p:cTn>
                                        <p:tgtEl>
                                          <p:spTgt spid="860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3"/>
          <p:cNvSpPr>
            <a:spLocks noGrp="1" noChangeArrowheads="1"/>
          </p:cNvSpPr>
          <p:nvPr>
            <p:ph type="body" idx="1"/>
          </p:nvPr>
        </p:nvSpPr>
        <p:spPr>
          <a:xfrm>
            <a:off x="428596" y="1214422"/>
            <a:ext cx="8229600" cy="4737114"/>
          </a:xfrm>
        </p:spPr>
        <p:txBody>
          <a:bodyPr/>
          <a:lstStyle/>
          <a:p>
            <a:pPr eaLnBrk="1" hangingPunct="1"/>
            <a:r>
              <a:rPr lang="hr-HR" dirty="0">
                <a:latin typeface="Calibri" pitchFamily="34" charset="0"/>
              </a:rPr>
              <a:t>Posebnim testerima, osim ispravnosti kabla, ispituje se:</a:t>
            </a:r>
          </a:p>
          <a:p>
            <a:pPr eaLnBrk="1" hangingPunct="1"/>
            <a:endParaRPr lang="hr-HR" dirty="0">
              <a:latin typeface="Calibri" pitchFamily="34" charset="0"/>
            </a:endParaRPr>
          </a:p>
          <a:p>
            <a:pPr eaLnBrk="1" hangingPunct="1"/>
            <a:r>
              <a:rPr lang="hr-HR" b="1" dirty="0">
                <a:latin typeface="Calibri" pitchFamily="34" charset="0"/>
              </a:rPr>
              <a:t>Slabljenje</a:t>
            </a:r>
            <a:r>
              <a:rPr lang="hr-HR" dirty="0">
                <a:latin typeface="Calibri" pitchFamily="34" charset="0"/>
              </a:rPr>
              <a:t> (engl. attenuation), kao posljedica gubitaka električne energije prilikom prolaska kroz vodič</a:t>
            </a:r>
          </a:p>
          <a:p>
            <a:pPr eaLnBrk="1" hangingPunct="1"/>
            <a:endParaRPr lang="hr-HR" dirty="0">
              <a:latin typeface="Calibri" pitchFamily="34" charset="0"/>
            </a:endParaRPr>
          </a:p>
          <a:p>
            <a:pPr eaLnBrk="1" hangingPunct="1"/>
            <a:r>
              <a:rPr lang="hr-HR" b="1" dirty="0">
                <a:latin typeface="Calibri" pitchFamily="34" charset="0"/>
              </a:rPr>
              <a:t>Preslušavanje</a:t>
            </a:r>
            <a:r>
              <a:rPr lang="hr-HR" dirty="0">
                <a:latin typeface="Calibri" pitchFamily="34" charset="0"/>
              </a:rPr>
              <a:t> (engl. crosstalk), koje je posljedica elektromagnetskog zračenja kojeg emitiraju vodiči i njihovog međusobnog utjecaja</a:t>
            </a:r>
          </a:p>
        </p:txBody>
      </p:sp>
    </p:spTree>
    <p:extLst>
      <p:ext uri="{BB962C8B-B14F-4D97-AF65-F5344CB8AC3E}">
        <p14:creationId xmlns:p14="http://schemas.microsoft.com/office/powerpoint/2010/main" val="27561122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0355">
                                            <p:txEl>
                                              <p:pRg st="2" end="2"/>
                                            </p:txEl>
                                          </p:spTgt>
                                        </p:tgtEl>
                                        <p:attrNameLst>
                                          <p:attrName>style.visibility</p:attrName>
                                        </p:attrNameLst>
                                      </p:cBhvr>
                                      <p:to>
                                        <p:strVal val="visible"/>
                                      </p:to>
                                    </p:set>
                                    <p:anim calcmode="lin" valueType="num">
                                      <p:cBhvr additive="base">
                                        <p:cTn id="7" dur="500" fill="hold"/>
                                        <p:tgtEl>
                                          <p:spTgt spid="10035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03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0355">
                                            <p:txEl>
                                              <p:pRg st="4" end="4"/>
                                            </p:txEl>
                                          </p:spTgt>
                                        </p:tgtEl>
                                        <p:attrNameLst>
                                          <p:attrName>style.visibility</p:attrName>
                                        </p:attrNameLst>
                                      </p:cBhvr>
                                      <p:to>
                                        <p:strVal val="visible"/>
                                      </p:to>
                                    </p:set>
                                    <p:anim calcmode="lin" valueType="num">
                                      <p:cBhvr additive="base">
                                        <p:cTn id="13" dur="500" fill="hold"/>
                                        <p:tgtEl>
                                          <p:spTgt spid="10035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035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nchor="b" anchorCtr="0">
            <a:normAutofit/>
          </a:bodyPr>
          <a:lstStyle/>
          <a:p>
            <a:r>
              <a:rPr lang="hr-HR" dirty="0">
                <a:solidFill>
                  <a:schemeClr val="hlink"/>
                </a:solidFill>
                <a:latin typeface="Arial" charset="0"/>
              </a:rPr>
              <a:t>Tipovi UTP sučelja</a:t>
            </a:r>
          </a:p>
        </p:txBody>
      </p:sp>
      <p:sp>
        <p:nvSpPr>
          <p:cNvPr id="3" name="Content Placeholder 2"/>
          <p:cNvSpPr>
            <a:spLocks noGrp="1"/>
          </p:cNvSpPr>
          <p:nvPr>
            <p:ph sz="quarter" idx="1"/>
          </p:nvPr>
        </p:nvSpPr>
        <p:spPr/>
        <p:txBody>
          <a:bodyPr>
            <a:normAutofit fontScale="77500" lnSpcReduction="20000"/>
          </a:bodyPr>
          <a:lstStyle/>
          <a:p>
            <a:r>
              <a:rPr lang="hr-HR" sz="3200" b="1" dirty="0">
                <a:latin typeface="Calibri" pitchFamily="34" charset="0"/>
              </a:rPr>
              <a:t>MDI (Media </a:t>
            </a:r>
            <a:r>
              <a:rPr lang="hr-HR" sz="3200" b="1" dirty="0" err="1">
                <a:latin typeface="Calibri" pitchFamily="34" charset="0"/>
              </a:rPr>
              <a:t>Dependent</a:t>
            </a:r>
            <a:r>
              <a:rPr lang="hr-HR" sz="3200" b="1" dirty="0">
                <a:latin typeface="Calibri" pitchFamily="34" charset="0"/>
              </a:rPr>
              <a:t> </a:t>
            </a:r>
            <a:r>
              <a:rPr lang="hr-HR" sz="3200" b="1" dirty="0" err="1">
                <a:latin typeface="Calibri" pitchFamily="34" charset="0"/>
              </a:rPr>
              <a:t>Interface</a:t>
            </a:r>
            <a:r>
              <a:rPr lang="hr-HR" sz="3200" b="1" dirty="0">
                <a:latin typeface="Calibri" pitchFamily="34" charset="0"/>
              </a:rPr>
              <a:t>)</a:t>
            </a:r>
          </a:p>
          <a:p>
            <a:pPr lvl="1"/>
            <a:r>
              <a:rPr lang="hr-HR" sz="2800" dirty="0">
                <a:latin typeface="Calibri" pitchFamily="34" charset="0"/>
              </a:rPr>
              <a:t>Računala, poslužitelji, </a:t>
            </a:r>
            <a:r>
              <a:rPr lang="hr-HR" sz="2800" dirty="0" err="1">
                <a:latin typeface="Calibri" pitchFamily="34" charset="0"/>
              </a:rPr>
              <a:t>usmjernici</a:t>
            </a:r>
            <a:endParaRPr lang="hr-HR" sz="2800" dirty="0">
              <a:latin typeface="Calibri" pitchFamily="34" charset="0"/>
            </a:endParaRPr>
          </a:p>
          <a:p>
            <a:pPr lvl="1"/>
            <a:r>
              <a:rPr lang="hr-HR" sz="2800" dirty="0">
                <a:latin typeface="Calibri" pitchFamily="34" charset="0"/>
              </a:rPr>
              <a:t>Standardan raspored pinova (1 i 2 za slanje, 3 i 6 za primanje)</a:t>
            </a:r>
          </a:p>
          <a:p>
            <a:r>
              <a:rPr lang="hr-HR" sz="3200" b="1" dirty="0">
                <a:latin typeface="Calibri" pitchFamily="34" charset="0"/>
              </a:rPr>
              <a:t>MDI-X (Media </a:t>
            </a:r>
            <a:r>
              <a:rPr lang="hr-HR" sz="3200" b="1" dirty="0" err="1">
                <a:latin typeface="Calibri" pitchFamily="34" charset="0"/>
              </a:rPr>
              <a:t>Dependent</a:t>
            </a:r>
            <a:r>
              <a:rPr lang="hr-HR" sz="3200" b="1" dirty="0">
                <a:latin typeface="Calibri" pitchFamily="34" charset="0"/>
              </a:rPr>
              <a:t> Interface, </a:t>
            </a:r>
            <a:r>
              <a:rPr lang="hr-HR" sz="3200" b="1" dirty="0" err="1">
                <a:latin typeface="Calibri" pitchFamily="34" charset="0"/>
              </a:rPr>
              <a:t>Crossover</a:t>
            </a:r>
            <a:r>
              <a:rPr lang="hr-HR" sz="3200" b="1" dirty="0">
                <a:latin typeface="Calibri" pitchFamily="34" charset="0"/>
              </a:rPr>
              <a:t>)</a:t>
            </a:r>
          </a:p>
          <a:p>
            <a:pPr lvl="1"/>
            <a:r>
              <a:rPr lang="hr-HR" sz="2800" dirty="0">
                <a:latin typeface="Calibri" pitchFamily="34" charset="0"/>
              </a:rPr>
              <a:t>Koncentratori i preklopnici</a:t>
            </a:r>
          </a:p>
          <a:p>
            <a:pPr lvl="1"/>
            <a:r>
              <a:rPr lang="hr-HR" sz="2800" dirty="0">
                <a:latin typeface="Calibri" pitchFamily="34" charset="0"/>
              </a:rPr>
              <a:t>Parice se prespajaju interno – krajnji uređaji na koncentrator ili preklopnik spajaju se ravnim kabelom</a:t>
            </a:r>
          </a:p>
          <a:p>
            <a:r>
              <a:rPr lang="hr-HR" sz="3200" b="1" dirty="0">
                <a:latin typeface="Calibri" pitchFamily="34" charset="0"/>
              </a:rPr>
              <a:t>Auto MDI-X</a:t>
            </a:r>
          </a:p>
          <a:p>
            <a:pPr lvl="1"/>
            <a:r>
              <a:rPr lang="hr-HR" sz="2800" dirty="0">
                <a:latin typeface="Calibri" pitchFamily="34" charset="0"/>
              </a:rPr>
              <a:t>koristi se na svim novijim mrežnim uređajima ozbiljnijih proizvođača</a:t>
            </a:r>
          </a:p>
          <a:p>
            <a:pPr lvl="1"/>
            <a:r>
              <a:rPr lang="hr-HR" sz="2800" dirty="0">
                <a:latin typeface="Calibri" pitchFamily="34" charset="0"/>
              </a:rPr>
              <a:t>Ovdje se radi o sposobnosti svakog porta na uređaju da prvo prepozna način spoja druge strane te se automatski prilagodi odnosno promjeni svoje interno kabliranje. Drugim riječima ovakvi uređaji nakon (ispravne) detekcije druge strane, sami sebe prebacuju iz MDI u MDI-X način unutarnjeg kabliranja</a:t>
            </a:r>
          </a:p>
          <a:p>
            <a:endParaRPr lang="hr-HR" dirty="0">
              <a:latin typeface="Calibri" pitchFamily="34" charset="0"/>
            </a:endParaRPr>
          </a:p>
          <a:p>
            <a:endParaRPr lang="hr-HR" dirty="0">
              <a:latin typeface="Calibri" pitchFamily="34" charset="0"/>
            </a:endParaRPr>
          </a:p>
          <a:p>
            <a:endParaRPr lang="hr-HR" dirty="0">
              <a:latin typeface="Calibri" pitchFamily="34" charset="0"/>
            </a:endParaRPr>
          </a:p>
          <a:p>
            <a:endParaRPr lang="hr-HR" dirty="0"/>
          </a:p>
        </p:txBody>
      </p:sp>
    </p:spTree>
    <p:extLst>
      <p:ext uri="{BB962C8B-B14F-4D97-AF65-F5344CB8AC3E}">
        <p14:creationId xmlns:p14="http://schemas.microsoft.com/office/powerpoint/2010/main" val="1339616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zervirano mjesto sadržaja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800585" y="1219200"/>
            <a:ext cx="7542829" cy="4937125"/>
          </a:xfrm>
        </p:spPr>
      </p:pic>
    </p:spTree>
    <p:extLst>
      <p:ext uri="{BB962C8B-B14F-4D97-AF65-F5344CB8AC3E}">
        <p14:creationId xmlns:p14="http://schemas.microsoft.com/office/powerpoint/2010/main" val="2122259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p:cNvSpPr>
            <a:spLocks noGrp="1" noChangeArrowheads="1"/>
          </p:cNvSpPr>
          <p:nvPr>
            <p:ph type="body" idx="1"/>
          </p:nvPr>
        </p:nvSpPr>
        <p:spPr>
          <a:xfrm>
            <a:off x="457200" y="1285859"/>
            <a:ext cx="8229600" cy="4840303"/>
          </a:xfrm>
        </p:spPr>
        <p:txBody>
          <a:bodyPr>
            <a:normAutofit fontScale="92500"/>
          </a:bodyPr>
          <a:lstStyle/>
          <a:p>
            <a:pPr>
              <a:defRPr/>
            </a:pPr>
            <a:r>
              <a:rPr lang="hr-HR" dirty="0">
                <a:latin typeface="Calibri" pitchFamily="34" charset="0"/>
              </a:rPr>
              <a:t>Svaka uvijena parica se u komunikaciji koristi za svoju namjenu:</a:t>
            </a:r>
          </a:p>
          <a:p>
            <a:pPr lvl="1">
              <a:defRPr/>
            </a:pPr>
            <a:r>
              <a:rPr lang="hr-HR" dirty="0">
                <a:latin typeface="Calibri" pitchFamily="34" charset="0"/>
              </a:rPr>
              <a:t>Za brzine </a:t>
            </a:r>
            <a:r>
              <a:rPr lang="hr-HR" b="1" dirty="0">
                <a:latin typeface="Calibri" pitchFamily="34" charset="0"/>
              </a:rPr>
              <a:t>do 100 Mbps</a:t>
            </a:r>
            <a:r>
              <a:rPr lang="hr-HR" dirty="0">
                <a:latin typeface="Calibri" pitchFamily="34" charset="0"/>
              </a:rPr>
              <a:t>: jedna parica je za slanje (</a:t>
            </a:r>
            <a:r>
              <a:rPr lang="hr-HR" dirty="0" err="1">
                <a:latin typeface="Calibri" pitchFamily="34" charset="0"/>
              </a:rPr>
              <a:t>Transmit</a:t>
            </a:r>
            <a:r>
              <a:rPr lang="hr-HR" dirty="0">
                <a:latin typeface="Calibri" pitchFamily="34" charset="0"/>
              </a:rPr>
              <a:t> - TX), a druga za primanje (</a:t>
            </a:r>
            <a:r>
              <a:rPr lang="hr-HR" dirty="0" err="1">
                <a:latin typeface="Calibri" pitchFamily="34" charset="0"/>
              </a:rPr>
              <a:t>Receive</a:t>
            </a:r>
            <a:r>
              <a:rPr lang="hr-HR" dirty="0">
                <a:latin typeface="Calibri" pitchFamily="34" charset="0"/>
              </a:rPr>
              <a:t> - RX) podataka (signala)</a:t>
            </a:r>
          </a:p>
          <a:p>
            <a:pPr lvl="1">
              <a:defRPr/>
            </a:pPr>
            <a:r>
              <a:rPr lang="hr-HR" dirty="0">
                <a:latin typeface="Calibri" pitchFamily="34" charset="0"/>
              </a:rPr>
              <a:t>Za brzine do 100 Mbps se koriste samo dvije od četiri parice</a:t>
            </a:r>
          </a:p>
          <a:p>
            <a:pPr lvl="2">
              <a:defRPr/>
            </a:pPr>
            <a:r>
              <a:rPr lang="hr-HR" dirty="0">
                <a:latin typeface="Calibri" pitchFamily="34" charset="0"/>
              </a:rPr>
              <a:t>Pin 1 (TX +) i Pin 2 (TX -)</a:t>
            </a:r>
          </a:p>
          <a:p>
            <a:pPr lvl="2">
              <a:defRPr/>
            </a:pPr>
            <a:r>
              <a:rPr lang="hr-HR" dirty="0">
                <a:latin typeface="Calibri" pitchFamily="34" charset="0"/>
              </a:rPr>
              <a:t>Pin 3 (RX +) i Pin 6 (RX -)</a:t>
            </a:r>
          </a:p>
          <a:p>
            <a:pPr lvl="1">
              <a:defRPr/>
            </a:pPr>
            <a:r>
              <a:rPr lang="hr-HR" dirty="0">
                <a:latin typeface="Calibri" pitchFamily="34" charset="0"/>
              </a:rPr>
              <a:t>Za brzine </a:t>
            </a:r>
            <a:r>
              <a:rPr lang="hr-HR" b="1" dirty="0">
                <a:latin typeface="Calibri" pitchFamily="34" charset="0"/>
              </a:rPr>
              <a:t>od 1000 Mbps </a:t>
            </a:r>
            <a:r>
              <a:rPr lang="hr-HR" dirty="0">
                <a:latin typeface="Calibri" pitchFamily="34" charset="0"/>
              </a:rPr>
              <a:t>(1 Gbps) i više, svaka parica se koristi za </a:t>
            </a:r>
            <a:r>
              <a:rPr lang="hr-HR" dirty="0" err="1">
                <a:latin typeface="Calibri" pitchFamily="34" charset="0"/>
              </a:rPr>
              <a:t>bidirekcionalnu</a:t>
            </a:r>
            <a:r>
              <a:rPr lang="hr-HR" dirty="0">
                <a:latin typeface="Calibri" pitchFamily="34" charset="0"/>
              </a:rPr>
              <a:t> (dvosmjernu) komunikaciju. Ovdje se koriste sve četiri parice. </a:t>
            </a:r>
          </a:p>
          <a:p>
            <a:pPr lvl="2">
              <a:defRPr/>
            </a:pPr>
            <a:r>
              <a:rPr lang="hr-HR" dirty="0">
                <a:latin typeface="Calibri" pitchFamily="34" charset="0"/>
              </a:rPr>
              <a:t>Pin 1 (</a:t>
            </a:r>
            <a:r>
              <a:rPr lang="hr-HR" dirty="0" err="1">
                <a:latin typeface="Calibri" pitchFamily="34" charset="0"/>
              </a:rPr>
              <a:t>bidirekcionalni</a:t>
            </a:r>
            <a:r>
              <a:rPr lang="hr-HR" dirty="0">
                <a:latin typeface="Calibri" pitchFamily="34" charset="0"/>
              </a:rPr>
              <a:t> par A +), Pin 2 (</a:t>
            </a:r>
            <a:r>
              <a:rPr lang="hr-HR" dirty="0" err="1">
                <a:latin typeface="Calibri" pitchFamily="34" charset="0"/>
              </a:rPr>
              <a:t>bidirekcionalni</a:t>
            </a:r>
            <a:r>
              <a:rPr lang="hr-HR" dirty="0">
                <a:latin typeface="Calibri" pitchFamily="34" charset="0"/>
              </a:rPr>
              <a:t> par A -)</a:t>
            </a:r>
          </a:p>
          <a:p>
            <a:pPr lvl="2">
              <a:defRPr/>
            </a:pPr>
            <a:r>
              <a:rPr lang="hr-HR" dirty="0">
                <a:latin typeface="Calibri" pitchFamily="34" charset="0"/>
              </a:rPr>
              <a:t>Pin 3 (</a:t>
            </a:r>
            <a:r>
              <a:rPr lang="hr-HR" dirty="0" err="1">
                <a:latin typeface="Calibri" pitchFamily="34" charset="0"/>
              </a:rPr>
              <a:t>bidirekcionalni</a:t>
            </a:r>
            <a:r>
              <a:rPr lang="hr-HR" dirty="0">
                <a:latin typeface="Calibri" pitchFamily="34" charset="0"/>
              </a:rPr>
              <a:t> par B +), Pin 6 (</a:t>
            </a:r>
            <a:r>
              <a:rPr lang="hr-HR" dirty="0" err="1">
                <a:latin typeface="Calibri" pitchFamily="34" charset="0"/>
              </a:rPr>
              <a:t>bidirekcionalni</a:t>
            </a:r>
            <a:r>
              <a:rPr lang="hr-HR" dirty="0">
                <a:latin typeface="Calibri" pitchFamily="34" charset="0"/>
              </a:rPr>
              <a:t> par B -)</a:t>
            </a:r>
          </a:p>
          <a:p>
            <a:pPr lvl="2">
              <a:defRPr/>
            </a:pPr>
            <a:r>
              <a:rPr lang="hr-HR" dirty="0">
                <a:latin typeface="Calibri" pitchFamily="34" charset="0"/>
              </a:rPr>
              <a:t>Pin 4 (</a:t>
            </a:r>
            <a:r>
              <a:rPr lang="hr-HR" dirty="0" err="1">
                <a:latin typeface="Calibri" pitchFamily="34" charset="0"/>
              </a:rPr>
              <a:t>bidirekcionalni</a:t>
            </a:r>
            <a:r>
              <a:rPr lang="hr-HR" dirty="0">
                <a:latin typeface="Calibri" pitchFamily="34" charset="0"/>
              </a:rPr>
              <a:t> par C +), Pin 5 (</a:t>
            </a:r>
            <a:r>
              <a:rPr lang="hr-HR" dirty="0" err="1">
                <a:latin typeface="Calibri" pitchFamily="34" charset="0"/>
              </a:rPr>
              <a:t>bidirekcionalni</a:t>
            </a:r>
            <a:r>
              <a:rPr lang="hr-HR" dirty="0">
                <a:latin typeface="Calibri" pitchFamily="34" charset="0"/>
              </a:rPr>
              <a:t> par C -)</a:t>
            </a:r>
          </a:p>
          <a:p>
            <a:pPr lvl="2">
              <a:defRPr/>
            </a:pPr>
            <a:r>
              <a:rPr lang="hr-HR" dirty="0">
                <a:latin typeface="Calibri" pitchFamily="34" charset="0"/>
              </a:rPr>
              <a:t>Pin 7 (</a:t>
            </a:r>
            <a:r>
              <a:rPr lang="hr-HR" dirty="0" err="1">
                <a:latin typeface="Calibri" pitchFamily="34" charset="0"/>
              </a:rPr>
              <a:t>bidirekcionalni</a:t>
            </a:r>
            <a:r>
              <a:rPr lang="hr-HR" dirty="0">
                <a:latin typeface="Calibri" pitchFamily="34" charset="0"/>
              </a:rPr>
              <a:t> par D +), Pin 8 (</a:t>
            </a:r>
            <a:r>
              <a:rPr lang="hr-HR" dirty="0" err="1">
                <a:latin typeface="Calibri" pitchFamily="34" charset="0"/>
              </a:rPr>
              <a:t>bidirekcionalni</a:t>
            </a:r>
            <a:r>
              <a:rPr lang="hr-HR" dirty="0">
                <a:latin typeface="Calibri" pitchFamily="34" charset="0"/>
              </a:rPr>
              <a:t> par D -)</a:t>
            </a:r>
          </a:p>
          <a:p>
            <a:pPr eaLnBrk="1" hangingPunct="1">
              <a:defRPr/>
            </a:pPr>
            <a:endParaRPr lang="hr-HR" dirty="0">
              <a:latin typeface="Calibri" pitchFamily="34" charset="0"/>
            </a:endParaRPr>
          </a:p>
        </p:txBody>
      </p:sp>
    </p:spTree>
    <p:extLst>
      <p:ext uri="{BB962C8B-B14F-4D97-AF65-F5344CB8AC3E}">
        <p14:creationId xmlns:p14="http://schemas.microsoft.com/office/powerpoint/2010/main" val="2377734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3039E-6990-F12E-A6B2-BCF12E95324E}"/>
              </a:ext>
            </a:extLst>
          </p:cNvPr>
          <p:cNvSpPr>
            <a:spLocks noGrp="1"/>
          </p:cNvSpPr>
          <p:nvPr>
            <p:ph type="title"/>
          </p:nvPr>
        </p:nvSpPr>
        <p:spPr/>
        <p:txBody>
          <a:bodyPr/>
          <a:lstStyle/>
          <a:p>
            <a:r>
              <a:rPr lang="hr-HR" dirty="0"/>
              <a:t>Pitanja</a:t>
            </a:r>
          </a:p>
        </p:txBody>
      </p:sp>
      <p:sp>
        <p:nvSpPr>
          <p:cNvPr id="3" name="Content Placeholder 2">
            <a:extLst>
              <a:ext uri="{FF2B5EF4-FFF2-40B4-BE49-F238E27FC236}">
                <a16:creationId xmlns:a16="http://schemas.microsoft.com/office/drawing/2014/main" id="{DDED50EB-B84C-A0BF-EE95-5F8E49379E8D}"/>
              </a:ext>
            </a:extLst>
          </p:cNvPr>
          <p:cNvSpPr>
            <a:spLocks noGrp="1"/>
          </p:cNvSpPr>
          <p:nvPr>
            <p:ph sz="quarter" idx="1"/>
          </p:nvPr>
        </p:nvSpPr>
        <p:spPr/>
        <p:txBody>
          <a:bodyPr>
            <a:normAutofit/>
          </a:bodyPr>
          <a:lstStyle/>
          <a:p>
            <a:r>
              <a:rPr lang="hr-HR" sz="2400" dirty="0"/>
              <a:t>1.  Što je strukturno kabliranje i koja pravila treba uzeti u obzir ?</a:t>
            </a:r>
          </a:p>
          <a:p>
            <a:r>
              <a:rPr lang="hr-HR" sz="2400" dirty="0"/>
              <a:t>2. O kojim se područjima vodi računa prilikom kabliranja LAN mreže ?</a:t>
            </a:r>
          </a:p>
          <a:p>
            <a:r>
              <a:rPr lang="hr-HR" sz="2400" dirty="0"/>
              <a:t>3. Što je LAN sučelje i kako je realizirano ?</a:t>
            </a:r>
          </a:p>
          <a:p>
            <a:r>
              <a:rPr lang="hr-HR" sz="2400" dirty="0"/>
              <a:t>4. Koja su dva načina ožičenja te dvije vrste kabela (opiši ih) ?</a:t>
            </a:r>
          </a:p>
          <a:p>
            <a:r>
              <a:rPr lang="hr-HR" sz="2400" dirty="0"/>
              <a:t>5. Opiši ravne kabele ?</a:t>
            </a:r>
          </a:p>
          <a:p>
            <a:r>
              <a:rPr lang="hr-HR" sz="2400" dirty="0"/>
              <a:t>6. Opiši crossover kabele ?</a:t>
            </a:r>
          </a:p>
          <a:p>
            <a:r>
              <a:rPr lang="hr-HR" sz="2400" dirty="0"/>
              <a:t>7. Što je krimpanje ?</a:t>
            </a:r>
          </a:p>
          <a:p>
            <a:r>
              <a:rPr lang="hr-HR" sz="2400" dirty="0"/>
              <a:t>8. Koja se svojstva provjeravaju kod kabela (osim ispravnosti ) ?</a:t>
            </a:r>
          </a:p>
          <a:p>
            <a:r>
              <a:rPr lang="hr-HR" sz="2400" dirty="0"/>
              <a:t>9. Opiši tipove UTP sučelja ?</a:t>
            </a:r>
          </a:p>
        </p:txBody>
      </p:sp>
    </p:spTree>
    <p:extLst>
      <p:ext uri="{BB962C8B-B14F-4D97-AF65-F5344CB8AC3E}">
        <p14:creationId xmlns:p14="http://schemas.microsoft.com/office/powerpoint/2010/main" val="26982373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C74526B780CB7E40AAED50781EDEFDF6" ma:contentTypeVersion="3" ma:contentTypeDescription="Stvaranje novog dokumenta." ma:contentTypeScope="" ma:versionID="cb71b5a7b0bc5bc9bc84eb17535dd6ea">
  <xsd:schema xmlns:xsd="http://www.w3.org/2001/XMLSchema" xmlns:xs="http://www.w3.org/2001/XMLSchema" xmlns:p="http://schemas.microsoft.com/office/2006/metadata/properties" xmlns:ns2="c041744a-391e-4a25-927f-1fb68203ca47" targetNamespace="http://schemas.microsoft.com/office/2006/metadata/properties" ma:root="true" ma:fieldsID="cdfac31b053126c546b04e5083fe936b" ns2:_="">
    <xsd:import namespace="c041744a-391e-4a25-927f-1fb68203ca4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41744a-391e-4a25-927f-1fb68203ca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Vrsta sadržaja"/>
        <xsd:element ref="dc:title" minOccurs="0" maxOccurs="1" ma:index="4" ma:displayName="Naslov"/>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2D2440-841F-4C0D-A766-4DF81A6DF9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41744a-391e-4a25-927f-1fb68203ca4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2CE6076-475B-4124-8693-F8F4363E7A51}">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E6C0A43-9517-47C9-A304-81810D2C2C8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Origin</Template>
  <TotalTime>4234</TotalTime>
  <Words>736</Words>
  <Application>Microsoft Office PowerPoint</Application>
  <PresentationFormat>On-screen Show (4:3)</PresentationFormat>
  <Paragraphs>89</Paragraphs>
  <Slides>16</Slides>
  <Notes>11</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Origin</vt:lpstr>
      <vt:lpstr>FIZIČKI SLOJ Kabeliranje LAN mreža</vt:lpstr>
      <vt:lpstr>Strukturno kabliranje</vt:lpstr>
      <vt:lpstr>PowerPoint Presentation</vt:lpstr>
      <vt:lpstr>PowerPoint Presentation</vt:lpstr>
      <vt:lpstr>PowerPoint Presentation</vt:lpstr>
      <vt:lpstr>PowerPoint Presentation</vt:lpstr>
      <vt:lpstr>PowerPoint Presentation</vt:lpstr>
      <vt:lpstr>Ravni kabeli</vt:lpstr>
      <vt:lpstr>Crossover kabeli</vt:lpstr>
      <vt:lpstr>PowerPoint Presentation</vt:lpstr>
      <vt:lpstr>PowerPoint Presentation</vt:lpstr>
      <vt:lpstr>PowerPoint Presentation</vt:lpstr>
      <vt:lpstr>Tipovi UTP sučelja</vt:lpstr>
      <vt:lpstr>PowerPoint Presentation</vt:lpstr>
      <vt:lpstr>PowerPoint Presentation</vt:lpstr>
      <vt:lpstr>Pitanja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Opći model komunikacijskog sustava</dc:title>
  <dc:creator>p</dc:creator>
  <cp:lastModifiedBy>Luka Huzjak</cp:lastModifiedBy>
  <cp:revision>102</cp:revision>
  <cp:lastPrinted>2015-09-11T08:26:32Z</cp:lastPrinted>
  <dcterms:created xsi:type="dcterms:W3CDTF">2015-09-07T20:59:37Z</dcterms:created>
  <dcterms:modified xsi:type="dcterms:W3CDTF">2025-12-14T20:17:00Z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0x010100C74526B780CB7E40AAED50781EDEFDF6</vt:lpwstr>
  </property>
</Properties>
</file>