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411" r:id="rId3"/>
    <p:sldId id="412" r:id="rId4"/>
    <p:sldId id="402" r:id="rId5"/>
    <p:sldId id="403" r:id="rId6"/>
    <p:sldId id="413" r:id="rId7"/>
    <p:sldId id="414" r:id="rId8"/>
    <p:sldId id="415" r:id="rId9"/>
    <p:sldId id="416" r:id="rId10"/>
    <p:sldId id="420" r:id="rId11"/>
    <p:sldId id="417" r:id="rId12"/>
    <p:sldId id="418" r:id="rId13"/>
    <p:sldId id="419" r:id="rId14"/>
    <p:sldId id="409" r:id="rId15"/>
    <p:sldId id="407" r:id="rId16"/>
    <p:sldId id="379" r:id="rId17"/>
    <p:sldId id="421" r:id="rId18"/>
  </p:sldIdLst>
  <p:sldSz cx="9144000" cy="6858000" type="screen4x3"/>
  <p:notesSz cx="6834188" cy="997902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29" autoAdjust="0"/>
  </p:normalViewPr>
  <p:slideViewPr>
    <p:cSldViewPr>
      <p:cViewPr varScale="1">
        <p:scale>
          <a:sx n="67" d="100"/>
          <a:sy n="67" d="100"/>
        </p:scale>
        <p:origin x="190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ran Dumančić" userId="70f12f27-58fe-414c-89aa-9264ee582611" providerId="ADAL" clId="{182CA129-8957-4F4B-9EC2-5B9AC28B7AEA}"/>
    <pc:docChg chg="modSld">
      <pc:chgData name="Zoran Dumančić" userId="70f12f27-58fe-414c-89aa-9264ee582611" providerId="ADAL" clId="{182CA129-8957-4F4B-9EC2-5B9AC28B7AEA}" dt="2023-03-14T12:34:18.569" v="0" actId="729"/>
      <pc:docMkLst>
        <pc:docMk/>
      </pc:docMkLst>
      <pc:sldChg chg="mod modShow">
        <pc:chgData name="Zoran Dumančić" userId="70f12f27-58fe-414c-89aa-9264ee582611" providerId="ADAL" clId="{182CA129-8957-4F4B-9EC2-5B9AC28B7AEA}" dt="2023-03-14T12:34:18.569" v="0" actId="729"/>
        <pc:sldMkLst>
          <pc:docMk/>
          <pc:sldMk cId="16552922" sldId="420"/>
        </pc:sldMkLst>
      </pc:sldChg>
    </pc:docChg>
  </pc:docChgLst>
  <pc:docChgLst>
    <pc:chgData name="Zoran Dumančić" userId="70f12f27-58fe-414c-89aa-9264ee582611" providerId="ADAL" clId="{DBF4BFEC-D9F5-4D45-BD92-D0D2E7ACAF9A}"/>
    <pc:docChg chg="addSld modSld">
      <pc:chgData name="Zoran Dumančić" userId="70f12f27-58fe-414c-89aa-9264ee582611" providerId="ADAL" clId="{DBF4BFEC-D9F5-4D45-BD92-D0D2E7ACAF9A}" dt="2022-03-03T11:34:00.691" v="157" actId="164"/>
      <pc:docMkLst>
        <pc:docMk/>
      </pc:docMkLst>
      <pc:sldChg chg="modSp mod modAnim">
        <pc:chgData name="Zoran Dumančić" userId="70f12f27-58fe-414c-89aa-9264ee582611" providerId="ADAL" clId="{DBF4BFEC-D9F5-4D45-BD92-D0D2E7ACAF9A}" dt="2022-03-03T11:17:34.328" v="33" actId="12"/>
        <pc:sldMkLst>
          <pc:docMk/>
          <pc:sldMk cId="2819324112" sldId="403"/>
        </pc:sldMkLst>
        <pc:spChg chg="mod">
          <ac:chgData name="Zoran Dumančić" userId="70f12f27-58fe-414c-89aa-9264ee582611" providerId="ADAL" clId="{DBF4BFEC-D9F5-4D45-BD92-D0D2E7ACAF9A}" dt="2022-03-03T11:17:34.328" v="33" actId="12"/>
          <ac:spMkLst>
            <pc:docMk/>
            <pc:sldMk cId="2819324112" sldId="403"/>
            <ac:spMk id="123906" creationId="{00000000-0000-0000-0000-000000000000}"/>
          </ac:spMkLst>
        </pc:spChg>
      </pc:sldChg>
      <pc:sldChg chg="addSp modSp">
        <pc:chgData name="Zoran Dumančić" userId="70f12f27-58fe-414c-89aa-9264ee582611" providerId="ADAL" clId="{DBF4BFEC-D9F5-4D45-BD92-D0D2E7ACAF9A}" dt="2022-03-03T11:34:00.691" v="157" actId="164"/>
        <pc:sldMkLst>
          <pc:docMk/>
          <pc:sldMk cId="2977173300" sldId="407"/>
        </pc:sldMkLst>
        <pc:spChg chg="mod">
          <ac:chgData name="Zoran Dumančić" userId="70f12f27-58fe-414c-89aa-9264ee582611" providerId="ADAL" clId="{DBF4BFEC-D9F5-4D45-BD92-D0D2E7ACAF9A}" dt="2022-03-03T11:32:26.205" v="113" actId="14100"/>
          <ac:spMkLst>
            <pc:docMk/>
            <pc:sldMk cId="2977173300" sldId="407"/>
            <ac:spMk id="13314" creationId="{00000000-0000-0000-0000-000000000000}"/>
          </ac:spMkLst>
        </pc:spChg>
        <pc:grpChg chg="add mod">
          <ac:chgData name="Zoran Dumančić" userId="70f12f27-58fe-414c-89aa-9264ee582611" providerId="ADAL" clId="{DBF4BFEC-D9F5-4D45-BD92-D0D2E7ACAF9A}" dt="2022-03-03T11:33:43.510" v="152" actId="164"/>
          <ac:grpSpMkLst>
            <pc:docMk/>
            <pc:sldMk cId="2977173300" sldId="407"/>
            <ac:grpSpMk id="2" creationId="{95A03696-E39B-4510-8331-6115A9E1AC08}"/>
          </ac:grpSpMkLst>
        </pc:grpChg>
        <pc:grpChg chg="add mod">
          <ac:chgData name="Zoran Dumančić" userId="70f12f27-58fe-414c-89aa-9264ee582611" providerId="ADAL" clId="{DBF4BFEC-D9F5-4D45-BD92-D0D2E7ACAF9A}" dt="2022-03-03T11:34:00.691" v="157" actId="164"/>
          <ac:grpSpMkLst>
            <pc:docMk/>
            <pc:sldMk cId="2977173300" sldId="407"/>
            <ac:grpSpMk id="3" creationId="{848B4641-5652-42D6-94EA-E72EF9BAA14D}"/>
          </ac:grpSpMkLst>
        </pc:grpChg>
        <pc:picChg chg="add mod">
          <ac:chgData name="Zoran Dumančić" userId="70f12f27-58fe-414c-89aa-9264ee582611" providerId="ADAL" clId="{DBF4BFEC-D9F5-4D45-BD92-D0D2E7ACAF9A}" dt="2022-03-03T11:34:00.691" v="157" actId="164"/>
          <ac:picMkLst>
            <pc:docMk/>
            <pc:sldMk cId="2977173300" sldId="407"/>
            <ac:picMk id="4" creationId="{CF45430F-B693-4FA4-B8B7-D6E06152A7C8}"/>
          </ac:picMkLst>
        </pc:picChg>
        <pc:picChg chg="mod">
          <ac:chgData name="Zoran Dumančić" userId="70f12f27-58fe-414c-89aa-9264ee582611" providerId="ADAL" clId="{DBF4BFEC-D9F5-4D45-BD92-D0D2E7ACAF9A}" dt="2022-03-03T11:34:00.691" v="157" actId="164"/>
          <ac:picMkLst>
            <pc:docMk/>
            <pc:sldMk cId="2977173300" sldId="407"/>
            <ac:picMk id="13315" creationId="{00000000-0000-0000-0000-000000000000}"/>
          </ac:picMkLst>
        </pc:picChg>
      </pc:sldChg>
      <pc:sldChg chg="modSp mod modAnim">
        <pc:chgData name="Zoran Dumančić" userId="70f12f27-58fe-414c-89aa-9264ee582611" providerId="ADAL" clId="{DBF4BFEC-D9F5-4D45-BD92-D0D2E7ACAF9A}" dt="2022-03-03T11:23:34.130" v="48" actId="115"/>
        <pc:sldMkLst>
          <pc:docMk/>
          <pc:sldMk cId="920008402" sldId="414"/>
        </pc:sldMkLst>
        <pc:spChg chg="mod">
          <ac:chgData name="Zoran Dumančić" userId="70f12f27-58fe-414c-89aa-9264ee582611" providerId="ADAL" clId="{DBF4BFEC-D9F5-4D45-BD92-D0D2E7ACAF9A}" dt="2022-03-03T11:19:10.479" v="41" actId="20577"/>
          <ac:spMkLst>
            <pc:docMk/>
            <pc:sldMk cId="920008402" sldId="414"/>
            <ac:spMk id="14" creationId="{00000000-0000-0000-0000-000000000000}"/>
          </ac:spMkLst>
        </pc:spChg>
        <pc:spChg chg="mod">
          <ac:chgData name="Zoran Dumančić" userId="70f12f27-58fe-414c-89aa-9264ee582611" providerId="ADAL" clId="{DBF4BFEC-D9F5-4D45-BD92-D0D2E7ACAF9A}" dt="2022-03-03T11:23:34.130" v="48" actId="115"/>
          <ac:spMkLst>
            <pc:docMk/>
            <pc:sldMk cId="920008402" sldId="414"/>
            <ac:spMk id="125965" creationId="{00000000-0000-0000-0000-000000000000}"/>
          </ac:spMkLst>
        </pc:spChg>
        <pc:picChg chg="mod">
          <ac:chgData name="Zoran Dumančić" userId="70f12f27-58fe-414c-89aa-9264ee582611" providerId="ADAL" clId="{DBF4BFEC-D9F5-4D45-BD92-D0D2E7ACAF9A}" dt="2022-03-03T11:19:39.903" v="47" actId="1076"/>
          <ac:picMkLst>
            <pc:docMk/>
            <pc:sldMk cId="920008402" sldId="414"/>
            <ac:picMk id="15" creationId="{00000000-0000-0000-0000-000000000000}"/>
          </ac:picMkLst>
        </pc:picChg>
      </pc:sldChg>
      <pc:sldChg chg="modSp mod">
        <pc:chgData name="Zoran Dumančić" userId="70f12f27-58fe-414c-89aa-9264ee582611" providerId="ADAL" clId="{DBF4BFEC-D9F5-4D45-BD92-D0D2E7ACAF9A}" dt="2022-03-03T11:31:08.587" v="108" actId="6549"/>
        <pc:sldMkLst>
          <pc:docMk/>
          <pc:sldMk cId="3474259449" sldId="415"/>
        </pc:sldMkLst>
        <pc:spChg chg="mod">
          <ac:chgData name="Zoran Dumančić" userId="70f12f27-58fe-414c-89aa-9264ee582611" providerId="ADAL" clId="{DBF4BFEC-D9F5-4D45-BD92-D0D2E7ACAF9A}" dt="2022-03-03T11:19:22.870" v="43" actId="14100"/>
          <ac:spMkLst>
            <pc:docMk/>
            <pc:sldMk cId="3474259449" sldId="415"/>
            <ac:spMk id="14" creationId="{00000000-0000-0000-0000-000000000000}"/>
          </ac:spMkLst>
        </pc:spChg>
        <pc:spChg chg="mod">
          <ac:chgData name="Zoran Dumančić" userId="70f12f27-58fe-414c-89aa-9264ee582611" providerId="ADAL" clId="{DBF4BFEC-D9F5-4D45-BD92-D0D2E7ACAF9A}" dt="2022-03-03T11:31:08.587" v="108" actId="6549"/>
          <ac:spMkLst>
            <pc:docMk/>
            <pc:sldMk cId="3474259449" sldId="415"/>
            <ac:spMk id="125965" creationId="{00000000-0000-0000-0000-000000000000}"/>
          </ac:spMkLst>
        </pc:spChg>
      </pc:sldChg>
      <pc:sldChg chg="modSp">
        <pc:chgData name="Zoran Dumančić" userId="70f12f27-58fe-414c-89aa-9264ee582611" providerId="ADAL" clId="{DBF4BFEC-D9F5-4D45-BD92-D0D2E7ACAF9A}" dt="2022-03-03T11:24:22.508" v="64" actId="20577"/>
        <pc:sldMkLst>
          <pc:docMk/>
          <pc:sldMk cId="1543850380" sldId="417"/>
        </pc:sldMkLst>
        <pc:spChg chg="mod">
          <ac:chgData name="Zoran Dumančić" userId="70f12f27-58fe-414c-89aa-9264ee582611" providerId="ADAL" clId="{DBF4BFEC-D9F5-4D45-BD92-D0D2E7ACAF9A}" dt="2022-03-03T11:24:22.508" v="64" actId="20577"/>
          <ac:spMkLst>
            <pc:docMk/>
            <pc:sldMk cId="1543850380" sldId="417"/>
            <ac:spMk id="109570" creationId="{00000000-0000-0000-0000-000000000000}"/>
          </ac:spMkLst>
        </pc:spChg>
      </pc:sldChg>
      <pc:sldChg chg="addSp delSp modSp add mod modShow modNotesTx">
        <pc:chgData name="Zoran Dumančić" userId="70f12f27-58fe-414c-89aa-9264ee582611" providerId="ADAL" clId="{DBF4BFEC-D9F5-4D45-BD92-D0D2E7ACAF9A}" dt="2022-03-03T11:31:23.150" v="109" actId="729"/>
        <pc:sldMkLst>
          <pc:docMk/>
          <pc:sldMk cId="16552922" sldId="420"/>
        </pc:sldMkLst>
        <pc:picChg chg="del">
          <ac:chgData name="Zoran Dumančić" userId="70f12f27-58fe-414c-89aa-9264ee582611" providerId="ADAL" clId="{DBF4BFEC-D9F5-4D45-BD92-D0D2E7ACAF9A}" dt="2022-03-03T11:29:08.284" v="88" actId="478"/>
          <ac:picMkLst>
            <pc:docMk/>
            <pc:sldMk cId="16552922" sldId="420"/>
            <ac:picMk id="7" creationId="{00000000-0000-0000-0000-000000000000}"/>
          </ac:picMkLst>
        </pc:picChg>
        <pc:picChg chg="add mod">
          <ac:chgData name="Zoran Dumančić" userId="70f12f27-58fe-414c-89aa-9264ee582611" providerId="ADAL" clId="{DBF4BFEC-D9F5-4D45-BD92-D0D2E7ACAF9A}" dt="2022-03-03T11:29:20.545" v="94" actId="14100"/>
          <ac:picMkLst>
            <pc:docMk/>
            <pc:sldMk cId="16552922" sldId="420"/>
            <ac:picMk id="1026" creationId="{76067BEB-461C-42C5-BFAD-0E2F4982E45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71125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3419" y="4740037"/>
            <a:ext cx="5467350" cy="44905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71125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pPr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4504BC8-3787-4927-ADA3-A6BF82D871D2}" type="slidenum">
              <a:rPr lang="hr-HR"/>
              <a:pPr eaLnBrk="1" hangingPunct="1"/>
              <a:t>2</a:t>
            </a:fld>
            <a:endParaRPr lang="hr-HR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92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F9C7E56-A5CF-4AE4-A19E-AF0CB563423E}" type="slidenum">
              <a:rPr lang="hr-HR"/>
              <a:pPr eaLnBrk="1" hangingPunct="1"/>
              <a:t>3</a:t>
            </a:fld>
            <a:endParaRPr lang="hr-H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78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6C7A11-2CED-4FBB-AD85-4BA3FF0269F4}" type="slidenum">
              <a:rPr lang="hr-HR"/>
              <a:pPr eaLnBrk="1" hangingPunct="1"/>
              <a:t>4</a:t>
            </a:fld>
            <a:endParaRPr lang="hr-HR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hr-HR" dirty="0"/>
              <a:t>LLc definiran 802.2 standardom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572F6C-A7AE-40D5-99D0-A09FA15DB44A}" type="slidenum">
              <a:rPr lang="hr-HR"/>
              <a:pPr eaLnBrk="1" hangingPunct="1"/>
              <a:t>5</a:t>
            </a:fld>
            <a:endParaRPr lang="hr-HR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F9C7E56-A5CF-4AE4-A19E-AF0CB563423E}" type="slidenum">
              <a:rPr lang="hr-HR"/>
              <a:pPr eaLnBrk="1" hangingPunct="1"/>
              <a:t>6</a:t>
            </a:fld>
            <a:endParaRPr lang="hr-H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1200" dirty="0">
                <a:latin typeface="Calibri" pitchFamily="34" charset="0"/>
                <a:cs typeface="Calibri" pitchFamily="34" charset="0"/>
              </a:rPr>
              <a:t>Na fizičkom sloju propisuje priključke, fizikalne karakteristike vodiča i signala na njemu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068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F9C7E56-A5CF-4AE4-A19E-AF0CB563423E}" type="slidenum">
              <a:rPr lang="hr-HR"/>
              <a:pPr eaLnBrk="1" hangingPunct="1"/>
              <a:t>7</a:t>
            </a:fld>
            <a:endParaRPr lang="hr-H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15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F9C7E56-A5CF-4AE4-A19E-AF0CB563423E}" type="slidenum">
              <a:rPr lang="hr-HR"/>
              <a:pPr eaLnBrk="1" hangingPunct="1"/>
              <a:t>8</a:t>
            </a:fld>
            <a:endParaRPr lang="hr-H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60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9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355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10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dirty="0"/>
              <a:t>https://www.computerhope.com/jargon/c/csmacd.htm</a:t>
            </a:r>
          </a:p>
        </p:txBody>
      </p:sp>
    </p:spTree>
    <p:extLst>
      <p:ext uri="{BB962C8B-B14F-4D97-AF65-F5344CB8AC3E}">
        <p14:creationId xmlns:p14="http://schemas.microsoft.com/office/powerpoint/2010/main" val="2936606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11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507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12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218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13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851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A88DAD-7AE6-48FE-97D0-5470E1163895}" type="slidenum">
              <a:rPr lang="hr-HR"/>
              <a:pPr eaLnBrk="1" hangingPunct="1"/>
              <a:t>15</a:t>
            </a:fld>
            <a:endParaRPr lang="hr-HR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BB17D93-EA8C-468B-A546-592B259DF9B5}" type="slidenum">
              <a:rPr lang="hr-HR" sz="1200"/>
              <a:pPr eaLnBrk="1" hangingPunct="1"/>
              <a:t>16</a:t>
            </a:fld>
            <a:endParaRPr lang="hr-HR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9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CDE0B00-D963-41BA-9FB3-08599C151BCE}" type="slidenum">
              <a:rPr lang="hr-HR"/>
              <a:pPr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4142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pPr/>
              <a:t>19.11.2024.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645024"/>
            <a:ext cx="7920880" cy="1296144"/>
          </a:xfrm>
        </p:spPr>
        <p:txBody>
          <a:bodyPr>
            <a:noAutofit/>
          </a:bodyPr>
          <a:lstStyle/>
          <a:p>
            <a:r>
              <a:rPr lang="hr-HR" sz="3600" b="1" dirty="0">
                <a:solidFill>
                  <a:schemeClr val="hlink"/>
                </a:solidFill>
              </a:rPr>
              <a:t>PODATKOVNI SLOJ</a:t>
            </a:r>
            <a:br>
              <a:rPr lang="hr-HR" sz="3600" dirty="0">
                <a:solidFill>
                  <a:schemeClr val="hlink"/>
                </a:solidFill>
              </a:rPr>
            </a:br>
            <a:r>
              <a:rPr lang="hr-HR" sz="3600" dirty="0">
                <a:solidFill>
                  <a:schemeClr val="hlink"/>
                </a:solidFill>
              </a:rPr>
              <a:t>Ethernet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Uvod u računalne 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323528" y="4104362"/>
            <a:ext cx="8630740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>
              <a:defRPr sz="2400">
                <a:latin typeface="Arial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1980. Ethernet standard osmišljen kao otvoreni  i koji će se s vremenom nadopunjavati 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Najraširenija tehnologija za lokalne mreže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Standard definiran normom IEEE 802.3 (IEEE –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Institute of Electrical and Electronics Engineers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Djeluje na slojevima 1 i 2 OSI modela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Ethernet</a:t>
            </a:r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744"/>
            <a:ext cx="914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9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473075" y="1268760"/>
            <a:ext cx="7956550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Definirane 4 brzine prijenosa (za UTP i optiku)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Tipovi </a:t>
            </a:r>
            <a:r>
              <a:rPr lang="hr-HR" dirty="0" err="1"/>
              <a:t>Etherneta</a:t>
            </a:r>
            <a:endParaRPr lang="hr-HR" dirty="0"/>
          </a:p>
        </p:txBody>
      </p:sp>
      <p:graphicFrame>
        <p:nvGraphicFramePr>
          <p:cNvPr id="3" name="Tablica 2"/>
          <p:cNvGraphicFramePr>
            <a:graphicFrameLocks noGrp="1"/>
          </p:cNvGraphicFramePr>
          <p:nvPr/>
        </p:nvGraphicFramePr>
        <p:xfrm>
          <a:off x="1547664" y="2278111"/>
          <a:ext cx="5400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7999">
                  <a:extLst>
                    <a:ext uri="{9D8B030D-6E8A-4147-A177-3AD203B41FA5}">
                      <a16:colId xmlns:a16="http://schemas.microsoft.com/office/drawing/2014/main" val="2147794108"/>
                    </a:ext>
                  </a:extLst>
                </a:gridCol>
                <a:gridCol w="2032601">
                  <a:extLst>
                    <a:ext uri="{9D8B030D-6E8A-4147-A177-3AD203B41FA5}">
                      <a16:colId xmlns:a16="http://schemas.microsoft.com/office/drawing/2014/main" val="97063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Tip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Brzina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12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10Base-T </a:t>
                      </a:r>
                      <a:r>
                        <a:rPr lang="hr-HR" dirty="0" err="1"/>
                        <a:t>Ethernet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10 </a:t>
                      </a:r>
                      <a:r>
                        <a:rPr lang="hr-HR" dirty="0" err="1"/>
                        <a:t>Mb</a:t>
                      </a:r>
                      <a:r>
                        <a:rPr lang="hr-HR" dirty="0"/>
                        <a:t>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65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 err="1"/>
                        <a:t>Fast</a:t>
                      </a:r>
                      <a:r>
                        <a:rPr lang="hr-HR" dirty="0"/>
                        <a:t> </a:t>
                      </a:r>
                      <a:r>
                        <a:rPr lang="hr-HR" dirty="0" err="1"/>
                        <a:t>Ethernet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100 </a:t>
                      </a:r>
                      <a:r>
                        <a:rPr lang="hr-HR" dirty="0" err="1"/>
                        <a:t>Mb</a:t>
                      </a:r>
                      <a:r>
                        <a:rPr lang="hr-HR" dirty="0"/>
                        <a:t>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6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Gigabit </a:t>
                      </a:r>
                      <a:r>
                        <a:rPr lang="hr-HR" dirty="0" err="1"/>
                        <a:t>Ethernet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1000 </a:t>
                      </a:r>
                      <a:r>
                        <a:rPr lang="hr-HR" dirty="0" err="1"/>
                        <a:t>Mb</a:t>
                      </a:r>
                      <a:r>
                        <a:rPr lang="hr-HR" dirty="0"/>
                        <a:t>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43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10 Gigabit</a:t>
                      </a:r>
                      <a:r>
                        <a:rPr lang="hr-HR" baseline="0" dirty="0"/>
                        <a:t> </a:t>
                      </a:r>
                      <a:r>
                        <a:rPr lang="hr-HR" baseline="0" dirty="0" err="1"/>
                        <a:t>Ethernet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10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153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77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58" name="Object 2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94707460"/>
              </p:ext>
            </p:extLst>
          </p:nvPr>
        </p:nvGraphicFramePr>
        <p:xfrm>
          <a:off x="395288" y="2532732"/>
          <a:ext cx="8229600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346806" imgH="2663487" progId="Visio.Drawing.11">
                  <p:embed/>
                </p:oleObj>
              </mc:Choice>
              <mc:Fallback>
                <p:oleObj name="Visio" r:id="rId3" imgW="7346806" imgH="2663487" progId="Visio.Drawing.11">
                  <p:embed/>
                  <p:pic>
                    <p:nvPicPr>
                      <p:cNvPr id="1218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532732"/>
                        <a:ext cx="8229600" cy="298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467544" y="1222375"/>
            <a:ext cx="6643293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Od čega se sastoji sloj podatkovne veze?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/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Sloj podatkovne veze sastoji se od dva podsloja :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4860032" y="5517232"/>
            <a:ext cx="37669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hr-HR" sz="2400" dirty="0">
                <a:latin typeface="Calibri" pitchFamily="34" charset="0"/>
                <a:cs typeface="Calibri" pitchFamily="34" charset="0"/>
              </a:rPr>
              <a:t>LLC – Logical Link Control</a:t>
            </a:r>
          </a:p>
          <a:p>
            <a:pPr algn="l" eaLnBrk="1" hangingPunct="1"/>
            <a:r>
              <a:rPr lang="hr-HR" sz="2400" dirty="0">
                <a:latin typeface="Calibri" pitchFamily="34" charset="0"/>
                <a:cs typeface="Calibri" pitchFamily="34" charset="0"/>
              </a:rPr>
              <a:t>MAC – Media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23606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467544" y="1196752"/>
            <a:ext cx="8250237" cy="66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sz="2800" b="1" dirty="0"/>
              <a:t>LLC (</a:t>
            </a:r>
            <a:r>
              <a:rPr lang="hr-HR" sz="2800" dirty="0" err="1"/>
              <a:t>Logical</a:t>
            </a:r>
            <a:r>
              <a:rPr lang="hr-HR" sz="2800" dirty="0"/>
              <a:t> Link </a:t>
            </a:r>
            <a:r>
              <a:rPr lang="hr-HR" sz="2800" dirty="0" err="1"/>
              <a:t>Control</a:t>
            </a:r>
            <a:r>
              <a:rPr lang="hr-HR" sz="2800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800" dirty="0"/>
              <a:t>preuzima IP paket iz mrežnog sloja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800" dirty="0"/>
              <a:t>možemo ga smatrati driverom mrežne kartice jer se radi o softveru</a:t>
            </a:r>
          </a:p>
          <a:p>
            <a:endParaRPr lang="hr-HR" sz="2800" b="1" dirty="0"/>
          </a:p>
          <a:p>
            <a:r>
              <a:rPr lang="hr-HR" sz="2800" b="1" dirty="0"/>
              <a:t>MAC (</a:t>
            </a:r>
            <a:r>
              <a:rPr lang="hr-HR" sz="2800" dirty="0"/>
              <a:t>Media Access </a:t>
            </a:r>
            <a:r>
              <a:rPr lang="hr-HR" sz="2800" dirty="0" err="1"/>
              <a:t>Control</a:t>
            </a:r>
            <a:r>
              <a:rPr lang="hr-HR" sz="2800" dirty="0"/>
              <a:t>)</a:t>
            </a:r>
            <a:endParaRPr lang="hr-HR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800" dirty="0"/>
              <a:t>javlja se kao hardver kojeg zovemo mrežna kartica (NIC)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800" dirty="0"/>
              <a:t>Ima dvije osnovne zadaće: </a:t>
            </a:r>
          </a:p>
          <a:p>
            <a:pPr marL="1474470" lvl="3" indent="-342900" eaLnBrk="1" hangingPunct="1">
              <a:spcBef>
                <a:spcPts val="500"/>
              </a:spcBef>
              <a:buClr>
                <a:schemeClr val="accent2"/>
              </a:buClr>
              <a:buSzPct val="76000"/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enkapsulacija</a:t>
            </a:r>
          </a:p>
          <a:p>
            <a:pPr marL="1474470" lvl="3" indent="-342900" eaLnBrk="1" hangingPunct="1">
              <a:spcBef>
                <a:spcPts val="500"/>
              </a:spcBef>
              <a:buClr>
                <a:schemeClr val="accent2"/>
              </a:buClr>
              <a:buSzPct val="76000"/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kontrola pristupa mediju za prijenos podataka</a:t>
            </a:r>
          </a:p>
          <a:p>
            <a:endParaRPr lang="hr-HR" sz="2800" dirty="0"/>
          </a:p>
          <a:p>
            <a:endParaRPr lang="hr-HR" sz="2800" dirty="0"/>
          </a:p>
          <a:p>
            <a:pPr marL="0" indent="0">
              <a:buNone/>
            </a:pPr>
            <a:r>
              <a:rPr lang="hr-HR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81932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473075" y="1268760"/>
            <a:ext cx="7956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Djeluje na fizičkom i podatkovnom sloju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Kako radi </a:t>
            </a:r>
            <a:r>
              <a:rPr lang="hr-HR" dirty="0" err="1"/>
              <a:t>Ethernet</a:t>
            </a:r>
            <a:endParaRPr lang="hr-HR" dirty="0"/>
          </a:p>
        </p:txBody>
      </p:sp>
      <p:sp>
        <p:nvSpPr>
          <p:cNvPr id="4" name="Rounded Rectangle 3"/>
          <p:cNvSpPr/>
          <p:nvPr/>
        </p:nvSpPr>
        <p:spPr>
          <a:xfrm>
            <a:off x="827584" y="1988840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Aplikacijski sloj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84" y="2636912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Prezentacijski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84" y="3284984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Sloj sesije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84" y="3933056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Transportni sloj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84" y="4581128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Mrežni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84" y="5229200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Podatkovni sloj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84" y="5877272"/>
            <a:ext cx="2232248" cy="50405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bg1"/>
                </a:solidFill>
              </a:rPr>
              <a:t>Fizički sloj</a:t>
            </a:r>
          </a:p>
        </p:txBody>
      </p:sp>
      <p:sp>
        <p:nvSpPr>
          <p:cNvPr id="2" name="Pravokutnik: zaobljeni kutovi 1"/>
          <p:cNvSpPr/>
          <p:nvPr/>
        </p:nvSpPr>
        <p:spPr>
          <a:xfrm>
            <a:off x="827584" y="5517232"/>
            <a:ext cx="5184576" cy="864096"/>
          </a:xfrm>
          <a:prstGeom prst="roundRect">
            <a:avLst/>
          </a:prstGeom>
          <a:solidFill>
            <a:schemeClr val="tx1">
              <a:lumMod val="50000"/>
              <a:alpha val="62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hr-HR" dirty="0" err="1"/>
              <a:t>Ethernet</a:t>
            </a:r>
            <a:r>
              <a:rPr lang="hr-HR" dirty="0"/>
              <a:t> (802.3)</a:t>
            </a:r>
          </a:p>
        </p:txBody>
      </p:sp>
      <p:sp>
        <p:nvSpPr>
          <p:cNvPr id="3" name="TekstniOkvir 2"/>
          <p:cNvSpPr txBox="1"/>
          <p:nvPr/>
        </p:nvSpPr>
        <p:spPr>
          <a:xfrm>
            <a:off x="1331640" y="548122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400" dirty="0">
                <a:solidFill>
                  <a:srgbClr val="C00000"/>
                </a:solidFill>
              </a:rPr>
              <a:t>MAC</a:t>
            </a:r>
          </a:p>
        </p:txBody>
      </p:sp>
      <p:sp>
        <p:nvSpPr>
          <p:cNvPr id="17" name="Pravokutnik 16"/>
          <p:cNvSpPr/>
          <p:nvPr/>
        </p:nvSpPr>
        <p:spPr>
          <a:xfrm>
            <a:off x="3419872" y="4005064"/>
            <a:ext cx="216024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9" name="Pravokutnik 18"/>
          <p:cNvSpPr/>
          <p:nvPr/>
        </p:nvSpPr>
        <p:spPr>
          <a:xfrm>
            <a:off x="3635896" y="4005064"/>
            <a:ext cx="792088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/>
              <a:t>PODACI</a:t>
            </a:r>
          </a:p>
        </p:txBody>
      </p:sp>
      <p:sp>
        <p:nvSpPr>
          <p:cNvPr id="20" name="Pravokutnik 19"/>
          <p:cNvSpPr/>
          <p:nvPr/>
        </p:nvSpPr>
        <p:spPr>
          <a:xfrm>
            <a:off x="4675356" y="4005064"/>
            <a:ext cx="216024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1" name="Pravokutnik 20"/>
          <p:cNvSpPr/>
          <p:nvPr/>
        </p:nvSpPr>
        <p:spPr>
          <a:xfrm>
            <a:off x="4891380" y="4005064"/>
            <a:ext cx="792088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/>
              <a:t>PODACI</a:t>
            </a:r>
          </a:p>
        </p:txBody>
      </p:sp>
      <p:sp>
        <p:nvSpPr>
          <p:cNvPr id="22" name="Pravokutnik 21"/>
          <p:cNvSpPr/>
          <p:nvPr/>
        </p:nvSpPr>
        <p:spPr>
          <a:xfrm>
            <a:off x="5982519" y="4006455"/>
            <a:ext cx="216024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3" name="Pravokutnik 22"/>
          <p:cNvSpPr/>
          <p:nvPr/>
        </p:nvSpPr>
        <p:spPr>
          <a:xfrm>
            <a:off x="6198543" y="4006455"/>
            <a:ext cx="792088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/>
              <a:t>PODACI</a:t>
            </a:r>
          </a:p>
        </p:txBody>
      </p:sp>
      <p:sp>
        <p:nvSpPr>
          <p:cNvPr id="18" name="TekstniOkvir 17"/>
          <p:cNvSpPr txBox="1"/>
          <p:nvPr/>
        </p:nvSpPr>
        <p:spPr>
          <a:xfrm>
            <a:off x="4675356" y="3671747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segment</a:t>
            </a:r>
          </a:p>
        </p:txBody>
      </p:sp>
      <p:sp>
        <p:nvSpPr>
          <p:cNvPr id="25" name="TekstniOkvir 24"/>
          <p:cNvSpPr txBox="1"/>
          <p:nvPr/>
        </p:nvSpPr>
        <p:spPr>
          <a:xfrm>
            <a:off x="3471550" y="3679285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segment</a:t>
            </a:r>
          </a:p>
        </p:txBody>
      </p:sp>
      <p:sp>
        <p:nvSpPr>
          <p:cNvPr id="26" name="TekstniOkvir 25"/>
          <p:cNvSpPr txBox="1"/>
          <p:nvPr/>
        </p:nvSpPr>
        <p:spPr>
          <a:xfrm>
            <a:off x="6012160" y="3660068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segment</a:t>
            </a:r>
          </a:p>
        </p:txBody>
      </p:sp>
      <p:sp>
        <p:nvSpPr>
          <p:cNvPr id="29" name="Pravokutnik 28"/>
          <p:cNvSpPr/>
          <p:nvPr/>
        </p:nvSpPr>
        <p:spPr>
          <a:xfrm>
            <a:off x="3562449" y="2766414"/>
            <a:ext cx="3025775" cy="30889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/>
              <a:t>PODACI</a:t>
            </a:r>
          </a:p>
        </p:txBody>
      </p:sp>
      <p:sp>
        <p:nvSpPr>
          <p:cNvPr id="27" name="Desna vitičasta zagrada 26"/>
          <p:cNvSpPr/>
          <p:nvPr/>
        </p:nvSpPr>
        <p:spPr>
          <a:xfrm>
            <a:off x="3059832" y="2018457"/>
            <a:ext cx="360040" cy="1770583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1" name="Pravokutnik 30"/>
          <p:cNvSpPr/>
          <p:nvPr/>
        </p:nvSpPr>
        <p:spPr>
          <a:xfrm>
            <a:off x="4656600" y="4604362"/>
            <a:ext cx="216024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2" name="Pravokutnik 31"/>
          <p:cNvSpPr/>
          <p:nvPr/>
        </p:nvSpPr>
        <p:spPr>
          <a:xfrm>
            <a:off x="4872624" y="4604362"/>
            <a:ext cx="792088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/>
              <a:t>PODACI</a:t>
            </a:r>
          </a:p>
        </p:txBody>
      </p:sp>
      <p:sp>
        <p:nvSpPr>
          <p:cNvPr id="33" name="Pravokutnik 32"/>
          <p:cNvSpPr/>
          <p:nvPr/>
        </p:nvSpPr>
        <p:spPr>
          <a:xfrm>
            <a:off x="4211960" y="4611899"/>
            <a:ext cx="432048" cy="2811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4" name="TekstniOkvir 33"/>
          <p:cNvSpPr txBox="1"/>
          <p:nvPr/>
        </p:nvSpPr>
        <p:spPr>
          <a:xfrm>
            <a:off x="4479662" y="4312638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paket</a:t>
            </a:r>
          </a:p>
        </p:txBody>
      </p:sp>
      <p:sp>
        <p:nvSpPr>
          <p:cNvPr id="35" name="Pravokutnik 34"/>
          <p:cNvSpPr/>
          <p:nvPr/>
        </p:nvSpPr>
        <p:spPr>
          <a:xfrm>
            <a:off x="4656600" y="5226803"/>
            <a:ext cx="216024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6" name="Pravokutnik 35"/>
          <p:cNvSpPr/>
          <p:nvPr/>
        </p:nvSpPr>
        <p:spPr>
          <a:xfrm>
            <a:off x="4872624" y="5226803"/>
            <a:ext cx="792088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/>
              <a:t>PODACI</a:t>
            </a:r>
          </a:p>
        </p:txBody>
      </p:sp>
      <p:sp>
        <p:nvSpPr>
          <p:cNvPr id="37" name="Pravokutnik 36"/>
          <p:cNvSpPr/>
          <p:nvPr/>
        </p:nvSpPr>
        <p:spPr>
          <a:xfrm>
            <a:off x="4211960" y="5226803"/>
            <a:ext cx="432048" cy="2811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8" name="Pravokutnik 37"/>
          <p:cNvSpPr/>
          <p:nvPr/>
        </p:nvSpPr>
        <p:spPr>
          <a:xfrm>
            <a:off x="3635896" y="5226804"/>
            <a:ext cx="555734" cy="2887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9" name="Pravokutnik 38"/>
          <p:cNvSpPr/>
          <p:nvPr/>
        </p:nvSpPr>
        <p:spPr>
          <a:xfrm>
            <a:off x="5664712" y="5226803"/>
            <a:ext cx="347448" cy="290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0" name="TekstniOkvir 39"/>
          <p:cNvSpPr txBox="1"/>
          <p:nvPr/>
        </p:nvSpPr>
        <p:spPr>
          <a:xfrm>
            <a:off x="4479662" y="4945991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okvir</a:t>
            </a:r>
          </a:p>
        </p:txBody>
      </p:sp>
    </p:spTree>
    <p:extLst>
      <p:ext uri="{BB962C8B-B14F-4D97-AF65-F5344CB8AC3E}">
        <p14:creationId xmlns:p14="http://schemas.microsoft.com/office/powerpoint/2010/main" val="22440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" grpId="0" animBg="1"/>
      <p:bldP spid="3" grpId="0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8" grpId="0"/>
      <p:bldP spid="25" grpId="0"/>
      <p:bldP spid="26" grpId="0"/>
      <p:bldP spid="29" grpId="0" animBg="1"/>
      <p:bldP spid="27" grpId="0" animBg="1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480403" y="1340768"/>
            <a:ext cx="7956550" cy="410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3200" u="sng" dirty="0" err="1"/>
              <a:t>Enkapsulacija</a:t>
            </a:r>
            <a:endParaRPr lang="hr-HR" sz="3200" u="sng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12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PDU sloja 3 OSI modela (paket) prepakira se u PDU sloja 2 (okvir)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Tri osnovne funkcije: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Kreiranje okvira 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Adresiranje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Detekcija pogrešaka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Format 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Ethernet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okvira: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81960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 err="1"/>
              <a:t>Podsloj</a:t>
            </a:r>
            <a:r>
              <a:rPr lang="hr-HR" dirty="0"/>
              <a:t> MAC (</a:t>
            </a:r>
            <a:r>
              <a:rPr lang="hr-HR" sz="3200" dirty="0"/>
              <a:t>Media Access </a:t>
            </a:r>
            <a:r>
              <a:rPr lang="hr-HR" sz="3200" dirty="0" err="1"/>
              <a:t>Control</a:t>
            </a:r>
            <a:r>
              <a:rPr lang="hr-HR" sz="3200" dirty="0"/>
              <a:t>)</a:t>
            </a:r>
            <a:endParaRPr lang="hr-HR" dirty="0"/>
          </a:p>
        </p:txBody>
      </p:sp>
      <p:pic>
        <p:nvPicPr>
          <p:cNvPr id="15" name="Slika 1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68"/>
          <a:stretch/>
        </p:blipFill>
        <p:spPr>
          <a:xfrm>
            <a:off x="1475656" y="5224000"/>
            <a:ext cx="5760720" cy="84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0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480403" y="1340768"/>
            <a:ext cx="7956550" cy="478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3200" u="sng" dirty="0"/>
              <a:t>Kontrola pristupa mediju</a:t>
            </a:r>
            <a:endParaRPr lang="hr-HR" sz="3200" u="sng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pl-PL" altLang="sr-Latn-RS" sz="3200" dirty="0">
                <a:latin typeface="Calibri" pitchFamily="34" charset="0"/>
                <a:cs typeface="Calibri" pitchFamily="34" charset="0"/>
              </a:rPr>
              <a:t>odgovoran je za postavljanje okvira na medij i uklanjanje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ako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više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uređaja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na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jednom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mediju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pokuša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istovremeno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proslijediti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podatke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doći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će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do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kolizije</a:t>
            </a: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sr-Latn-RS" sz="3200" dirty="0" err="1">
                <a:latin typeface="Calibri" pitchFamily="34" charset="0"/>
                <a:cs typeface="Calibri" pitchFamily="34" charset="0"/>
              </a:rPr>
              <a:t>podataka</a:t>
            </a:r>
            <a:endParaRPr lang="en-US" altLang="sr-Latn-RS" sz="32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altLang="sr-Latn-RS" sz="3200" dirty="0">
                <a:latin typeface="Calibri" pitchFamily="34" charset="0"/>
                <a:cs typeface="Calibri" pitchFamily="34" charset="0"/>
              </a:rPr>
              <a:t>CSMA</a:t>
            </a:r>
            <a:r>
              <a:rPr lang="hr-HR" altLang="sr-Latn-RS" sz="3200" dirty="0">
                <a:latin typeface="Calibri" pitchFamily="34" charset="0"/>
                <a:cs typeface="Calibri" pitchFamily="34" charset="0"/>
              </a:rPr>
              <a:t>/CD protokol (metoda, mehanizam)</a:t>
            </a:r>
            <a:endParaRPr lang="en-US" altLang="sr-Latn-RS" sz="32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81369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 err="1"/>
              <a:t>Podsloj</a:t>
            </a:r>
            <a:r>
              <a:rPr lang="hr-HR" dirty="0"/>
              <a:t> MAC (</a:t>
            </a:r>
            <a:r>
              <a:rPr lang="hr-HR" sz="3200" dirty="0"/>
              <a:t>Media Access </a:t>
            </a:r>
            <a:r>
              <a:rPr lang="hr-HR" sz="3200" dirty="0" err="1"/>
              <a:t>Control</a:t>
            </a:r>
            <a:r>
              <a:rPr lang="hr-HR" sz="3200" dirty="0"/>
              <a:t>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7425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CSMA/CD</a:t>
            </a:r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461781" y="1415092"/>
            <a:ext cx="3274475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dirty="0" err="1">
                <a:latin typeface="Calibri" pitchFamily="34" charset="0"/>
                <a:cs typeface="Calibri" pitchFamily="34" charset="0"/>
              </a:rPr>
              <a:t>Carrier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b="1" dirty="0" err="1">
                <a:latin typeface="Calibri" pitchFamily="34" charset="0"/>
                <a:cs typeface="Calibri" pitchFamily="34" charset="0"/>
              </a:rPr>
              <a:t>Sense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- uređaj prvo provjerava je li medij slobodan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b="1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dirty="0" err="1">
                <a:latin typeface="Calibri" pitchFamily="34" charset="0"/>
                <a:cs typeface="Calibri" pitchFamily="34" charset="0"/>
              </a:rPr>
              <a:t>Multiple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Access -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na jedan medij spojeno više uređaja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b="1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dirty="0" err="1">
                <a:latin typeface="Calibri" pitchFamily="34" charset="0"/>
                <a:cs typeface="Calibri" pitchFamily="34" charset="0"/>
              </a:rPr>
              <a:t>Collision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b="1" dirty="0" err="1">
                <a:latin typeface="Calibri" pitchFamily="34" charset="0"/>
                <a:cs typeface="Calibri" pitchFamily="34" charset="0"/>
              </a:rPr>
              <a:t>Detection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-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postoji mehanizam otkrivanja i rješavanja kolizija</a:t>
            </a:r>
          </a:p>
        </p:txBody>
      </p:sp>
      <p:pic>
        <p:nvPicPr>
          <p:cNvPr id="7" name="Picture 6" descr="0054_csmaa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57808" y="1956470"/>
            <a:ext cx="5046662" cy="35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141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CSMA/CD</a:t>
            </a:r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461781" y="1415092"/>
            <a:ext cx="3274475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dirty="0" err="1">
                <a:latin typeface="Calibri" pitchFamily="34" charset="0"/>
                <a:cs typeface="Calibri" pitchFamily="34" charset="0"/>
              </a:rPr>
              <a:t>Carrier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b="1" dirty="0" err="1">
                <a:latin typeface="Calibri" pitchFamily="34" charset="0"/>
                <a:cs typeface="Calibri" pitchFamily="34" charset="0"/>
              </a:rPr>
              <a:t>Sense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- uređaj prvo provjerava je li medij slobodan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b="1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dirty="0" err="1">
                <a:latin typeface="Calibri" pitchFamily="34" charset="0"/>
                <a:cs typeface="Calibri" pitchFamily="34" charset="0"/>
              </a:rPr>
              <a:t>Multiple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Access -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na jedan medij spojeno više uređaja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b="1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dirty="0" err="1">
                <a:latin typeface="Calibri" pitchFamily="34" charset="0"/>
                <a:cs typeface="Calibri" pitchFamily="34" charset="0"/>
              </a:rPr>
              <a:t>Collision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b="1" dirty="0" err="1">
                <a:latin typeface="Calibri" pitchFamily="34" charset="0"/>
                <a:cs typeface="Calibri" pitchFamily="34" charset="0"/>
              </a:rPr>
              <a:t>Detection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 -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postoji mehanizam otkrivanja i rješavanja kolizija</a:t>
            </a:r>
          </a:p>
        </p:txBody>
      </p:sp>
      <p:pic>
        <p:nvPicPr>
          <p:cNvPr id="1026" name="Picture 2" descr="CSMA/CA flowchart">
            <a:extLst>
              <a:ext uri="{FF2B5EF4-FFF2-40B4-BE49-F238E27FC236}">
                <a16:creationId xmlns:a16="http://schemas.microsoft.com/office/drawing/2014/main" id="{76067BEB-461C-42C5-BFAD-0E2F4982E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94320"/>
            <a:ext cx="3024336" cy="666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2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323528" y="1772816"/>
            <a:ext cx="8496944" cy="4539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b="1" dirty="0">
                <a:latin typeface="Calibri" pitchFamily="34" charset="0"/>
                <a:cs typeface="Calibri" pitchFamily="34" charset="0"/>
              </a:rPr>
              <a:t>Kolizijska domena </a:t>
            </a:r>
            <a:r>
              <a:rPr lang="hr-HR" dirty="0">
                <a:latin typeface="Calibri" pitchFamily="34" charset="0"/>
                <a:cs typeface="Calibri" pitchFamily="34" charset="0"/>
              </a:rPr>
              <a:t>- dio mreže u kojem može nastupiti kolizija ako istovremeno dva ili više čvorova odašilju podatke 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Mrežno područje koje pokriva koncentrator (HUB) = kolizijska domena</a:t>
            </a: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SzPct val="76000"/>
            </a:pPr>
            <a:endParaRPr lang="hr-HR" b="1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b="1" dirty="0" err="1">
                <a:latin typeface="Calibri" pitchFamily="34" charset="0"/>
                <a:cs typeface="Calibri" pitchFamily="34" charset="0"/>
              </a:rPr>
              <a:t>Broadcast</a:t>
            </a:r>
            <a:r>
              <a:rPr lang="hr-HR" b="1" dirty="0">
                <a:latin typeface="Calibri" pitchFamily="34" charset="0"/>
                <a:cs typeface="Calibri" pitchFamily="34" charset="0"/>
              </a:rPr>
              <a:t> domena - </a:t>
            </a:r>
            <a:r>
              <a:rPr lang="hr-HR" dirty="0">
                <a:latin typeface="Calibri" pitchFamily="34" charset="0"/>
                <a:cs typeface="Calibri" pitchFamily="34" charset="0"/>
              </a:rPr>
              <a:t>dio mreže u kojem je moguće razmjenjivati </a:t>
            </a:r>
            <a:r>
              <a:rPr lang="hr-HR" dirty="0" err="1">
                <a:latin typeface="Calibri" pitchFamily="34" charset="0"/>
                <a:cs typeface="Calibri" pitchFamily="34" charset="0"/>
              </a:rPr>
              <a:t>broadcast</a:t>
            </a:r>
            <a:r>
              <a:rPr lang="hr-HR" dirty="0">
                <a:latin typeface="Calibri" pitchFamily="34" charset="0"/>
                <a:cs typeface="Calibri" pitchFamily="34" charset="0"/>
              </a:rPr>
              <a:t> poruke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Mrežno područje koje pokriva preklopnik (switch) = </a:t>
            </a:r>
            <a:r>
              <a:rPr lang="hr-HR" dirty="0" err="1">
                <a:latin typeface="Calibri" pitchFamily="34" charset="0"/>
                <a:cs typeface="Calibri" pitchFamily="34" charset="0"/>
              </a:rPr>
              <a:t>broadcast</a:t>
            </a:r>
            <a:r>
              <a:rPr lang="hr-HR" dirty="0">
                <a:latin typeface="Calibri" pitchFamily="34" charset="0"/>
                <a:cs typeface="Calibri" pitchFamily="34" charset="0"/>
              </a:rPr>
              <a:t> domena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eaLnBrk="1" hangingPunct="1"/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Kolizijska domena</a:t>
            </a:r>
          </a:p>
        </p:txBody>
      </p:sp>
    </p:spTree>
    <p:extLst>
      <p:ext uri="{BB962C8B-B14F-4D97-AF65-F5344CB8AC3E}">
        <p14:creationId xmlns:p14="http://schemas.microsoft.com/office/powerpoint/2010/main" val="154385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251520" y="2996952"/>
            <a:ext cx="8496944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Dijeli mrežu na kolizijske domene (svaki </a:t>
            </a:r>
            <a:r>
              <a:rPr lang="hr-HR" dirty="0" err="1">
                <a:latin typeface="Calibri" pitchFamily="34" charset="0"/>
                <a:cs typeface="Calibri" pitchFamily="34" charset="0"/>
              </a:rPr>
              <a:t>port</a:t>
            </a:r>
            <a:r>
              <a:rPr lang="hr-HR" dirty="0">
                <a:latin typeface="Calibri" pitchFamily="34" charset="0"/>
                <a:cs typeface="Calibri" pitchFamily="34" charset="0"/>
              </a:rPr>
              <a:t> preklopnika predstavlja jednu kolizijsku domenu)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Očitava MAC adrese koje imaju okviri i prosljeđuje ih u smjeru odredišta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Formira tablicu MAC adresa po kojoj brzo raspoređuje okvire – kreira bazu podataka (uči)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b="1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eaLnBrk="1" hangingPunct="1"/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Preklopnik (engl. </a:t>
            </a:r>
            <a:r>
              <a:rPr lang="hr-HR" dirty="0" err="1"/>
              <a:t>switch</a:t>
            </a:r>
            <a:r>
              <a:rPr lang="hr-HR" dirty="0"/>
              <a:t>)</a:t>
            </a:r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718" b="76923" l="3305" r="96094">
                        <a14:foregroundMark x1="12440" y1="65919" x2="13221" y2="69872"/>
                        <a14:foregroundMark x1="15505" y1="66880" x2="15264" y2="71902"/>
                        <a14:foregroundMark x1="17909" y1="65278" x2="18690" y2="71902"/>
                        <a14:foregroundMark x1="21514" y1="66560" x2="22476" y2="72222"/>
                        <a14:foregroundMark x1="24339" y1="66880" x2="91046" y2="65598"/>
                        <a14:foregroundMark x1="24159" y1="70940" x2="90084" y2="726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1960" y="620688"/>
            <a:ext cx="5004048" cy="28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1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Načini komunikacije</a:t>
            </a:r>
          </a:p>
        </p:txBody>
      </p:sp>
      <p:pic>
        <p:nvPicPr>
          <p:cNvPr id="2" name="Slika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40768"/>
            <a:ext cx="7279531" cy="50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59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Upravljanje slanjem i primanjem okvira pomoću medija za prijenos podataka</a:t>
            </a:r>
          </a:p>
          <a:p>
            <a:endParaRPr lang="hr-HR" dirty="0">
              <a:latin typeface="Calibri" pitchFamily="34" charset="0"/>
              <a:cs typeface="Calibri" pitchFamily="34" charset="0"/>
            </a:endParaRPr>
          </a:p>
          <a:p>
            <a:r>
              <a:rPr lang="hr-HR" dirty="0">
                <a:latin typeface="Calibri" pitchFamily="34" charset="0"/>
                <a:cs typeface="Calibri" pitchFamily="34" charset="0"/>
              </a:rPr>
              <a:t>Riješavanje situacija ukoliko dođe do pogreške prilikom prijenosa podataka</a:t>
            </a:r>
          </a:p>
        </p:txBody>
      </p:sp>
      <p:sp>
        <p:nvSpPr>
          <p:cNvPr id="4" name="Text Box 14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57200" y="558225"/>
            <a:ext cx="822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Kontrola pristupa mediju</a:t>
            </a:r>
          </a:p>
        </p:txBody>
      </p:sp>
    </p:spTree>
    <p:extLst>
      <p:ext uri="{BB962C8B-B14F-4D97-AF65-F5344CB8AC3E}">
        <p14:creationId xmlns:p14="http://schemas.microsoft.com/office/powerpoint/2010/main" val="21002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51520" y="188640"/>
            <a:ext cx="828092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hr-HR" sz="2400"/>
              <a:t>Ethernet na fizičkoj razini</a:t>
            </a:r>
          </a:p>
          <a:p>
            <a:pPr algn="l" eaLnBrk="1" hangingPunct="1"/>
            <a:endParaRPr lang="hr-HR" sz="24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8B4641-5652-42D6-94EA-E72EF9BAA14D}"/>
              </a:ext>
            </a:extLst>
          </p:cNvPr>
          <p:cNvGrpSpPr/>
          <p:nvPr/>
        </p:nvGrpSpPr>
        <p:grpSpPr>
          <a:xfrm>
            <a:off x="-108520" y="604138"/>
            <a:ext cx="9289032" cy="6253862"/>
            <a:chOff x="-108520" y="604138"/>
            <a:chExt cx="9289032" cy="6253862"/>
          </a:xfrm>
        </p:grpSpPr>
        <p:pic>
          <p:nvPicPr>
            <p:cNvPr id="13315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774"/>
            <a:stretch/>
          </p:blipFill>
          <p:spPr bwMode="auto">
            <a:xfrm>
              <a:off x="-108520" y="604138"/>
              <a:ext cx="6984776" cy="625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F45430F-B693-4FA4-B8B7-D6E06152A7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79"/>
            <a:stretch/>
          </p:blipFill>
          <p:spPr bwMode="auto">
            <a:xfrm>
              <a:off x="5483732" y="604138"/>
              <a:ext cx="3696780" cy="625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77173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468313" y="1052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endParaRPr lang="en-US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808038" y="9271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560388" y="1135932"/>
            <a:ext cx="8146801" cy="3431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endParaRPr lang="hr-HR" dirty="0"/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 jednostavnost i lakoća korištenja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Pouzdanost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Niska cijena instalacije i održavanja</a:t>
            </a:r>
          </a:p>
          <a:p>
            <a:pPr algn="l" eaLnBrk="1" hangingPunct="1">
              <a:buFontTx/>
              <a:buChar char="-"/>
            </a:pPr>
            <a:endParaRPr lang="hr-HR" dirty="0"/>
          </a:p>
          <a:p>
            <a:pPr algn="l" eaLnBrk="1" hangingPunct="1">
              <a:buFontTx/>
              <a:buChar char="-"/>
            </a:pPr>
            <a:endParaRPr lang="hr-HR" dirty="0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471116" y="578494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Ethernet - prednosti</a:t>
            </a:r>
          </a:p>
        </p:txBody>
      </p:sp>
    </p:spTree>
    <p:extLst>
      <p:ext uri="{BB962C8B-B14F-4D97-AF65-F5344CB8AC3E}">
        <p14:creationId xmlns:p14="http://schemas.microsoft.com/office/powerpoint/2010/main" val="329493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5876-D663-58C0-66B7-BF1E0570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DC1F7-D918-4093-2DAC-B1EC4B5AFA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1.  Pojasni što je Ethernet te na kojim slojevima djeluje ?</a:t>
            </a:r>
          </a:p>
          <a:p>
            <a:r>
              <a:rPr lang="hr-HR" dirty="0"/>
              <a:t>2.  Od kojih se podslojeva sastoji sloj podatkovne veze ? Opiši ih ?</a:t>
            </a:r>
          </a:p>
          <a:p>
            <a:r>
              <a:rPr lang="hr-HR" dirty="0"/>
              <a:t>3. Podsloj MAC – opiši enkapsulaciju ?</a:t>
            </a:r>
          </a:p>
          <a:p>
            <a:r>
              <a:rPr lang="hr-HR" dirty="0"/>
              <a:t>4. Podsloj MAC – opiši kontrolu pristupa mediju ?</a:t>
            </a:r>
          </a:p>
          <a:p>
            <a:r>
              <a:rPr lang="hr-HR" dirty="0"/>
              <a:t>5. Objasni CSMA/CD ?</a:t>
            </a:r>
          </a:p>
          <a:p>
            <a:r>
              <a:rPr lang="hr-HR" dirty="0"/>
              <a:t>6. Objasni kolizijsku i brodcast domenu ?</a:t>
            </a:r>
          </a:p>
          <a:p>
            <a:r>
              <a:rPr lang="hr-HR" dirty="0"/>
              <a:t>7.  Opiši funkcije preklopnika ?</a:t>
            </a:r>
          </a:p>
          <a:p>
            <a:r>
              <a:rPr lang="hr-HR" dirty="0"/>
              <a:t>8.  Opiši načine komunikacije slanja poruka ?</a:t>
            </a:r>
          </a:p>
          <a:p>
            <a:r>
              <a:rPr lang="hr-HR" dirty="0"/>
              <a:t>9.  Koje ima zadaće kontrola pristupu mediju ?</a:t>
            </a:r>
          </a:p>
          <a:p>
            <a:r>
              <a:rPr lang="hr-HR"/>
              <a:t>10. Navedi </a:t>
            </a:r>
            <a:r>
              <a:rPr lang="hr-HR" dirty="0"/>
              <a:t>prednosti Etherneta ?</a:t>
            </a:r>
          </a:p>
        </p:txBody>
      </p:sp>
    </p:spTree>
    <p:extLst>
      <p:ext uri="{BB962C8B-B14F-4D97-AF65-F5344CB8AC3E}">
        <p14:creationId xmlns:p14="http://schemas.microsoft.com/office/powerpoint/2010/main" val="3442659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311e1801ccda84ba81c0d1833d3c6843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e75d90df016b33bfbe8e0c9e77e49ad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F865B3-94C3-4EA5-8F17-71801F9E5436}"/>
</file>

<file path=customXml/itemProps2.xml><?xml version="1.0" encoding="utf-8"?>
<ds:datastoreItem xmlns:ds="http://schemas.openxmlformats.org/officeDocument/2006/customXml" ds:itemID="{7C24693D-0B1E-4A7D-89F5-D4C631975824}"/>
</file>

<file path=customXml/itemProps3.xml><?xml version="1.0" encoding="utf-8"?>
<ds:datastoreItem xmlns:ds="http://schemas.openxmlformats.org/officeDocument/2006/customXml" ds:itemID="{512239BB-77DB-4263-8989-2DCCAEA4D863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2938</TotalTime>
  <Words>639</Words>
  <Application>Microsoft Office PowerPoint</Application>
  <PresentationFormat>On-screen Show (4:3)</PresentationFormat>
  <Paragraphs>146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Visio</vt:lpstr>
      <vt:lpstr>PODATKOVNI SLOJ Ethernet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Kontrola pristupa mediju</vt:lpstr>
      <vt:lpstr>PowerPoint Presentation</vt:lpstr>
      <vt:lpstr>PowerPoint Presentation</vt:lpstr>
      <vt:lpstr>Pitanja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Opći model komunikacijskog sustava</dc:title>
  <dc:creator>p</dc:creator>
  <cp:lastModifiedBy>Luka Huzjak</cp:lastModifiedBy>
  <cp:revision>128</cp:revision>
  <cp:lastPrinted>2015-09-11T08:26:32Z</cp:lastPrinted>
  <dcterms:created xsi:type="dcterms:W3CDTF">2015-09-07T20:59:37Z</dcterms:created>
  <dcterms:modified xsi:type="dcterms:W3CDTF">2024-11-19T09:19:32Z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