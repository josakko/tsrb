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256" r:id="rId5"/>
    <p:sldId id="366" r:id="rId6"/>
    <p:sldId id="365" r:id="rId7"/>
    <p:sldId id="371" r:id="rId8"/>
    <p:sldId id="369" r:id="rId9"/>
    <p:sldId id="363" r:id="rId10"/>
    <p:sldId id="358" r:id="rId11"/>
    <p:sldId id="359" r:id="rId12"/>
    <p:sldId id="364" r:id="rId13"/>
    <p:sldId id="367" r:id="rId14"/>
    <p:sldId id="372" r:id="rId15"/>
    <p:sldId id="373" r:id="rId16"/>
    <p:sldId id="360" r:id="rId17"/>
    <p:sldId id="368" r:id="rId18"/>
    <p:sldId id="362" r:id="rId19"/>
    <p:sldId id="370" r:id="rId20"/>
    <p:sldId id="375" r:id="rId21"/>
    <p:sldId id="374" r:id="rId22"/>
  </p:sldIdLst>
  <p:sldSz cx="9144000" cy="6858000" type="screen4x3"/>
  <p:notesSz cx="6834188" cy="9979025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4FD564-7C87-C94D-88E2-B36CF19F4E79}" v="23" dt="2024-11-04T10:39:03.6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ov Štefanović" userId="6937328c-237f-4058-9c4d-0cb9ac6d799b" providerId="ADAL" clId="{454FD564-7C87-C94D-88E2-B36CF19F4E79}"/>
    <pc:docChg chg="modSld">
      <pc:chgData name="Jakov Štefanović" userId="6937328c-237f-4058-9c4d-0cb9ac6d799b" providerId="ADAL" clId="{454FD564-7C87-C94D-88E2-B36CF19F4E79}" dt="2024-11-04T10:39:03.686" v="22" actId="20577"/>
      <pc:docMkLst>
        <pc:docMk/>
      </pc:docMkLst>
      <pc:sldChg chg="modSp">
        <pc:chgData name="Jakov Štefanović" userId="6937328c-237f-4058-9c4d-0cb9ac6d799b" providerId="ADAL" clId="{454FD564-7C87-C94D-88E2-B36CF19F4E79}" dt="2024-11-04T10:39:03.686" v="22" actId="20577"/>
        <pc:sldMkLst>
          <pc:docMk/>
          <pc:sldMk cId="2640358962" sldId="369"/>
        </pc:sldMkLst>
        <pc:spChg chg="mod">
          <ac:chgData name="Jakov Štefanović" userId="6937328c-237f-4058-9c4d-0cb9ac6d799b" providerId="ADAL" clId="{454FD564-7C87-C94D-88E2-B36CF19F4E79}" dt="2024-11-04T10:39:03.686" v="22" actId="20577"/>
          <ac:spMkLst>
            <pc:docMk/>
            <pc:sldMk cId="2640358962" sldId="369"/>
            <ac:spMk id="110607" creationId="{00000000-0000-0000-0000-000000000000}"/>
          </ac:spMkLst>
        </pc:spChg>
      </pc:sldChg>
    </pc:docChg>
  </pc:docChgLst>
  <pc:docChgLst>
    <pc:chgData name="Zoran Dumančić" userId="70f12f27-58fe-414c-89aa-9264ee582611" providerId="ADAL" clId="{3585B4EC-F8BF-4445-9411-7EC506BE0949}"/>
    <pc:docChg chg="custSel addSld modSld">
      <pc:chgData name="Zoran Dumančić" userId="70f12f27-58fe-414c-89aa-9264ee582611" providerId="ADAL" clId="{3585B4EC-F8BF-4445-9411-7EC506BE0949}" dt="2021-01-19T16:49:00.545" v="35" actId="729"/>
      <pc:docMkLst>
        <pc:docMk/>
      </pc:docMkLst>
      <pc:sldChg chg="addSp delSp modSp add mod modShow">
        <pc:chgData name="Zoran Dumančić" userId="70f12f27-58fe-414c-89aa-9264ee582611" providerId="ADAL" clId="{3585B4EC-F8BF-4445-9411-7EC506BE0949}" dt="2021-01-19T16:49:00.545" v="35" actId="729"/>
        <pc:sldMkLst>
          <pc:docMk/>
          <pc:sldMk cId="2836583925" sldId="372"/>
        </pc:sldMkLst>
        <pc:spChg chg="mod">
          <ac:chgData name="Zoran Dumančić" userId="70f12f27-58fe-414c-89aa-9264ee582611" providerId="ADAL" clId="{3585B4EC-F8BF-4445-9411-7EC506BE0949}" dt="2021-01-19T16:30:48.564" v="21" actId="6549"/>
          <ac:spMkLst>
            <pc:docMk/>
            <pc:sldMk cId="2836583925" sldId="372"/>
            <ac:spMk id="4" creationId="{00000000-0000-0000-0000-000000000000}"/>
          </ac:spMkLst>
        </pc:spChg>
        <pc:spChg chg="mod">
          <ac:chgData name="Zoran Dumančić" userId="70f12f27-58fe-414c-89aa-9264ee582611" providerId="ADAL" clId="{3585B4EC-F8BF-4445-9411-7EC506BE0949}" dt="2021-01-19T16:30:51.373" v="22" actId="6549"/>
          <ac:spMkLst>
            <pc:docMk/>
            <pc:sldMk cId="2836583925" sldId="372"/>
            <ac:spMk id="5" creationId="{00000000-0000-0000-0000-000000000000}"/>
          </ac:spMkLst>
        </pc:spChg>
        <pc:spChg chg="mod">
          <ac:chgData name="Zoran Dumančić" userId="70f12f27-58fe-414c-89aa-9264ee582611" providerId="ADAL" clId="{3585B4EC-F8BF-4445-9411-7EC506BE0949}" dt="2021-01-19T16:30:54.028" v="23" actId="6549"/>
          <ac:spMkLst>
            <pc:docMk/>
            <pc:sldMk cId="2836583925" sldId="372"/>
            <ac:spMk id="6" creationId="{00000000-0000-0000-0000-000000000000}"/>
          </ac:spMkLst>
        </pc:spChg>
        <pc:spChg chg="mod">
          <ac:chgData name="Zoran Dumančić" userId="70f12f27-58fe-414c-89aa-9264ee582611" providerId="ADAL" clId="{3585B4EC-F8BF-4445-9411-7EC506BE0949}" dt="2021-01-19T16:30:41.235" v="20" actId="6549"/>
          <ac:spMkLst>
            <pc:docMk/>
            <pc:sldMk cId="2836583925" sldId="372"/>
            <ac:spMk id="18" creationId="{00000000-0000-0000-0000-000000000000}"/>
          </ac:spMkLst>
        </pc:spChg>
        <pc:spChg chg="mod">
          <ac:chgData name="Zoran Dumančić" userId="70f12f27-58fe-414c-89aa-9264ee582611" providerId="ADAL" clId="{3585B4EC-F8BF-4445-9411-7EC506BE0949}" dt="2021-01-19T16:30:25.362" v="16" actId="6549"/>
          <ac:spMkLst>
            <pc:docMk/>
            <pc:sldMk cId="2836583925" sldId="372"/>
            <ac:spMk id="19" creationId="{00000000-0000-0000-0000-000000000000}"/>
          </ac:spMkLst>
        </pc:spChg>
        <pc:spChg chg="mod">
          <ac:chgData name="Zoran Dumančić" userId="70f12f27-58fe-414c-89aa-9264ee582611" providerId="ADAL" clId="{3585B4EC-F8BF-4445-9411-7EC506BE0949}" dt="2021-01-19T16:30:30.156" v="17" actId="6549"/>
          <ac:spMkLst>
            <pc:docMk/>
            <pc:sldMk cId="2836583925" sldId="372"/>
            <ac:spMk id="22" creationId="{00000000-0000-0000-0000-000000000000}"/>
          </ac:spMkLst>
        </pc:spChg>
        <pc:spChg chg="mod">
          <ac:chgData name="Zoran Dumančić" userId="70f12f27-58fe-414c-89aa-9264ee582611" providerId="ADAL" clId="{3585B4EC-F8BF-4445-9411-7EC506BE0949}" dt="2021-01-19T16:30:33.990" v="18" actId="6549"/>
          <ac:spMkLst>
            <pc:docMk/>
            <pc:sldMk cId="2836583925" sldId="372"/>
            <ac:spMk id="23" creationId="{00000000-0000-0000-0000-000000000000}"/>
          </ac:spMkLst>
        </pc:spChg>
        <pc:spChg chg="mod">
          <ac:chgData name="Zoran Dumančić" userId="70f12f27-58fe-414c-89aa-9264ee582611" providerId="ADAL" clId="{3585B4EC-F8BF-4445-9411-7EC506BE0949}" dt="2021-01-19T16:30:38.788" v="19" actId="6549"/>
          <ac:spMkLst>
            <pc:docMk/>
            <pc:sldMk cId="2836583925" sldId="372"/>
            <ac:spMk id="24" creationId="{00000000-0000-0000-0000-000000000000}"/>
          </ac:spMkLst>
        </pc:spChg>
        <pc:spChg chg="add mod">
          <ac:chgData name="Zoran Dumančić" userId="70f12f27-58fe-414c-89aa-9264ee582611" providerId="ADAL" clId="{3585B4EC-F8BF-4445-9411-7EC506BE0949}" dt="2021-01-19T16:29:15.521" v="13" actId="1076"/>
          <ac:spMkLst>
            <pc:docMk/>
            <pc:sldMk cId="2836583925" sldId="372"/>
            <ac:spMk id="25" creationId="{5C9A87AE-FC07-409E-A257-AF151DF5D5E4}"/>
          </ac:spMkLst>
        </pc:spChg>
        <pc:spChg chg="add mod">
          <ac:chgData name="Zoran Dumančić" userId="70f12f27-58fe-414c-89aa-9264ee582611" providerId="ADAL" clId="{3585B4EC-F8BF-4445-9411-7EC506BE0949}" dt="2021-01-19T16:29:12.824" v="12" actId="1076"/>
          <ac:spMkLst>
            <pc:docMk/>
            <pc:sldMk cId="2836583925" sldId="372"/>
            <ac:spMk id="29" creationId="{41316F5C-F07F-42B4-BE04-2A5C0E5CC3F1}"/>
          </ac:spMkLst>
        </pc:spChg>
        <pc:spChg chg="add mod">
          <ac:chgData name="Zoran Dumančić" userId="70f12f27-58fe-414c-89aa-9264ee582611" providerId="ADAL" clId="{3585B4EC-F8BF-4445-9411-7EC506BE0949}" dt="2021-01-19T16:28:55.895" v="8" actId="1076"/>
          <ac:spMkLst>
            <pc:docMk/>
            <pc:sldMk cId="2836583925" sldId="372"/>
            <ac:spMk id="31" creationId="{26C669D1-9E58-4225-926E-AE2274511484}"/>
          </ac:spMkLst>
        </pc:spChg>
        <pc:spChg chg="del">
          <ac:chgData name="Zoran Dumančić" userId="70f12f27-58fe-414c-89aa-9264ee582611" providerId="ADAL" clId="{3585B4EC-F8BF-4445-9411-7EC506BE0949}" dt="2021-01-19T16:28:26.136" v="3" actId="478"/>
          <ac:spMkLst>
            <pc:docMk/>
            <pc:sldMk cId="2836583925" sldId="372"/>
            <ac:spMk id="33" creationId="{00000000-0000-0000-0000-000000000000}"/>
          </ac:spMkLst>
        </pc:spChg>
        <pc:spChg chg="add del mod">
          <ac:chgData name="Zoran Dumančić" userId="70f12f27-58fe-414c-89aa-9264ee582611" providerId="ADAL" clId="{3585B4EC-F8BF-4445-9411-7EC506BE0949}" dt="2021-01-19T16:31:18.296" v="34" actId="478"/>
          <ac:spMkLst>
            <pc:docMk/>
            <pc:sldMk cId="2836583925" sldId="372"/>
            <ac:spMk id="34" creationId="{4B5CD26F-B5C6-453F-B173-0A5F11A1A6A0}"/>
          </ac:spMkLst>
        </pc:spChg>
        <pc:cxnChg chg="add mod">
          <ac:chgData name="Zoran Dumančić" userId="70f12f27-58fe-414c-89aa-9264ee582611" providerId="ADAL" clId="{3585B4EC-F8BF-4445-9411-7EC506BE0949}" dt="2021-01-19T16:31:11.694" v="33" actId="692"/>
          <ac:cxnSpMkLst>
            <pc:docMk/>
            <pc:sldMk cId="2836583925" sldId="372"/>
            <ac:cxnSpMk id="27" creationId="{A5D4B599-22BA-4848-8898-BBF3F0DED856}"/>
          </ac:cxnSpMkLst>
        </pc:cxnChg>
        <pc:cxnChg chg="add mod">
          <ac:chgData name="Zoran Dumančić" userId="70f12f27-58fe-414c-89aa-9264ee582611" providerId="ADAL" clId="{3585B4EC-F8BF-4445-9411-7EC506BE0949}" dt="2021-01-19T16:31:05.775" v="28" actId="692"/>
          <ac:cxnSpMkLst>
            <pc:docMk/>
            <pc:sldMk cId="2836583925" sldId="372"/>
            <ac:cxnSpMk id="35" creationId="{EE4530AE-7566-41F1-AC43-3205258BA386}"/>
          </ac:cxnSpMkLst>
        </pc:cxnChg>
      </pc:sldChg>
      <pc:sldChg chg="add mod modShow">
        <pc:chgData name="Zoran Dumančić" userId="70f12f27-58fe-414c-89aa-9264ee582611" providerId="ADAL" clId="{3585B4EC-F8BF-4445-9411-7EC506BE0949}" dt="2021-01-19T16:49:00.545" v="35" actId="729"/>
        <pc:sldMkLst>
          <pc:docMk/>
          <pc:sldMk cId="1788401249" sldId="373"/>
        </pc:sldMkLst>
      </pc:sldChg>
    </pc:docChg>
  </pc:docChgLst>
  <pc:docChgLst>
    <pc:chgData name="Zoran Dumančić" userId="70f12f27-58fe-414c-89aa-9264ee582611" providerId="ADAL" clId="{F492734A-AAFE-4BEF-B271-CE5232869542}"/>
    <pc:docChg chg="modSld">
      <pc:chgData name="Zoran Dumančić" userId="70f12f27-58fe-414c-89aa-9264ee582611" providerId="ADAL" clId="{F492734A-AAFE-4BEF-B271-CE5232869542}" dt="2022-01-25T07:22:19.257" v="4" actId="122"/>
      <pc:docMkLst>
        <pc:docMk/>
      </pc:docMkLst>
      <pc:sldChg chg="modSp modAnim">
        <pc:chgData name="Zoran Dumančić" userId="70f12f27-58fe-414c-89aa-9264ee582611" providerId="ADAL" clId="{F492734A-AAFE-4BEF-B271-CE5232869542}" dt="2022-01-25T07:22:19.257" v="4" actId="122"/>
        <pc:sldMkLst>
          <pc:docMk/>
          <pc:sldMk cId="944303405" sldId="358"/>
        </pc:sldMkLst>
        <pc:spChg chg="mod">
          <ac:chgData name="Zoran Dumančić" userId="70f12f27-58fe-414c-89aa-9264ee582611" providerId="ADAL" clId="{F492734A-AAFE-4BEF-B271-CE5232869542}" dt="2022-01-25T07:22:19.257" v="4" actId="122"/>
          <ac:spMkLst>
            <pc:docMk/>
            <pc:sldMk cId="944303405" sldId="358"/>
            <ac:spMk id="74760" creationId="{00000000-0000-0000-0000-000000000000}"/>
          </ac:spMkLst>
        </pc:spChg>
      </pc:sldChg>
      <pc:sldChg chg="mod modShow">
        <pc:chgData name="Zoran Dumančić" userId="70f12f27-58fe-414c-89aa-9264ee582611" providerId="ADAL" clId="{F492734A-AAFE-4BEF-B271-CE5232869542}" dt="2022-01-20T17:18:06.909" v="0" actId="729"/>
        <pc:sldMkLst>
          <pc:docMk/>
          <pc:sldMk cId="2640358962" sldId="369"/>
        </pc:sldMkLst>
      </pc:sldChg>
    </pc:docChg>
  </pc:docChgLst>
  <pc:docChgLst>
    <pc:chgData name="Zoran Dumančić" userId="70f12f27-58fe-414c-89aa-9264ee582611" providerId="ADAL" clId="{9022DC38-F88D-4FDF-B581-16CE652827CA}"/>
    <pc:docChg chg="addSld modSld">
      <pc:chgData name="Zoran Dumančić" userId="70f12f27-58fe-414c-89aa-9264ee582611" providerId="ADAL" clId="{9022DC38-F88D-4FDF-B581-16CE652827CA}" dt="2021-10-14T07:31:52.428" v="8" actId="20577"/>
      <pc:docMkLst>
        <pc:docMk/>
      </pc:docMkLst>
      <pc:sldChg chg="modSp add mod modAnim">
        <pc:chgData name="Zoran Dumančić" userId="70f12f27-58fe-414c-89aa-9264ee582611" providerId="ADAL" clId="{9022DC38-F88D-4FDF-B581-16CE652827CA}" dt="2021-10-14T07:31:52.428" v="8" actId="20577"/>
        <pc:sldMkLst>
          <pc:docMk/>
          <pc:sldMk cId="41373067" sldId="374"/>
        </pc:sldMkLst>
        <pc:spChg chg="mod">
          <ac:chgData name="Zoran Dumančić" userId="70f12f27-58fe-414c-89aa-9264ee582611" providerId="ADAL" clId="{9022DC38-F88D-4FDF-B581-16CE652827CA}" dt="2021-10-14T07:31:25.374" v="3" actId="20577"/>
          <ac:spMkLst>
            <pc:docMk/>
            <pc:sldMk cId="41373067" sldId="374"/>
            <ac:spMk id="110606" creationId="{00000000-0000-0000-0000-000000000000}"/>
          </ac:spMkLst>
        </pc:spChg>
        <pc:spChg chg="mod">
          <ac:chgData name="Zoran Dumančić" userId="70f12f27-58fe-414c-89aa-9264ee582611" providerId="ADAL" clId="{9022DC38-F88D-4FDF-B581-16CE652827CA}" dt="2021-10-14T07:31:52.428" v="8" actId="20577"/>
          <ac:spMkLst>
            <pc:docMk/>
            <pc:sldMk cId="41373067" sldId="374"/>
            <ac:spMk id="11060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A4583-234D-4C7C-BD5B-A095720B3B84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59343-547E-4B6E-AE6F-D11BFA7371D1}" type="slidenum">
              <a:rPr lang="hr-HR" smtClean="0"/>
              <a:pPr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012359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71125" y="0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7C12A-4DF7-403B-A283-50D78C81ABE6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3419" y="4740037"/>
            <a:ext cx="5467350" cy="44905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71125" y="9478342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B4AA-7FC7-404C-91AE-549D4281B966}" type="slidenum">
              <a:rPr lang="hr-HR" smtClean="0"/>
              <a:pPr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513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pPr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23602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99779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/>
              <a:t>Na</a:t>
            </a:r>
            <a:r>
              <a:rPr lang="hr-HR" baseline="0"/>
              <a:t> višim slojevima format zaglavlja definira protokol, na sloju veza oblik okvira definira odabrana mrežna tehnologija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pPr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07397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DAD155-89C9-4D79-A047-31ACD0FC9468}" type="slidenum">
              <a:rPr lang="hr-HR"/>
              <a:pPr/>
              <a:t>5</a:t>
            </a:fld>
            <a:endParaRPr lang="hr-HR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581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9F32EB-B71C-49AC-B31B-4544A16C34C2}" type="slidenum">
              <a:rPr lang="hr-HR"/>
              <a:pPr/>
              <a:t>6</a:t>
            </a:fld>
            <a:endParaRPr lang="hr-HR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752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9F32EB-B71C-49AC-B31B-4544A16C34C2}" type="slidenum">
              <a:rPr lang="hr-HR"/>
              <a:pPr/>
              <a:t>7</a:t>
            </a:fld>
            <a:endParaRPr lang="hr-HR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8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77FB28-FC0A-48D3-88A7-961635BFBEF0}" type="slidenum">
              <a:rPr lang="hr-HR"/>
              <a:pPr/>
              <a:t>8</a:t>
            </a:fld>
            <a:endParaRPr lang="hr-HR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252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77FB28-FC0A-48D3-88A7-961635BFBEF0}" type="slidenum">
              <a:rPr lang="hr-HR"/>
              <a:pPr/>
              <a:t>9</a:t>
            </a:fld>
            <a:endParaRPr lang="hr-HR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839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2CF9A9-5D2E-446D-9C1E-2841BC920E60}" type="slidenum">
              <a:rPr lang="hr-HR"/>
              <a:pPr/>
              <a:t>13</a:t>
            </a:fld>
            <a:endParaRPr lang="hr-HR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9897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2CF9A9-5D2E-446D-9C1E-2841BC920E60}" type="slidenum">
              <a:rPr lang="hr-HR"/>
              <a:pPr/>
              <a:t>14</a:t>
            </a:fld>
            <a:endParaRPr lang="hr-HR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8024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DAD155-89C9-4D79-A047-31ACD0FC9468}" type="slidenum">
              <a:rPr lang="hr-HR"/>
              <a:pPr/>
              <a:t>15</a:t>
            </a:fld>
            <a:endParaRPr lang="hr-HR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1312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DAD155-89C9-4D79-A047-31ACD0FC9468}" type="slidenum">
              <a:rPr lang="hr-HR"/>
              <a:pPr/>
              <a:t>16</a:t>
            </a:fld>
            <a:endParaRPr lang="hr-HR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825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DAD155-89C9-4D79-A047-31ACD0FC9468}" type="slidenum">
              <a:rPr lang="hr-HR"/>
              <a:pPr/>
              <a:t>18</a:t>
            </a:fld>
            <a:endParaRPr lang="hr-HR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977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26BEB08-B0C2-45E8-8318-CFD0EF8EE004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26BEB08-B0C2-45E8-8318-CFD0EF8EE004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26BEB08-B0C2-45E8-8318-CFD0EF8EE004}" type="datetimeFigureOut">
              <a:rPr lang="hr-HR" smtClean="0"/>
              <a:pPr/>
              <a:t>4.11.2024.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networkengineering.stackexchange.com/questions/53749/data-link-layer-acknowledgemen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3717032"/>
            <a:ext cx="7920880" cy="990600"/>
          </a:xfrm>
        </p:spPr>
        <p:txBody>
          <a:bodyPr>
            <a:noAutofit/>
          </a:bodyPr>
          <a:lstStyle/>
          <a:p>
            <a:r>
              <a:rPr lang="hr-HR" sz="3600" b="1">
                <a:solidFill>
                  <a:schemeClr val="hlink"/>
                </a:solidFill>
              </a:rPr>
              <a:t>PODATKOVNI SLOJ</a:t>
            </a:r>
            <a:br>
              <a:rPr lang="hr-HR" sz="3600">
                <a:solidFill>
                  <a:schemeClr val="hlink"/>
                </a:solidFill>
              </a:rPr>
            </a:br>
            <a:r>
              <a:rPr lang="hr-HR" sz="3600">
                <a:solidFill>
                  <a:schemeClr val="hlink"/>
                </a:solidFill>
              </a:rPr>
              <a:t>Zadaće sloja podatkovne veze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/>
              <a:t>Uvod u računalne mreže</a:t>
            </a: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3362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566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600">
                <a:solidFill>
                  <a:schemeClr val="hlink"/>
                </a:solidFill>
                <a:latin typeface="Arial" charset="0"/>
              </a:rPr>
              <a:t>S</a:t>
            </a:r>
            <a:r>
              <a:rPr lang="vi-VN" sz="3600">
                <a:solidFill>
                  <a:schemeClr val="hlink"/>
                </a:solidFill>
                <a:latin typeface="Arial" charset="0"/>
              </a:rPr>
              <a:t>loj</a:t>
            </a:r>
            <a:r>
              <a:rPr lang="hr-HR" sz="3600">
                <a:solidFill>
                  <a:schemeClr val="hlink"/>
                </a:solidFill>
                <a:latin typeface="Arial" charset="0"/>
              </a:rPr>
              <a:t> podatkovne veze (Data link)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266928" cy="4937760"/>
          </a:xfrm>
        </p:spPr>
        <p:txBody>
          <a:bodyPr>
            <a:normAutofit fontScale="62500" lnSpcReduction="20000"/>
          </a:bodyPr>
          <a:lstStyle/>
          <a:p>
            <a:pPr lvl="1"/>
            <a:endParaRPr lang="hr-HR" sz="4100"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hr-HR" sz="4100">
                <a:latin typeface="Calibri" pitchFamily="34" charset="0"/>
                <a:cs typeface="Calibri" pitchFamily="34" charset="0"/>
              </a:rPr>
              <a:t>Definira tehnologije pristupa i brine o pristupu mrežama i mrežnim uređajima</a:t>
            </a:r>
          </a:p>
          <a:p>
            <a:pPr lvl="1"/>
            <a:endParaRPr lang="hr-HR" sz="4100"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hr-HR" sz="4100">
                <a:latin typeface="Calibri" pitchFamily="34" charset="0"/>
                <a:cs typeface="Calibri" pitchFamily="34" charset="0"/>
              </a:rPr>
              <a:t>O</a:t>
            </a:r>
            <a:r>
              <a:rPr lang="vi-VN" sz="4100">
                <a:latin typeface="Calibri" pitchFamily="34" charset="0"/>
                <a:cs typeface="Calibri" pitchFamily="34" charset="0"/>
              </a:rPr>
              <a:t>mogućuje </a:t>
            </a:r>
            <a:r>
              <a:rPr lang="hr-HR" sz="4100">
                <a:latin typeface="Calibri" pitchFamily="34" charset="0"/>
                <a:cs typeface="Calibri" pitchFamily="34" charset="0"/>
              </a:rPr>
              <a:t>kontroliran </a:t>
            </a:r>
            <a:r>
              <a:rPr lang="vi-VN" sz="4100">
                <a:latin typeface="Calibri" pitchFamily="34" charset="0"/>
                <a:cs typeface="Calibri" pitchFamily="34" charset="0"/>
              </a:rPr>
              <a:t>prijenos podataka preko medija</a:t>
            </a:r>
            <a:endParaRPr lang="hr-HR" sz="4100">
              <a:latin typeface="Calibri" pitchFamily="34" charset="0"/>
              <a:cs typeface="Calibri" pitchFamily="34" charset="0"/>
            </a:endParaRPr>
          </a:p>
          <a:p>
            <a:pPr lvl="1"/>
            <a:endParaRPr lang="hr-HR" sz="4100"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vi-VN" sz="4100">
                <a:latin typeface="Calibri" pitchFamily="34" charset="0"/>
                <a:cs typeface="Calibri" pitchFamily="34" charset="0"/>
              </a:rPr>
              <a:t>Otkriva pogreške u prijenosu preko 1. sloj</a:t>
            </a:r>
            <a:r>
              <a:rPr lang="hr-HR" sz="4100">
                <a:latin typeface="Calibri" pitchFamily="34" charset="0"/>
                <a:cs typeface="Calibri" pitchFamily="34" charset="0"/>
              </a:rPr>
              <a:t>a</a:t>
            </a:r>
          </a:p>
          <a:p>
            <a:pPr lvl="1"/>
            <a:endParaRPr lang="hr-HR" sz="4100"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vi-VN" sz="4100">
                <a:latin typeface="Calibri" pitchFamily="34" charset="0"/>
                <a:cs typeface="Calibri" pitchFamily="34" charset="0"/>
              </a:rPr>
              <a:t>Zadužen je za povezanost i odabir putanje između uređaja</a:t>
            </a:r>
            <a:endParaRPr lang="hr-HR" sz="410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44208" y="1268760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Aplikacijski sloj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4208" y="1916832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Prezentacijski sloj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4208" y="2564904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Sloj sesije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4208" y="3212976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Transportni sloj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4208" y="3861048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Mrežni sloj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4208" y="4509120"/>
            <a:ext cx="2232248" cy="50405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Sloj podatkovne veze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4208" y="5157192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Fizički sloj</a:t>
            </a:r>
          </a:p>
        </p:txBody>
      </p:sp>
    </p:spTree>
    <p:extLst>
      <p:ext uri="{BB962C8B-B14F-4D97-AF65-F5344CB8AC3E}">
        <p14:creationId xmlns:p14="http://schemas.microsoft.com/office/powerpoint/2010/main" val="2330682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539" y="1556792"/>
            <a:ext cx="6933853" cy="4350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4373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388640" y="1247927"/>
            <a:ext cx="8220075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Podaci počinju na žičanoj vezi, zatim putuju optičkim vezama do odašiljača i putem satelita do prijemnika, pa ponovno optičkim vezama te bežično do odredišta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Paket se na trećem sloju ne mijenja no format okvira se mijenja ovisno o tehnologiji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Sloj veza, za razliku od ostalih slojeva, definiran je i na hardverskoj i na softverskoj razini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6147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06" name="Text Box 14"/>
          <p:cNvSpPr txBox="1">
            <a:spLocks noChangeArrowheads="1"/>
          </p:cNvSpPr>
          <p:nvPr/>
        </p:nvSpPr>
        <p:spPr bwMode="auto">
          <a:xfrm>
            <a:off x="639763" y="540763"/>
            <a:ext cx="62215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/>
              <a:t>Podslojevi sloja podatkovne veze</a:t>
            </a:r>
          </a:p>
        </p:txBody>
      </p:sp>
      <p:sp>
        <p:nvSpPr>
          <p:cNvPr id="110607" name="Text Box 15"/>
          <p:cNvSpPr txBox="1">
            <a:spLocks noChangeArrowheads="1"/>
          </p:cNvSpPr>
          <p:nvPr/>
        </p:nvSpPr>
        <p:spPr bwMode="auto">
          <a:xfrm>
            <a:off x="467544" y="1792288"/>
            <a:ext cx="7964487" cy="497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LLC (engl. Logical Link Control)</a:t>
            </a:r>
          </a:p>
          <a:p>
            <a:pPr marL="731520" lvl="1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Gornji podsloj</a:t>
            </a:r>
          </a:p>
          <a:p>
            <a:pPr marL="731520" lvl="1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Omogućuje servise prema mrežnom sloju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MAC (engl. Media Access Control)</a:t>
            </a:r>
          </a:p>
          <a:p>
            <a:pPr marL="731520" lvl="1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Donji podsloj</a:t>
            </a:r>
          </a:p>
          <a:p>
            <a:pPr marL="731520" lvl="1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Definira procese koje izvršava hardver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 u="sng">
                <a:latin typeface="Calibri" pitchFamily="34" charset="0"/>
                <a:cs typeface="Calibri" pitchFamily="34" charset="0"/>
              </a:rPr>
              <a:t>Razdvajanje sloja podatkovne mreže omogućuje da određeni tip okvira definiran na gornjem podsloju može pristupiti različitim tipovima medija definiranim na donjem podsloju</a:t>
            </a:r>
            <a:r>
              <a:rPr lang="en-US" sz="2400" b="1" u="sng">
                <a:latin typeface="Calibri" pitchFamily="34" charset="0"/>
                <a:cs typeface="Calibri" pitchFamily="34" charset="0"/>
              </a:rPr>
              <a:t> </a:t>
            </a:r>
            <a:endParaRPr lang="hr-HR" sz="2400" b="1" u="sng">
              <a:latin typeface="Calibri" pitchFamily="34" charset="0"/>
              <a:cs typeface="Calibri" pitchFamily="34" charset="0"/>
            </a:endParaRPr>
          </a:p>
          <a:p>
            <a:pPr algn="l">
              <a:buFontTx/>
              <a:buChar char="-"/>
            </a:pP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4035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60" name="Text Box 8"/>
          <p:cNvSpPr txBox="1">
            <a:spLocks noChangeArrowheads="1"/>
          </p:cNvSpPr>
          <p:nvPr/>
        </p:nvSpPr>
        <p:spPr bwMode="auto">
          <a:xfrm>
            <a:off x="467544" y="1196752"/>
            <a:ext cx="822007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hr-HR" sz="2400">
                <a:latin typeface="Calibri" pitchFamily="34" charset="0"/>
                <a:cs typeface="Calibri" pitchFamily="34" charset="0"/>
              </a:rPr>
              <a:t>Protokoli sloja podatkovne veze, tretiraju slijedeća pitanja: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>
              <a:latin typeface="Calibri" pitchFamily="34" charset="0"/>
              <a:cs typeface="Calibri" pitchFamily="34" charset="0"/>
            </a:endParaRP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SzPct val="76000"/>
              <a:buFont typeface="+mj-lt"/>
              <a:buAutoNum type="arabicPeriod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Fizičko adresiranje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SzPct val="76000"/>
              <a:buFont typeface="+mj-lt"/>
              <a:buAutoNum type="arabicPeriod"/>
            </a:pPr>
            <a:endParaRPr lang="hr-HR" sz="2400" b="1">
              <a:latin typeface="Calibri" pitchFamily="34" charset="0"/>
              <a:cs typeface="Calibri" pitchFamily="34" charset="0"/>
            </a:endParaRP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SzPct val="76000"/>
              <a:buFont typeface="+mj-lt"/>
              <a:buAutoNum type="arabicPeriod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Enkapsulaciju podataka u okvire</a:t>
            </a: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SzPct val="76000"/>
              <a:buFont typeface="+mj-lt"/>
              <a:buAutoNum type="arabicPeriod"/>
            </a:pPr>
            <a:endParaRPr lang="hr-HR" sz="2400" b="1">
              <a:latin typeface="Calibri" pitchFamily="34" charset="0"/>
              <a:cs typeface="Calibri" pitchFamily="34" charset="0"/>
            </a:endParaRPr>
          </a:p>
          <a:p>
            <a:pPr marL="457200" indent="-457200">
              <a:spcBef>
                <a:spcPts val="600"/>
              </a:spcBef>
              <a:buClr>
                <a:schemeClr val="accent1"/>
              </a:buClr>
              <a:buSzPct val="76000"/>
              <a:buFont typeface="+mj-lt"/>
              <a:buAutoNum type="arabicPeriod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Kontrolu prijenosa podataka</a:t>
            </a:r>
          </a:p>
        </p:txBody>
      </p:sp>
    </p:spTree>
    <p:extLst>
      <p:ext uri="{BB962C8B-B14F-4D97-AF65-F5344CB8AC3E}">
        <p14:creationId xmlns:p14="http://schemas.microsoft.com/office/powerpoint/2010/main" val="85470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47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7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47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47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60" name="Text Box 8"/>
          <p:cNvSpPr txBox="1">
            <a:spLocks noChangeArrowheads="1"/>
          </p:cNvSpPr>
          <p:nvPr/>
        </p:nvSpPr>
        <p:spPr bwMode="auto">
          <a:xfrm>
            <a:off x="395536" y="1196752"/>
            <a:ext cx="8220075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spcBef>
                <a:spcPts val="600"/>
              </a:spcBef>
              <a:buClr>
                <a:schemeClr val="accent1"/>
              </a:buClr>
              <a:buSzPct val="76000"/>
            </a:pPr>
            <a:endParaRPr lang="hr-HR" sz="240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MAC adresa (Media Access </a:t>
            </a:r>
            <a:r>
              <a:rPr lang="hr-HR" sz="2400" err="1">
                <a:latin typeface="Calibri" pitchFamily="34" charset="0"/>
                <a:cs typeface="Calibri" pitchFamily="34" charset="0"/>
              </a:rPr>
              <a:t>Control</a:t>
            </a:r>
            <a:r>
              <a:rPr lang="hr-HR" sz="2400">
                <a:latin typeface="Calibri" pitchFamily="34" charset="0"/>
                <a:cs typeface="Calibri" pitchFamily="34" charset="0"/>
              </a:rPr>
              <a:t>) je jedinstvena adresa, ugrađena u svaku mrežnu karticu, od strane proizvođača</a:t>
            </a: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hr-HR" sz="3200" b="1">
                <a:latin typeface="Calibri" pitchFamily="34" charset="0"/>
                <a:cs typeface="Calibri" pitchFamily="34" charset="0"/>
              </a:rPr>
              <a:t>2A-60-7F-D5-11-9B </a:t>
            </a: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hr-HR" sz="2400">
                <a:latin typeface="Calibri" pitchFamily="34" charset="0"/>
                <a:cs typeface="Calibri" pitchFamily="34" charset="0"/>
              </a:rPr>
              <a:t>(koristimo znamenke 0 do 9, te slova A,B,C,D,E,F)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Isto tako svaki port/utičnica na preklopniku (ili bilo kojem mrežnom uređaju) je isto mrežna kartica, koja također ima svoju MAC adresu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MAC adresa je 48 bitna, označava se sa 12 </a:t>
            </a:r>
            <a:r>
              <a:rPr lang="hr-HR" sz="2400" err="1">
                <a:latin typeface="Calibri" pitchFamily="34" charset="0"/>
                <a:cs typeface="Calibri" pitchFamily="34" charset="0"/>
              </a:rPr>
              <a:t>heksadecimalnih</a:t>
            </a:r>
            <a:r>
              <a:rPr lang="hr-HR" sz="2400">
                <a:latin typeface="Calibri" pitchFamily="34" charset="0"/>
                <a:cs typeface="Calibri" pitchFamily="34" charset="0"/>
              </a:rPr>
              <a:t> brojeva, grupiranih po 2 i obično odvojenih sa : ili –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Prvih 6 </a:t>
            </a:r>
            <a:r>
              <a:rPr lang="hr-HR" sz="2400" err="1">
                <a:latin typeface="Calibri" pitchFamily="34" charset="0"/>
                <a:cs typeface="Calibri" pitchFamily="34" charset="0"/>
              </a:rPr>
              <a:t>hexadecimalnih</a:t>
            </a:r>
            <a:r>
              <a:rPr lang="hr-HR" sz="2400">
                <a:latin typeface="Calibri" pitchFamily="34" charset="0"/>
                <a:cs typeface="Calibri" pitchFamily="34" charset="0"/>
              </a:rPr>
              <a:t> brojeva označava proizvođača a ostalih 6 su redni brojevi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 MAC adresa je dio Ethernet okvira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-"/>
            </a:pPr>
            <a:endParaRPr lang="hr-HR"/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395536" y="611977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marL="514350" indent="-514350">
              <a:buFont typeface="+mj-lt"/>
              <a:buAutoNum type="arabicPeriod"/>
            </a:pPr>
            <a:r>
              <a:rPr lang="hr-HR"/>
              <a:t>Fizičko adresiranje</a:t>
            </a:r>
          </a:p>
        </p:txBody>
      </p:sp>
    </p:spTree>
    <p:extLst>
      <p:ext uri="{BB962C8B-B14F-4D97-AF65-F5344CB8AC3E}">
        <p14:creationId xmlns:p14="http://schemas.microsoft.com/office/powerpoint/2010/main" val="94430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7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7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7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7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47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47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539552" y="1124744"/>
            <a:ext cx="80645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hr-HR" sz="2400">
                <a:latin typeface="Calibri" pitchFamily="34" charset="0"/>
                <a:cs typeface="Calibri" pitchFamily="34" charset="0"/>
              </a:rPr>
              <a:t>Primjer: 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hr-HR" sz="3200" b="1">
                <a:latin typeface="Calibri" pitchFamily="34" charset="0"/>
                <a:cs typeface="Calibri" pitchFamily="34" charset="0"/>
              </a:rPr>
              <a:t>2A-60-7F-D5-11-9B 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hr-HR" sz="2400">
                <a:latin typeface="Calibri" pitchFamily="34" charset="0"/>
                <a:cs typeface="Calibri" pitchFamily="34" charset="0"/>
              </a:rPr>
              <a:t>(koristimo znamenke 0 do 9, te slova A,B,C,D,E,F)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76000"/>
            </a:pPr>
            <a:endParaRPr lang="hr-HR" sz="240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 Svaka mrežna kartica ima tvornički ugrađenu MAC adresu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76000"/>
              <a:buFontTx/>
              <a:buChar char="-"/>
            </a:pPr>
            <a:endParaRPr lang="hr-HR" sz="240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 Gdje pronaći MAC adresu mrežne kartice:</a:t>
            </a:r>
          </a:p>
          <a:p>
            <a:pPr marL="731520" lvl="1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Cmd.exe       </a:t>
            </a:r>
            <a:r>
              <a:rPr lang="hr-HR" sz="2400">
                <a:latin typeface="Courier New" pitchFamily="49" charset="0"/>
                <a:cs typeface="Courier New" pitchFamily="49" charset="0"/>
              </a:rPr>
              <a:t>getmac /v /fo list </a:t>
            </a:r>
            <a:r>
              <a:rPr lang="hr-HR" sz="2400">
                <a:latin typeface="Calibri" pitchFamily="34" charset="0"/>
                <a:cs typeface="Calibri" pitchFamily="34" charset="0"/>
              </a:rPr>
              <a:t>ili</a:t>
            </a:r>
            <a:r>
              <a:rPr lang="hr-HR" sz="2400">
                <a:latin typeface="Courier New" pitchFamily="49" charset="0"/>
                <a:cs typeface="Courier New" pitchFamily="49" charset="0"/>
              </a:rPr>
              <a:t> </a:t>
            </a:r>
            <a:r>
              <a:rPr lang="hr-HR" sz="2400" err="1">
                <a:latin typeface="Courier New" pitchFamily="49" charset="0"/>
                <a:cs typeface="Courier New" pitchFamily="49" charset="0"/>
              </a:rPr>
              <a:t>ipconfig</a:t>
            </a:r>
            <a:r>
              <a:rPr lang="hr-HR" sz="2400">
                <a:latin typeface="Courier New" pitchFamily="49" charset="0"/>
                <a:cs typeface="Courier New" pitchFamily="49" charset="0"/>
              </a:rPr>
              <a:t>/</a:t>
            </a:r>
            <a:r>
              <a:rPr lang="hr-HR" sz="2400" err="1">
                <a:latin typeface="Courier New" pitchFamily="49" charset="0"/>
                <a:cs typeface="Courier New" pitchFamily="49" charset="0"/>
              </a:rPr>
              <a:t>all</a:t>
            </a:r>
            <a:endParaRPr lang="hr-HR" sz="2400">
              <a:latin typeface="Courier New" pitchFamily="49" charset="0"/>
              <a:cs typeface="Courier New" pitchFamily="49" charset="0"/>
            </a:endParaRPr>
          </a:p>
          <a:p>
            <a:pPr marL="731520" lvl="1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Network and Sharing Center</a:t>
            </a:r>
            <a:endParaRPr lang="hr-HR">
              <a:latin typeface="Calibri" pitchFamily="34" charset="0"/>
              <a:cs typeface="Calibri" pitchFamily="34" charset="0"/>
            </a:endParaRPr>
          </a:p>
          <a:p>
            <a:pPr algn="l"/>
            <a:endParaRPr lang="hr-HR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2555776" y="4581128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584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539552" y="1354703"/>
            <a:ext cx="80645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PDU mrežnog sloja OSI modela (</a:t>
            </a:r>
            <a:r>
              <a:rPr lang="hr-HR" sz="2400" b="1">
                <a:latin typeface="Calibri" pitchFamily="34" charset="0"/>
                <a:cs typeface="Calibri" pitchFamily="34" charset="0"/>
              </a:rPr>
              <a:t>paket</a:t>
            </a:r>
            <a:r>
              <a:rPr lang="hr-HR" sz="2400">
                <a:latin typeface="Calibri" pitchFamily="34" charset="0"/>
                <a:cs typeface="Calibri" pitchFamily="34" charset="0"/>
              </a:rPr>
              <a:t>) prepakira se u  PDU sloja 2 (</a:t>
            </a:r>
            <a:r>
              <a:rPr lang="hr-HR" sz="2400" b="1">
                <a:latin typeface="Calibri" pitchFamily="34" charset="0"/>
                <a:cs typeface="Calibri" pitchFamily="34" charset="0"/>
              </a:rPr>
              <a:t>okvir</a:t>
            </a:r>
            <a:r>
              <a:rPr lang="hr-HR" sz="2400">
                <a:latin typeface="Calibri" pitchFamily="34" charset="0"/>
                <a:cs typeface="Calibri" pitchFamily="34" charset="0"/>
              </a:rPr>
              <a:t>)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515603" y="548680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marL="514350" indent="-514350">
              <a:buFont typeface="+mj-lt"/>
              <a:buAutoNum type="arabicPeriod" startAt="2"/>
            </a:pPr>
            <a:r>
              <a:rPr lang="hr-HR"/>
              <a:t>Enkapsulacija u okvire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5678" y="2852936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3. Mrežni sloj</a:t>
            </a:r>
          </a:p>
        </p:txBody>
      </p:sp>
      <p:sp>
        <p:nvSpPr>
          <p:cNvPr id="2" name="Rectangle 1"/>
          <p:cNvSpPr/>
          <p:nvPr/>
        </p:nvSpPr>
        <p:spPr>
          <a:xfrm>
            <a:off x="1338029" y="4005064"/>
            <a:ext cx="200364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Zaglavlje (Header)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1672" y="4005064"/>
            <a:ext cx="259848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Paket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0152" y="4005064"/>
            <a:ext cx="184281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Završni dio (Trailer)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5678" y="5661248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1. Fizički sloj</a:t>
            </a:r>
          </a:p>
        </p:txBody>
      </p:sp>
      <p:sp>
        <p:nvSpPr>
          <p:cNvPr id="21" name="Right Brace 20"/>
          <p:cNvSpPr/>
          <p:nvPr/>
        </p:nvSpPr>
        <p:spPr>
          <a:xfrm rot="5400000">
            <a:off x="4297346" y="1658472"/>
            <a:ext cx="526307" cy="64449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2" name="TextBox 21"/>
          <p:cNvSpPr txBox="1"/>
          <p:nvPr/>
        </p:nvSpPr>
        <p:spPr>
          <a:xfrm>
            <a:off x="3995936" y="514409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/>
              <a:t>okvir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2987824" y="3356992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2987824" y="5144096"/>
            <a:ext cx="0" cy="5171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499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715" y="188640"/>
            <a:ext cx="8229600" cy="990600"/>
          </a:xfrm>
        </p:spPr>
        <p:txBody>
          <a:bodyPr/>
          <a:lstStyle/>
          <a:p>
            <a:r>
              <a:rPr lang="hr-HR">
                <a:solidFill>
                  <a:schemeClr val="hlink"/>
                </a:solidFill>
                <a:latin typeface="Arial" charset="0"/>
              </a:rPr>
              <a:t>Format</a:t>
            </a:r>
            <a:r>
              <a:rPr lang="hr-HR"/>
              <a:t> </a:t>
            </a:r>
            <a:r>
              <a:rPr lang="hr-HR">
                <a:solidFill>
                  <a:schemeClr val="hlink"/>
                </a:solidFill>
                <a:latin typeface="Arial" charset="0"/>
              </a:rPr>
              <a:t>okvira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9632" y="2348880"/>
            <a:ext cx="200364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Zaglavlje (Header)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63275" y="2348880"/>
            <a:ext cx="259848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Paket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861755" y="2348880"/>
            <a:ext cx="184281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Završni dio (Trailer)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129" y="3429000"/>
            <a:ext cx="78453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400"/>
              <a:t>Frame start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7666" y="3429000"/>
            <a:ext cx="100811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/>
              <a:t>Addressing</a:t>
            </a:r>
            <a:endParaRPr lang="hr-HR" sz="1400"/>
          </a:p>
        </p:txBody>
      </p:sp>
      <p:sp>
        <p:nvSpPr>
          <p:cNvPr id="20" name="Rectangle 19"/>
          <p:cNvSpPr/>
          <p:nvPr/>
        </p:nvSpPr>
        <p:spPr>
          <a:xfrm>
            <a:off x="2555777" y="3429000"/>
            <a:ext cx="79208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400"/>
              <a:t>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47865" y="3429000"/>
            <a:ext cx="720079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/>
              <a:t>Control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7944" y="3429000"/>
            <a:ext cx="1584177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2121" y="3429000"/>
            <a:ext cx="1368151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400"/>
              <a:t>Error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272" y="3429000"/>
            <a:ext cx="1427143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400"/>
              <a:t>Frame stop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763128" y="2924944"/>
            <a:ext cx="496504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263275" y="2924944"/>
            <a:ext cx="804669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5652121" y="2924944"/>
            <a:ext cx="209634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704574" y="2924944"/>
            <a:ext cx="742841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2"/>
          <p:cNvSpPr>
            <a:spLocks noChangeArrowheads="1"/>
          </p:cNvSpPr>
          <p:nvPr/>
        </p:nvSpPr>
        <p:spPr bwMode="auto">
          <a:xfrm>
            <a:off x="506387" y="4437112"/>
            <a:ext cx="8064500" cy="155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Za razliku od viših slojeva, okvir definira i zaglavlje (header) i završetak (trailer)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76000"/>
              <a:buFontTx/>
              <a:buChar char="-"/>
            </a:pPr>
            <a:endParaRPr lang="hr-HR" sz="2400">
              <a:latin typeface="Calibri" pitchFamily="34" charset="0"/>
              <a:cs typeface="Calibri" pitchFamily="34" charset="0"/>
            </a:endParaRPr>
          </a:p>
          <a:p>
            <a:pPr algn="l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85418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715" y="188640"/>
            <a:ext cx="8229600" cy="990600"/>
          </a:xfrm>
        </p:spPr>
        <p:txBody>
          <a:bodyPr/>
          <a:lstStyle/>
          <a:p>
            <a:r>
              <a:rPr lang="hr-HR">
                <a:solidFill>
                  <a:schemeClr val="hlink"/>
                </a:solidFill>
                <a:latin typeface="Arial" charset="0"/>
              </a:rPr>
              <a:t>Format</a:t>
            </a:r>
            <a:r>
              <a:rPr lang="hr-HR"/>
              <a:t> </a:t>
            </a:r>
            <a:r>
              <a:rPr lang="hr-HR">
                <a:solidFill>
                  <a:schemeClr val="hlink"/>
                </a:solidFill>
                <a:latin typeface="Arial" charset="0"/>
              </a:rPr>
              <a:t>okvira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9632" y="2348880"/>
            <a:ext cx="200364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" name="Rectangle 4"/>
          <p:cNvSpPr/>
          <p:nvPr/>
        </p:nvSpPr>
        <p:spPr>
          <a:xfrm>
            <a:off x="3263275" y="2348880"/>
            <a:ext cx="259848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Rectangle 5"/>
          <p:cNvSpPr/>
          <p:nvPr/>
        </p:nvSpPr>
        <p:spPr>
          <a:xfrm>
            <a:off x="5861755" y="2348880"/>
            <a:ext cx="184281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8" name="Rectangle 17"/>
          <p:cNvSpPr/>
          <p:nvPr/>
        </p:nvSpPr>
        <p:spPr>
          <a:xfrm>
            <a:off x="763129" y="3429000"/>
            <a:ext cx="78453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sz="1400"/>
          </a:p>
        </p:txBody>
      </p:sp>
      <p:sp>
        <p:nvSpPr>
          <p:cNvPr id="19" name="Rectangle 18"/>
          <p:cNvSpPr/>
          <p:nvPr/>
        </p:nvSpPr>
        <p:spPr>
          <a:xfrm>
            <a:off x="1547666" y="3429000"/>
            <a:ext cx="100811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sz="1400"/>
          </a:p>
        </p:txBody>
      </p:sp>
      <p:sp>
        <p:nvSpPr>
          <p:cNvPr id="20" name="Rectangle 19"/>
          <p:cNvSpPr/>
          <p:nvPr/>
        </p:nvSpPr>
        <p:spPr>
          <a:xfrm>
            <a:off x="2555777" y="3429000"/>
            <a:ext cx="79208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400"/>
              <a:t>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47865" y="3429000"/>
            <a:ext cx="720079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/>
              <a:t>Control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7944" y="3429000"/>
            <a:ext cx="1584177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3" name="Rectangle 22"/>
          <p:cNvSpPr/>
          <p:nvPr/>
        </p:nvSpPr>
        <p:spPr>
          <a:xfrm>
            <a:off x="5652121" y="3429000"/>
            <a:ext cx="1368151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sz="1400"/>
          </a:p>
        </p:txBody>
      </p:sp>
      <p:sp>
        <p:nvSpPr>
          <p:cNvPr id="24" name="Rectangle 23"/>
          <p:cNvSpPr/>
          <p:nvPr/>
        </p:nvSpPr>
        <p:spPr>
          <a:xfrm>
            <a:off x="7020272" y="3429000"/>
            <a:ext cx="1427143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sz="1400"/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763128" y="2924944"/>
            <a:ext cx="496504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263275" y="2924944"/>
            <a:ext cx="804669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5652121" y="2924944"/>
            <a:ext cx="209634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704574" y="2924944"/>
            <a:ext cx="742841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14">
            <a:extLst>
              <a:ext uri="{FF2B5EF4-FFF2-40B4-BE49-F238E27FC236}">
                <a16:creationId xmlns:a16="http://schemas.microsoft.com/office/drawing/2014/main" id="{5C9A87AE-FC07-409E-A257-AF151DF5D5E4}"/>
              </a:ext>
            </a:extLst>
          </p:cNvPr>
          <p:cNvSpPr/>
          <p:nvPr/>
        </p:nvSpPr>
        <p:spPr>
          <a:xfrm>
            <a:off x="3414846" y="1322504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3. Mrežni sloj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D4B599-22BA-4848-8898-BBF3F0DED856}"/>
              </a:ext>
            </a:extLst>
          </p:cNvPr>
          <p:cNvCxnSpPr/>
          <p:nvPr/>
        </p:nvCxnSpPr>
        <p:spPr>
          <a:xfrm flipV="1">
            <a:off x="2952019" y="1783429"/>
            <a:ext cx="0" cy="50405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18">
            <a:extLst>
              <a:ext uri="{FF2B5EF4-FFF2-40B4-BE49-F238E27FC236}">
                <a16:creationId xmlns:a16="http://schemas.microsoft.com/office/drawing/2014/main" id="{41316F5C-F07F-42B4-BE04-2A5C0E5CC3F1}"/>
              </a:ext>
            </a:extLst>
          </p:cNvPr>
          <p:cNvSpPr/>
          <p:nvPr/>
        </p:nvSpPr>
        <p:spPr>
          <a:xfrm>
            <a:off x="3467376" y="5422821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1. Fizički sloj</a:t>
            </a: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26C669D1-9E58-4225-926E-AE2274511484}"/>
              </a:ext>
            </a:extLst>
          </p:cNvPr>
          <p:cNvSpPr/>
          <p:nvPr/>
        </p:nvSpPr>
        <p:spPr>
          <a:xfrm rot="5400000">
            <a:off x="4342120" y="680686"/>
            <a:ext cx="526307" cy="768428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E4530AE-7566-41F1-AC43-3205258BA386}"/>
              </a:ext>
            </a:extLst>
          </p:cNvPr>
          <p:cNvCxnSpPr/>
          <p:nvPr/>
        </p:nvCxnSpPr>
        <p:spPr>
          <a:xfrm>
            <a:off x="2999324" y="4933801"/>
            <a:ext cx="0" cy="51715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583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715" y="188640"/>
            <a:ext cx="8229600" cy="990600"/>
          </a:xfrm>
        </p:spPr>
        <p:txBody>
          <a:bodyPr/>
          <a:lstStyle/>
          <a:p>
            <a:r>
              <a:rPr lang="hr-HR">
                <a:solidFill>
                  <a:schemeClr val="hlink"/>
                </a:solidFill>
                <a:latin typeface="Arial" charset="0"/>
              </a:rPr>
              <a:t>Format</a:t>
            </a:r>
            <a:r>
              <a:rPr lang="hr-HR"/>
              <a:t> </a:t>
            </a:r>
            <a:r>
              <a:rPr lang="hr-HR">
                <a:solidFill>
                  <a:schemeClr val="hlink"/>
                </a:solidFill>
                <a:latin typeface="Arial" charset="0"/>
              </a:rPr>
              <a:t>okvira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9632" y="2348880"/>
            <a:ext cx="200364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Zaglavlje (Header)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63275" y="2348880"/>
            <a:ext cx="259848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Paket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861755" y="2348880"/>
            <a:ext cx="184281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Završni dio (Trailer)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129" y="3429000"/>
            <a:ext cx="78453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400"/>
              <a:t>Frame start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7666" y="3429000"/>
            <a:ext cx="100811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/>
              <a:t>Addressing</a:t>
            </a:r>
            <a:endParaRPr lang="hr-HR" sz="1400"/>
          </a:p>
        </p:txBody>
      </p:sp>
      <p:sp>
        <p:nvSpPr>
          <p:cNvPr id="20" name="Rectangle 19"/>
          <p:cNvSpPr/>
          <p:nvPr/>
        </p:nvSpPr>
        <p:spPr>
          <a:xfrm>
            <a:off x="2555777" y="3429000"/>
            <a:ext cx="79208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400"/>
              <a:t>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47865" y="3429000"/>
            <a:ext cx="720079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200"/>
              <a:t>Control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7944" y="3429000"/>
            <a:ext cx="1584177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2121" y="3429000"/>
            <a:ext cx="1368151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400"/>
              <a:t>Error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272" y="3429000"/>
            <a:ext cx="1427143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400"/>
              <a:t>Frame stop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763128" y="2924944"/>
            <a:ext cx="496504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263275" y="2924944"/>
            <a:ext cx="804669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5652121" y="2924944"/>
            <a:ext cx="209634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704574" y="2924944"/>
            <a:ext cx="742841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14">
            <a:extLst>
              <a:ext uri="{FF2B5EF4-FFF2-40B4-BE49-F238E27FC236}">
                <a16:creationId xmlns:a16="http://schemas.microsoft.com/office/drawing/2014/main" id="{5C9A87AE-FC07-409E-A257-AF151DF5D5E4}"/>
              </a:ext>
            </a:extLst>
          </p:cNvPr>
          <p:cNvSpPr/>
          <p:nvPr/>
        </p:nvSpPr>
        <p:spPr>
          <a:xfrm>
            <a:off x="3414846" y="1322504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3. Mrežni sloj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D4B599-22BA-4848-8898-BBF3F0DED856}"/>
              </a:ext>
            </a:extLst>
          </p:cNvPr>
          <p:cNvCxnSpPr/>
          <p:nvPr/>
        </p:nvCxnSpPr>
        <p:spPr>
          <a:xfrm flipV="1">
            <a:off x="2952019" y="1783429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18">
            <a:extLst>
              <a:ext uri="{FF2B5EF4-FFF2-40B4-BE49-F238E27FC236}">
                <a16:creationId xmlns:a16="http://schemas.microsoft.com/office/drawing/2014/main" id="{41316F5C-F07F-42B4-BE04-2A5C0E5CC3F1}"/>
              </a:ext>
            </a:extLst>
          </p:cNvPr>
          <p:cNvSpPr/>
          <p:nvPr/>
        </p:nvSpPr>
        <p:spPr>
          <a:xfrm>
            <a:off x="3467376" y="5422821"/>
            <a:ext cx="2232248" cy="50405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1. Fizički sloj</a:t>
            </a: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26C669D1-9E58-4225-926E-AE2274511484}"/>
              </a:ext>
            </a:extLst>
          </p:cNvPr>
          <p:cNvSpPr/>
          <p:nvPr/>
        </p:nvSpPr>
        <p:spPr>
          <a:xfrm rot="5400000">
            <a:off x="4342120" y="680686"/>
            <a:ext cx="526307" cy="768428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5CD26F-B5C6-453F-B173-0A5F11A1A6A0}"/>
              </a:ext>
            </a:extLst>
          </p:cNvPr>
          <p:cNvSpPr txBox="1"/>
          <p:nvPr/>
        </p:nvSpPr>
        <p:spPr>
          <a:xfrm>
            <a:off x="4007436" y="4859868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/>
              <a:t>okvir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E4530AE-7566-41F1-AC43-3205258BA386}"/>
              </a:ext>
            </a:extLst>
          </p:cNvPr>
          <p:cNvCxnSpPr/>
          <p:nvPr/>
        </p:nvCxnSpPr>
        <p:spPr>
          <a:xfrm>
            <a:off x="2999324" y="4933801"/>
            <a:ext cx="0" cy="5171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401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81" name="Rectangle 13"/>
          <p:cNvSpPr>
            <a:spLocks noChangeArrowheads="1"/>
          </p:cNvSpPr>
          <p:nvPr/>
        </p:nvSpPr>
        <p:spPr bwMode="auto">
          <a:xfrm>
            <a:off x="467544" y="1214113"/>
            <a:ext cx="8135938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hr-HR" sz="3200">
                <a:latin typeface="Calibri" pitchFamily="34" charset="0"/>
                <a:cs typeface="Calibri" pitchFamily="34" charset="0"/>
              </a:rPr>
              <a:t>Header: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76000"/>
            </a:pPr>
            <a:endParaRPr lang="hr-HR" sz="240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Početak okvira (engl. Frame start) </a:t>
            </a:r>
            <a:r>
              <a:rPr lang="hr-HR" sz="2400">
                <a:latin typeface="Calibri" pitchFamily="34" charset="0"/>
                <a:cs typeface="Calibri" pitchFamily="34" charset="0"/>
              </a:rPr>
              <a:t>– jedinstven niz bitova koji se može nalaziti samo na početku 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Polje adresa (engl. Addressing)</a:t>
            </a:r>
            <a:r>
              <a:rPr lang="hr-HR" sz="2400">
                <a:latin typeface="Calibri" pitchFamily="34" charset="0"/>
                <a:cs typeface="Calibri" pitchFamily="34" charset="0"/>
              </a:rPr>
              <a:t> – adresiranje drugog sloja, MAC adrese polazišta i odredišta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Tip (engl. Type)</a:t>
            </a:r>
            <a:r>
              <a:rPr lang="hr-HR" sz="2400">
                <a:latin typeface="Calibri" pitchFamily="34" charset="0"/>
                <a:cs typeface="Calibri" pitchFamily="34" charset="0"/>
              </a:rPr>
              <a:t> – tip podatkovnog dijela okvira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Upravljačko polje (engl. Control Field)</a:t>
            </a:r>
            <a:r>
              <a:rPr lang="hr-HR" sz="2400">
                <a:latin typeface="Calibri" pitchFamily="34" charset="0"/>
                <a:cs typeface="Calibri" pitchFamily="34" charset="0"/>
              </a:rPr>
              <a:t> – podaci za upravljanje vezom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903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81" name="Rectangle 13"/>
          <p:cNvSpPr>
            <a:spLocks noChangeArrowheads="1"/>
          </p:cNvSpPr>
          <p:nvPr/>
        </p:nvSpPr>
        <p:spPr bwMode="auto">
          <a:xfrm>
            <a:off x="467544" y="1214113"/>
            <a:ext cx="8135938" cy="367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Podaci (engl. Data)</a:t>
            </a:r>
            <a:r>
              <a:rPr lang="hr-HR" sz="2400">
                <a:latin typeface="Calibri" pitchFamily="34" charset="0"/>
                <a:cs typeface="Calibri" pitchFamily="34" charset="0"/>
              </a:rPr>
              <a:t> – enkapsulirani podaci koje prenosimo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76000"/>
            </a:pPr>
            <a:endParaRPr lang="hr-HR" sz="3200">
              <a:latin typeface="Calibri" pitchFamily="34" charset="0"/>
              <a:cs typeface="Calibri" pitchFamily="34" charset="0"/>
            </a:endParaRPr>
          </a:p>
          <a:p>
            <a:pPr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hr-HR" sz="3200">
                <a:latin typeface="Calibri" pitchFamily="34" charset="0"/>
                <a:cs typeface="Calibri" pitchFamily="34" charset="0"/>
              </a:rPr>
              <a:t>Trailer: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Polje provjere (engl. Error Detection) </a:t>
            </a:r>
            <a:r>
              <a:rPr lang="hr-HR" sz="2400">
                <a:latin typeface="Calibri" pitchFamily="34" charset="0"/>
                <a:cs typeface="Calibri" pitchFamily="34" charset="0"/>
              </a:rPr>
              <a:t>– nastaje izračunom iz drugih vrijednosti okvira, nastala vrijednost koristi se za provjeru ispravnosti okvira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Kraj okvira (engl. Frame Stop) </a:t>
            </a:r>
            <a:r>
              <a:rPr lang="hr-HR" sz="2400">
                <a:latin typeface="Calibri" pitchFamily="34" charset="0"/>
                <a:cs typeface="Calibri" pitchFamily="34" charset="0"/>
              </a:rPr>
              <a:t>– kao i početak okvira</a:t>
            </a:r>
          </a:p>
        </p:txBody>
      </p:sp>
    </p:spTree>
    <p:extLst>
      <p:ext uri="{BB962C8B-B14F-4D97-AF65-F5344CB8AC3E}">
        <p14:creationId xmlns:p14="http://schemas.microsoft.com/office/powerpoint/2010/main" val="345681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06" name="Text Box 14"/>
          <p:cNvSpPr txBox="1">
            <a:spLocks noChangeArrowheads="1"/>
          </p:cNvSpPr>
          <p:nvPr/>
        </p:nvSpPr>
        <p:spPr bwMode="auto">
          <a:xfrm>
            <a:off x="639763" y="540763"/>
            <a:ext cx="580479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marL="514350" indent="-514350">
              <a:buFont typeface="+mj-lt"/>
              <a:buAutoNum type="arabicPeriod" startAt="3"/>
            </a:pPr>
            <a:r>
              <a:rPr lang="hr-HR"/>
              <a:t>Kontrola prijenosa podataka</a:t>
            </a:r>
          </a:p>
        </p:txBody>
      </p:sp>
      <p:sp>
        <p:nvSpPr>
          <p:cNvPr id="110607" name="Text Box 15"/>
          <p:cNvSpPr txBox="1">
            <a:spLocks noChangeArrowheads="1"/>
          </p:cNvSpPr>
          <p:nvPr/>
        </p:nvSpPr>
        <p:spPr bwMode="auto">
          <a:xfrm>
            <a:off x="467544" y="1792288"/>
            <a:ext cx="7964487" cy="386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hr-HR" sz="2400">
                <a:latin typeface="Calibri" pitchFamily="34" charset="0"/>
                <a:cs typeface="Calibri" pitchFamily="34" charset="0"/>
              </a:rPr>
              <a:t>Obuhvaća: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Kontrolu pristupa mediju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Način komuniciranja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Kašnjenje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Zagušenje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>
                <a:latin typeface="Calibri" pitchFamily="34" charset="0"/>
                <a:cs typeface="Calibri" pitchFamily="34" charset="0"/>
              </a:rPr>
              <a:t>O tome više u slijedećim predavanjima!</a:t>
            </a:r>
          </a:p>
          <a:p>
            <a:pPr algn="l">
              <a:buFontTx/>
              <a:buChar char="-"/>
            </a:pP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26731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06" name="Text Box 14"/>
          <p:cNvSpPr txBox="1">
            <a:spLocks noChangeArrowheads="1"/>
          </p:cNvSpPr>
          <p:nvPr/>
        </p:nvSpPr>
        <p:spPr bwMode="auto">
          <a:xfrm>
            <a:off x="639763" y="540763"/>
            <a:ext cx="31454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/>
              <a:t>Domaća zadaća</a:t>
            </a:r>
          </a:p>
        </p:txBody>
      </p:sp>
      <p:sp>
        <p:nvSpPr>
          <p:cNvPr id="110607" name="Text Box 15"/>
          <p:cNvSpPr txBox="1">
            <a:spLocks noChangeArrowheads="1"/>
          </p:cNvSpPr>
          <p:nvPr/>
        </p:nvSpPr>
        <p:spPr bwMode="auto">
          <a:xfrm>
            <a:off x="589756" y="1772816"/>
            <a:ext cx="7964487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Ethernet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PPP (engl. Point-to-Point Protocol)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Token Ring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HDLC (engl. High-Level Data Link Control)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b="1">
                <a:latin typeface="Calibri" pitchFamily="34" charset="0"/>
                <a:cs typeface="Calibri" pitchFamily="34" charset="0"/>
              </a:rPr>
              <a:t>Bežični LAN ( engl. Wireless LAN)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 b="1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30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06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06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06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06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0389-8844-8F5A-6B26-AE857612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Pitanja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B8B21-C130-2A5F-7F4E-5807394BBEC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hr-HR"/>
              <a:t>Koje su funkcije sloja podatkovne veze ?</a:t>
            </a:r>
          </a:p>
          <a:p>
            <a:pPr marL="514350" indent="-514350">
              <a:buAutoNum type="arabicPeriod"/>
            </a:pPr>
            <a:r>
              <a:rPr lang="hr-HR"/>
              <a:t>Opiši putovanje podataka od jednog računala do drugog (slika sa slajda 3)</a:t>
            </a:r>
          </a:p>
          <a:p>
            <a:pPr marL="514350" indent="-514350">
              <a:buFont typeface="Wingdings 3"/>
              <a:buAutoNum type="arabicPeriod"/>
            </a:pPr>
            <a:r>
              <a:rPr lang="hr-HR"/>
              <a:t>Nabroji i opiši podslojeve sloja podatkovne veze ?</a:t>
            </a:r>
          </a:p>
          <a:p>
            <a:pPr marL="514350" indent="-514350">
              <a:buFont typeface="Wingdings 3"/>
              <a:buAutoNum type="arabicPeriod"/>
            </a:pPr>
            <a:r>
              <a:rPr lang="hr-HR"/>
              <a:t>O kojim pitanjima brinu funkcije ovog sloja ?</a:t>
            </a:r>
          </a:p>
          <a:p>
            <a:pPr marL="514350" indent="-514350">
              <a:buFont typeface="Wingdings 3"/>
              <a:buAutoNum type="arabicPeriod"/>
            </a:pPr>
            <a:r>
              <a:rPr lang="hr-HR"/>
              <a:t>Opiši funckiju fizičko adresiranje ?</a:t>
            </a:r>
          </a:p>
          <a:p>
            <a:pPr marL="514350" indent="-514350">
              <a:buFont typeface="Wingdings 3"/>
              <a:buAutoNum type="arabicPeriod"/>
            </a:pPr>
            <a:r>
              <a:rPr lang="hr-HR"/>
              <a:t>Opiši funkciju enkapsulacija u okvire ?</a:t>
            </a:r>
          </a:p>
          <a:p>
            <a:pPr marL="514350" indent="-514350">
              <a:buFont typeface="Wingdings 3"/>
              <a:buAutoNum type="arabicPeriod"/>
            </a:pPr>
            <a:r>
              <a:rPr lang="hr-HR"/>
              <a:t>Što obuhvaća kontrola prijenosa podataka ?</a:t>
            </a:r>
          </a:p>
          <a:p>
            <a:pPr marL="514350" indent="-514350">
              <a:buFont typeface="Wingdings 3"/>
              <a:buAutoNum type="arabicPeriod"/>
            </a:pPr>
            <a:endParaRPr lang="hr-HR"/>
          </a:p>
          <a:p>
            <a:pPr marL="514350" indent="-514350">
              <a:buAutoNum type="arabicPeriod"/>
            </a:pP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85982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06" name="Text Box 14"/>
          <p:cNvSpPr txBox="1">
            <a:spLocks noChangeArrowheads="1"/>
          </p:cNvSpPr>
          <p:nvPr/>
        </p:nvSpPr>
        <p:spPr bwMode="auto">
          <a:xfrm>
            <a:off x="639763" y="540763"/>
            <a:ext cx="11208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/>
              <a:t>WEB</a:t>
            </a:r>
          </a:p>
        </p:txBody>
      </p:sp>
      <p:sp>
        <p:nvSpPr>
          <p:cNvPr id="110607" name="Text Box 15"/>
          <p:cNvSpPr txBox="1">
            <a:spLocks noChangeArrowheads="1"/>
          </p:cNvSpPr>
          <p:nvPr/>
        </p:nvSpPr>
        <p:spPr bwMode="auto">
          <a:xfrm>
            <a:off x="589756" y="1772816"/>
            <a:ext cx="7964487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en-US" sz="2400">
                <a:hlinkClick r:id="rId3"/>
              </a:rPr>
              <a:t>router - Data link layer acknowledgement - Network Engineering Stack Exchange</a:t>
            </a:r>
            <a:endParaRPr lang="hr-HR" sz="2400"/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 b="1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4526B780CB7E40AAED50781EDEFDF6" ma:contentTypeVersion="3" ma:contentTypeDescription="Stvaranje novog dokumenta." ma:contentTypeScope="" ma:versionID="cb71b5a7b0bc5bc9bc84eb17535dd6ea">
  <xsd:schema xmlns:xsd="http://www.w3.org/2001/XMLSchema" xmlns:xs="http://www.w3.org/2001/XMLSchema" xmlns:p="http://schemas.microsoft.com/office/2006/metadata/properties" xmlns:ns2="c041744a-391e-4a25-927f-1fb68203ca47" targetNamespace="http://schemas.microsoft.com/office/2006/metadata/properties" ma:root="true" ma:fieldsID="cdfac31b053126c546b04e5083fe936b" ns2:_="">
    <xsd:import namespace="c041744a-391e-4a25-927f-1fb68203ca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1744a-391e-4a25-927f-1fb68203c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7CB941-32CA-436F-8593-F64FF77E297C}"/>
</file>

<file path=customXml/itemProps2.xml><?xml version="1.0" encoding="utf-8"?>
<ds:datastoreItem xmlns:ds="http://schemas.openxmlformats.org/officeDocument/2006/customXml" ds:itemID="{6CE6D020-9064-4DEA-A862-2F3B2F89F77C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ACD1B9C-EFC7-4152-9E4A-503B9640FC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Application>Microsoft Office PowerPoint</Application>
  <PresentationFormat>Prikaz na zaslonu (4:3)</PresentationFormat>
  <Slides>18</Slides>
  <Notes>13</Notes>
  <HiddenSlides>3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18</vt:i4>
      </vt:variant>
    </vt:vector>
  </HeadingPairs>
  <TitlesOfParts>
    <vt:vector size="19" baseType="lpstr">
      <vt:lpstr>Origin</vt:lpstr>
      <vt:lpstr>PODATKOVNI SLOJ Zadaće sloja podatkovne veze</vt:lpstr>
      <vt:lpstr>Sloj podatkovne veze (Data link)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Format okvira</vt:lpstr>
      <vt:lpstr>Format okvira</vt:lpstr>
      <vt:lpstr>Format okvira</vt:lpstr>
      <vt:lpstr>PowerPoint prezentacija</vt:lpstr>
      <vt:lpstr>PowerPoint prezentacija</vt:lpstr>
      <vt:lpstr>PowerPoint prezentacija</vt:lpstr>
      <vt:lpstr>PowerPoint prezentacija</vt:lpstr>
      <vt:lpstr>Pitanja</vt:lpstr>
      <vt:lpstr>PowerPoint prezentacija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Opći model komunikacijskog sustava</dc:title>
  <dc:creator>p</dc:creator>
  <cp:revision>4</cp:revision>
  <cp:lastPrinted>2015-09-11T08:26:32Z</cp:lastPrinted>
  <dcterms:created xsi:type="dcterms:W3CDTF">2015-09-07T20:59:37Z</dcterms:created>
  <dcterms:modified xsi:type="dcterms:W3CDTF">2024-11-04T21:29:29Z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