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5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r-HR"/>
              <a:t>Kliknite da biste uredili stil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2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59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667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667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87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834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432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68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322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slov i o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40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2352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ica s nazi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815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ica s nazivom cit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87107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ili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783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226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87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59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6600" dirty="0" err="1"/>
              <a:t>Funkcije</a:t>
            </a:r>
            <a:endParaRPr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 err="1"/>
              <a:t>Što</a:t>
            </a:r>
            <a:r>
              <a:rPr sz="4400" dirty="0"/>
              <a:t> </a:t>
            </a:r>
            <a:r>
              <a:rPr sz="4400" dirty="0" err="1"/>
              <a:t>su</a:t>
            </a:r>
            <a:r>
              <a:rPr sz="4400" dirty="0"/>
              <a:t> </a:t>
            </a:r>
            <a:r>
              <a:rPr sz="4400" dirty="0" err="1"/>
              <a:t>funkcije</a:t>
            </a:r>
            <a:r>
              <a:rPr sz="4400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Dio </a:t>
            </a:r>
            <a:r>
              <a:rPr sz="2400" dirty="0" err="1"/>
              <a:t>programa</a:t>
            </a:r>
            <a:r>
              <a:rPr sz="2400" dirty="0"/>
              <a:t> koji </a:t>
            </a:r>
            <a:r>
              <a:rPr sz="2400" dirty="0" err="1"/>
              <a:t>obavlja</a:t>
            </a:r>
            <a:r>
              <a:rPr sz="2400" dirty="0"/>
              <a:t> </a:t>
            </a:r>
            <a:r>
              <a:rPr sz="2400" dirty="0" err="1"/>
              <a:t>jedan</a:t>
            </a:r>
            <a:r>
              <a:rPr sz="2400" dirty="0"/>
              <a:t> </a:t>
            </a:r>
            <a:r>
              <a:rPr sz="2400" dirty="0" err="1"/>
              <a:t>zaokruženi</a:t>
            </a:r>
            <a:r>
              <a:rPr sz="2400" dirty="0"/>
              <a:t> </a:t>
            </a:r>
            <a:r>
              <a:rPr sz="2400" dirty="0" err="1"/>
              <a:t>zadatak</a:t>
            </a:r>
            <a:r>
              <a:rPr sz="2400" dirty="0"/>
              <a:t>.</a:t>
            </a:r>
          </a:p>
          <a:p>
            <a:r>
              <a:rPr lang="en-US" sz="2400" dirty="0"/>
              <a:t>"</a:t>
            </a:r>
            <a:r>
              <a:rPr sz="2400" dirty="0"/>
              <a:t>Mini-program" </a:t>
            </a:r>
            <a:r>
              <a:rPr sz="2400" dirty="0" err="1"/>
              <a:t>unutar</a:t>
            </a:r>
            <a:r>
              <a:rPr sz="2400" dirty="0"/>
              <a:t> </a:t>
            </a:r>
            <a:r>
              <a:rPr sz="2400" dirty="0" err="1"/>
              <a:t>većeg</a:t>
            </a:r>
            <a:r>
              <a:rPr sz="2400" dirty="0"/>
              <a:t> </a:t>
            </a:r>
            <a:r>
              <a:rPr sz="2400" dirty="0" err="1"/>
              <a:t>programa</a:t>
            </a:r>
            <a:r>
              <a:rPr sz="2400" dirty="0"/>
              <a:t>.</a:t>
            </a:r>
          </a:p>
          <a:p>
            <a:r>
              <a:rPr sz="2400" dirty="0" err="1"/>
              <a:t>Primjeri</a:t>
            </a:r>
            <a:r>
              <a:rPr sz="2400" dirty="0"/>
              <a:t> </a:t>
            </a:r>
            <a:r>
              <a:rPr sz="2400" dirty="0" err="1"/>
              <a:t>ugrađenih</a:t>
            </a:r>
            <a:r>
              <a:rPr sz="2400" dirty="0"/>
              <a:t> </a:t>
            </a:r>
            <a:r>
              <a:rPr sz="2400" dirty="0" err="1"/>
              <a:t>funkcija</a:t>
            </a:r>
            <a:r>
              <a:rPr sz="2400" dirty="0"/>
              <a:t>: </a:t>
            </a:r>
            <a:r>
              <a:rPr sz="2400" dirty="0" err="1"/>
              <a:t>printf</a:t>
            </a:r>
            <a:r>
              <a:rPr sz="2400" dirty="0"/>
              <a:t>, </a:t>
            </a:r>
            <a:r>
              <a:rPr sz="2400" dirty="0" err="1"/>
              <a:t>scanf</a:t>
            </a:r>
            <a:r>
              <a:rPr sz="2400" dirty="0"/>
              <a:t>, pow...</a:t>
            </a:r>
          </a:p>
          <a:p>
            <a:r>
              <a:rPr lang="en-US" sz="2400" dirty="0" err="1"/>
              <a:t>Ugrađene</a:t>
            </a:r>
            <a:r>
              <a:rPr lang="en-US" sz="2400" dirty="0"/>
              <a:t> </a:t>
            </a:r>
            <a:r>
              <a:rPr lang="en-US" sz="2400" dirty="0" err="1"/>
              <a:t>f</a:t>
            </a:r>
            <a:r>
              <a:rPr sz="2400" dirty="0" err="1"/>
              <a:t>unkcije</a:t>
            </a:r>
            <a:r>
              <a:rPr sz="2400" dirty="0"/>
              <a:t> se </a:t>
            </a:r>
            <a:r>
              <a:rPr sz="2400" dirty="0" err="1"/>
              <a:t>nalaze</a:t>
            </a:r>
            <a:r>
              <a:rPr sz="2400" dirty="0"/>
              <a:t> u </a:t>
            </a:r>
            <a:r>
              <a:rPr sz="2400" dirty="0" err="1"/>
              <a:t>bibliotekama</a:t>
            </a:r>
            <a:r>
              <a:rPr sz="2400" dirty="0"/>
              <a:t> (</a:t>
            </a:r>
            <a:r>
              <a:rPr sz="2400" dirty="0" err="1"/>
              <a:t>stdio.h</a:t>
            </a:r>
            <a:r>
              <a:rPr sz="2400" dirty="0"/>
              <a:t>, </a:t>
            </a:r>
            <a:r>
              <a:rPr sz="2400" dirty="0" err="1"/>
              <a:t>math.h</a:t>
            </a:r>
            <a:r>
              <a:rPr sz="2400" dirty="0"/>
              <a:t>...).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400" dirty="0"/>
              <a:t>Za </a:t>
            </a:r>
            <a:r>
              <a:rPr sz="4400" dirty="0" err="1"/>
              <a:t>što</a:t>
            </a:r>
            <a:r>
              <a:rPr sz="4400" dirty="0"/>
              <a:t> </a:t>
            </a:r>
            <a:r>
              <a:rPr sz="4400" dirty="0" err="1"/>
              <a:t>i</a:t>
            </a:r>
            <a:r>
              <a:rPr sz="4400" dirty="0"/>
              <a:t> </a:t>
            </a:r>
            <a:r>
              <a:rPr sz="4400" dirty="0" err="1"/>
              <a:t>kada</a:t>
            </a:r>
            <a:r>
              <a:rPr sz="4400" dirty="0"/>
              <a:t> </a:t>
            </a:r>
            <a:r>
              <a:rPr sz="4400" dirty="0" err="1"/>
              <a:t>koristimo</a:t>
            </a:r>
            <a:r>
              <a:rPr sz="4400" dirty="0"/>
              <a:t> </a:t>
            </a:r>
            <a:r>
              <a:rPr sz="4400" dirty="0" err="1"/>
              <a:t>funkcije</a:t>
            </a:r>
            <a:r>
              <a:rPr sz="4400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 err="1"/>
              <a:t>Razbijaju</a:t>
            </a:r>
            <a:r>
              <a:rPr sz="2400" dirty="0"/>
              <a:t> problem </a:t>
            </a:r>
            <a:r>
              <a:rPr sz="2400" dirty="0" err="1"/>
              <a:t>na</a:t>
            </a:r>
            <a:r>
              <a:rPr sz="2400" dirty="0"/>
              <a:t> </a:t>
            </a:r>
            <a:r>
              <a:rPr sz="2400" dirty="0" err="1"/>
              <a:t>manje</a:t>
            </a:r>
            <a:r>
              <a:rPr sz="2400" dirty="0"/>
              <a:t>, </a:t>
            </a:r>
            <a:r>
              <a:rPr sz="2400" dirty="0" err="1"/>
              <a:t>razumljive</a:t>
            </a:r>
            <a:r>
              <a:rPr sz="2400" dirty="0"/>
              <a:t> </a:t>
            </a:r>
            <a:r>
              <a:rPr sz="2400" dirty="0" err="1"/>
              <a:t>dijelove</a:t>
            </a:r>
            <a:r>
              <a:rPr sz="2400" dirty="0"/>
              <a:t>.</a:t>
            </a:r>
          </a:p>
          <a:p>
            <a:r>
              <a:rPr sz="2400" dirty="0" err="1"/>
              <a:t>Čine</a:t>
            </a:r>
            <a:r>
              <a:rPr sz="2400" dirty="0"/>
              <a:t> </a:t>
            </a:r>
            <a:r>
              <a:rPr sz="2400" dirty="0" err="1"/>
              <a:t>glavni</a:t>
            </a:r>
            <a:r>
              <a:rPr sz="2400" dirty="0"/>
              <a:t> program (main) </a:t>
            </a:r>
            <a:r>
              <a:rPr sz="2400" dirty="0" err="1"/>
              <a:t>preglednijim</a:t>
            </a:r>
            <a:r>
              <a:rPr sz="2400" dirty="0"/>
              <a:t>.</a:t>
            </a:r>
          </a:p>
          <a:p>
            <a:r>
              <a:rPr sz="2400" dirty="0" err="1"/>
              <a:t>Omogućuju</a:t>
            </a:r>
            <a:r>
              <a:rPr sz="2400" dirty="0"/>
              <a:t> </a:t>
            </a:r>
            <a:r>
              <a:rPr sz="2400" dirty="0" err="1"/>
              <a:t>ponovno</a:t>
            </a:r>
            <a:r>
              <a:rPr sz="2400" dirty="0"/>
              <a:t> </a:t>
            </a:r>
            <a:r>
              <a:rPr sz="2400" dirty="0" err="1"/>
              <a:t>korištenje</a:t>
            </a:r>
            <a:r>
              <a:rPr sz="2400" dirty="0"/>
              <a:t> </a:t>
            </a:r>
            <a:r>
              <a:rPr sz="2400" dirty="0" err="1"/>
              <a:t>koda</a:t>
            </a:r>
            <a:r>
              <a:rPr sz="2400" dirty="0"/>
              <a:t>.</a:t>
            </a:r>
          </a:p>
          <a:p>
            <a:r>
              <a:rPr sz="2400" dirty="0" err="1"/>
              <a:t>Olakšavaju</a:t>
            </a:r>
            <a:r>
              <a:rPr sz="2400" dirty="0"/>
              <a:t> </a:t>
            </a:r>
            <a:r>
              <a:rPr sz="2400" dirty="0" err="1"/>
              <a:t>ispitivanje</a:t>
            </a:r>
            <a:r>
              <a:rPr sz="2400" dirty="0"/>
              <a:t> </a:t>
            </a:r>
            <a:r>
              <a:rPr sz="2400" dirty="0" err="1"/>
              <a:t>programa</a:t>
            </a:r>
            <a:r>
              <a:rPr sz="2400" dirty="0"/>
              <a:t> </a:t>
            </a:r>
            <a:r>
              <a:rPr sz="2400" dirty="0" err="1"/>
              <a:t>i</a:t>
            </a:r>
            <a:r>
              <a:rPr sz="2400" dirty="0"/>
              <a:t> </a:t>
            </a:r>
            <a:r>
              <a:rPr sz="2400" dirty="0" err="1"/>
              <a:t>pronalazak</a:t>
            </a:r>
            <a:r>
              <a:rPr sz="2400" dirty="0"/>
              <a:t> </a:t>
            </a:r>
            <a:r>
              <a:rPr sz="2400" dirty="0" err="1"/>
              <a:t>pogrešaka</a:t>
            </a:r>
            <a:r>
              <a:rPr sz="2400" dirty="0"/>
              <a:t>.</a:t>
            </a:r>
          </a:p>
          <a:p>
            <a:r>
              <a:rPr sz="2400" dirty="0" err="1"/>
              <a:t>Koristimo</a:t>
            </a:r>
            <a:r>
              <a:rPr sz="2400" dirty="0"/>
              <a:t> </a:t>
            </a:r>
            <a:r>
              <a:rPr sz="2400" dirty="0" err="1"/>
              <a:t>ih</a:t>
            </a:r>
            <a:r>
              <a:rPr sz="2400" dirty="0"/>
              <a:t> </a:t>
            </a:r>
            <a:r>
              <a:rPr sz="2400" dirty="0" err="1"/>
              <a:t>kad</a:t>
            </a:r>
            <a:r>
              <a:rPr sz="2400" dirty="0"/>
              <a:t> se </a:t>
            </a:r>
            <a:r>
              <a:rPr sz="2400" dirty="0" err="1"/>
              <a:t>neki</a:t>
            </a:r>
            <a:r>
              <a:rPr sz="2400" dirty="0"/>
              <a:t> </a:t>
            </a:r>
            <a:r>
              <a:rPr sz="2400" dirty="0" err="1"/>
              <a:t>dio</a:t>
            </a:r>
            <a:r>
              <a:rPr sz="2400" dirty="0"/>
              <a:t> </a:t>
            </a:r>
            <a:r>
              <a:rPr sz="2400" dirty="0" err="1"/>
              <a:t>koda</a:t>
            </a:r>
            <a:r>
              <a:rPr sz="2400" dirty="0"/>
              <a:t> </a:t>
            </a:r>
            <a:r>
              <a:rPr sz="2400" dirty="0" err="1"/>
              <a:t>ponavlja</a:t>
            </a:r>
            <a:r>
              <a:rPr sz="2400" dirty="0"/>
              <a:t> </a:t>
            </a:r>
            <a:r>
              <a:rPr sz="2400" dirty="0" err="1"/>
              <a:t>ili</a:t>
            </a:r>
            <a:r>
              <a:rPr sz="2400" dirty="0"/>
              <a:t> je </a:t>
            </a:r>
            <a:r>
              <a:rPr sz="2400" dirty="0" err="1"/>
              <a:t>logički</a:t>
            </a:r>
            <a:r>
              <a:rPr sz="2400" dirty="0"/>
              <a:t> </a:t>
            </a:r>
            <a:r>
              <a:rPr sz="2400" dirty="0" err="1"/>
              <a:t>odvojen</a:t>
            </a:r>
            <a:r>
              <a:rPr sz="2400" dirty="0"/>
              <a:t> </a:t>
            </a:r>
            <a:r>
              <a:rPr sz="2400" dirty="0" err="1"/>
              <a:t>zadatak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 err="1"/>
              <a:t>Opći</a:t>
            </a:r>
            <a:r>
              <a:rPr sz="4400" dirty="0"/>
              <a:t> </a:t>
            </a:r>
            <a:r>
              <a:rPr sz="4400" dirty="0" err="1"/>
              <a:t>oblik</a:t>
            </a:r>
            <a:r>
              <a:rPr sz="4400" dirty="0"/>
              <a:t> </a:t>
            </a:r>
            <a:r>
              <a:rPr sz="4400" dirty="0" err="1"/>
              <a:t>funkcije</a:t>
            </a:r>
            <a:endParaRPr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160590"/>
            <a:ext cx="8514735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 err="1">
                <a:solidFill>
                  <a:srgbClr val="0070C0"/>
                </a:solidFill>
              </a:rPr>
              <a:t>tip_funkcije</a:t>
            </a:r>
            <a:r>
              <a:rPr sz="2400" dirty="0">
                <a:solidFill>
                  <a:srgbClr val="0070C0"/>
                </a:solidFill>
              </a:rPr>
              <a:t> </a:t>
            </a:r>
            <a:r>
              <a:rPr sz="2400" dirty="0" err="1">
                <a:solidFill>
                  <a:srgbClr val="FFC000"/>
                </a:solidFill>
              </a:rPr>
              <a:t>ime_funkcije</a:t>
            </a:r>
            <a:r>
              <a:rPr sz="2400" dirty="0"/>
              <a:t>(</a:t>
            </a:r>
            <a:r>
              <a:rPr sz="2400" dirty="0">
                <a:solidFill>
                  <a:srgbClr val="0070C0"/>
                </a:solidFill>
              </a:rPr>
              <a:t>tip_parametra1</a:t>
            </a:r>
            <a:r>
              <a:rPr sz="2400" dirty="0"/>
              <a:t> param1, </a:t>
            </a:r>
            <a:r>
              <a:rPr sz="2400" dirty="0">
                <a:solidFill>
                  <a:srgbClr val="0070C0"/>
                </a:solidFill>
              </a:rPr>
              <a:t>tip_parametra2 </a:t>
            </a:r>
            <a:r>
              <a:rPr sz="2400" dirty="0"/>
              <a:t>param2, ...){</a:t>
            </a:r>
          </a:p>
          <a:p>
            <a:pPr marL="0" indent="0">
              <a:buNone/>
            </a:pPr>
            <a:r>
              <a:rPr sz="2400" dirty="0"/>
              <a:t>    // </a:t>
            </a:r>
            <a:r>
              <a:rPr sz="2400" dirty="0" err="1"/>
              <a:t>lokalne</a:t>
            </a:r>
            <a:r>
              <a:rPr sz="2400" dirty="0"/>
              <a:t> </a:t>
            </a:r>
            <a:r>
              <a:rPr sz="2400" dirty="0" err="1"/>
              <a:t>varijable</a:t>
            </a:r>
            <a:endParaRPr sz="2400" dirty="0"/>
          </a:p>
          <a:p>
            <a:pPr marL="0" indent="0">
              <a:buNone/>
            </a:pPr>
            <a:r>
              <a:rPr sz="2400" dirty="0"/>
              <a:t>    // </a:t>
            </a:r>
            <a:r>
              <a:rPr sz="2400" dirty="0" err="1"/>
              <a:t>naredbe</a:t>
            </a:r>
            <a:endParaRPr sz="2400" dirty="0"/>
          </a:p>
          <a:p>
            <a:pPr marL="0" indent="0">
              <a:buNone/>
            </a:pPr>
            <a:r>
              <a:rPr sz="2400" dirty="0"/>
              <a:t>    </a:t>
            </a:r>
            <a:r>
              <a:rPr sz="2400" dirty="0">
                <a:solidFill>
                  <a:srgbClr val="7030A0"/>
                </a:solidFill>
              </a:rPr>
              <a:t>return</a:t>
            </a:r>
            <a:r>
              <a:rPr sz="2400" dirty="0"/>
              <a:t> </a:t>
            </a:r>
            <a:r>
              <a:rPr sz="2400" dirty="0" err="1"/>
              <a:t>izraz</a:t>
            </a:r>
            <a:r>
              <a:rPr sz="2400" dirty="0"/>
              <a:t>;</a:t>
            </a:r>
            <a:endParaRPr lang="en-US" sz="2400" dirty="0"/>
          </a:p>
          <a:p>
            <a:pPr marL="0" indent="0">
              <a:buNone/>
            </a:pPr>
            <a:r>
              <a:rPr sz="2400" dirty="0"/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 err="1"/>
              <a:t>Funkcije</a:t>
            </a:r>
            <a:r>
              <a:rPr sz="4400" dirty="0"/>
              <a:t> </a:t>
            </a:r>
            <a:r>
              <a:rPr sz="4400" dirty="0" err="1"/>
              <a:t>tipa</a:t>
            </a:r>
            <a:r>
              <a:rPr sz="4400" dirty="0"/>
              <a:t> void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 err="1"/>
              <a:t>Funkcija</a:t>
            </a:r>
            <a:r>
              <a:rPr sz="2400" dirty="0"/>
              <a:t> ne </a:t>
            </a:r>
            <a:r>
              <a:rPr sz="2400" dirty="0" err="1"/>
              <a:t>vraća</a:t>
            </a:r>
            <a:r>
              <a:rPr sz="2400" dirty="0"/>
              <a:t> </a:t>
            </a:r>
            <a:r>
              <a:rPr sz="2400" dirty="0" err="1"/>
              <a:t>nikakvu</a:t>
            </a:r>
            <a:r>
              <a:rPr sz="2400" dirty="0"/>
              <a:t> </a:t>
            </a:r>
            <a:r>
              <a:rPr sz="2400" dirty="0" err="1"/>
              <a:t>vrijednost</a:t>
            </a:r>
            <a:r>
              <a:rPr lang="en-US" sz="2400" dirty="0"/>
              <a:t>.</a:t>
            </a:r>
            <a:endParaRPr sz="2400" dirty="0"/>
          </a:p>
          <a:p>
            <a:r>
              <a:rPr sz="2400" dirty="0" err="1"/>
              <a:t>Koristi</a:t>
            </a:r>
            <a:r>
              <a:rPr sz="2400" dirty="0"/>
              <a:t> se </a:t>
            </a:r>
            <a:r>
              <a:rPr sz="2400" dirty="0" err="1"/>
              <a:t>kada</a:t>
            </a:r>
            <a:r>
              <a:rPr sz="2400" dirty="0"/>
              <a:t> </a:t>
            </a:r>
            <a:r>
              <a:rPr sz="2400" dirty="0" err="1"/>
              <a:t>želimo</a:t>
            </a:r>
            <a:r>
              <a:rPr sz="2400" dirty="0"/>
              <a:t> </a:t>
            </a:r>
            <a:r>
              <a:rPr sz="2400" dirty="0" err="1"/>
              <a:t>samo</a:t>
            </a:r>
            <a:r>
              <a:rPr sz="2400" dirty="0"/>
              <a:t> </a:t>
            </a:r>
            <a:r>
              <a:rPr sz="2400" dirty="0" err="1"/>
              <a:t>ispisati</a:t>
            </a:r>
            <a:r>
              <a:rPr sz="2400" dirty="0"/>
              <a:t> </a:t>
            </a:r>
            <a:r>
              <a:rPr sz="2400" dirty="0" err="1"/>
              <a:t>rezultat</a:t>
            </a:r>
            <a:r>
              <a:rPr sz="2400" dirty="0"/>
              <a:t> </a:t>
            </a:r>
            <a:r>
              <a:rPr sz="2400" dirty="0" err="1"/>
              <a:t>ili</a:t>
            </a:r>
            <a:r>
              <a:rPr sz="2400" dirty="0"/>
              <a:t> </a:t>
            </a:r>
            <a:r>
              <a:rPr sz="2400" dirty="0" err="1"/>
              <a:t>obaviti</a:t>
            </a:r>
            <a:r>
              <a:rPr sz="2400" dirty="0"/>
              <a:t> </a:t>
            </a:r>
            <a:r>
              <a:rPr sz="2400" dirty="0" err="1"/>
              <a:t>radnju</a:t>
            </a:r>
            <a:r>
              <a:rPr sz="2400" dirty="0"/>
              <a:t>.</a:t>
            </a:r>
          </a:p>
          <a:p>
            <a:r>
              <a:rPr sz="2400" dirty="0" err="1"/>
              <a:t>Povratni</a:t>
            </a:r>
            <a:r>
              <a:rPr sz="2400" dirty="0"/>
              <a:t> tip je void, </a:t>
            </a:r>
            <a:r>
              <a:rPr sz="2400" dirty="0" err="1"/>
              <a:t>nema</a:t>
            </a:r>
            <a:r>
              <a:rPr sz="2400" dirty="0"/>
              <a:t> </a:t>
            </a:r>
            <a:r>
              <a:rPr sz="2400" dirty="0" err="1"/>
              <a:t>izraza</a:t>
            </a:r>
            <a:r>
              <a:rPr sz="2400" dirty="0"/>
              <a:t> </a:t>
            </a:r>
            <a:r>
              <a:rPr sz="2400" dirty="0" err="1"/>
              <a:t>iza</a:t>
            </a:r>
            <a:r>
              <a:rPr sz="2400" dirty="0"/>
              <a:t> return </a:t>
            </a:r>
            <a:r>
              <a:rPr sz="2400" dirty="0" err="1"/>
              <a:t>naredbe</a:t>
            </a:r>
            <a:r>
              <a:rPr sz="2400" dirty="0"/>
              <a:t>.</a:t>
            </a:r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7DDAD35B-C65D-C210-B699-1BEAD7D45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221" y="4424516"/>
            <a:ext cx="6359779" cy="24334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err="1"/>
              <a:t>Pozivanje</a:t>
            </a:r>
            <a:r>
              <a:rPr lang="en-US" sz="4400" dirty="0"/>
              <a:t> void </a:t>
            </a:r>
            <a:r>
              <a:rPr lang="en-US" sz="4400" dirty="0" err="1"/>
              <a:t>funkcije</a:t>
            </a:r>
            <a:endParaRPr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488613"/>
            <a:ext cx="6347714" cy="3880773"/>
          </a:xfrm>
        </p:spPr>
        <p:txBody>
          <a:bodyPr>
            <a:normAutofit/>
          </a:bodyPr>
          <a:lstStyle/>
          <a:p>
            <a:r>
              <a:rPr lang="en-US" sz="2400" dirty="0" err="1"/>
              <a:t>Funkcija</a:t>
            </a:r>
            <a:r>
              <a:rPr lang="en-US" sz="2400" dirty="0"/>
              <a:t> se </a:t>
            </a:r>
            <a:r>
              <a:rPr lang="en-US" sz="2400" dirty="0" err="1"/>
              <a:t>stvara</a:t>
            </a:r>
            <a:r>
              <a:rPr lang="en-US" sz="2400" dirty="0"/>
              <a:t> </a:t>
            </a:r>
            <a:r>
              <a:rPr lang="en-US" sz="2400" dirty="0" err="1"/>
              <a:t>iznad</a:t>
            </a:r>
            <a:r>
              <a:rPr lang="en-US" sz="2400" dirty="0"/>
              <a:t> main </a:t>
            </a:r>
            <a:r>
              <a:rPr lang="en-US" sz="2400" dirty="0" err="1"/>
              <a:t>funkcije</a:t>
            </a:r>
            <a:r>
              <a:rPr lang="en-US" sz="2400" dirty="0"/>
              <a:t>.</a:t>
            </a:r>
            <a:endParaRPr sz="2400" dirty="0"/>
          </a:p>
          <a:p>
            <a:r>
              <a:rPr sz="2400" dirty="0" err="1"/>
              <a:t>Formalni</a:t>
            </a:r>
            <a:r>
              <a:rPr sz="2400" dirty="0"/>
              <a:t> </a:t>
            </a:r>
            <a:r>
              <a:rPr sz="2400" dirty="0" err="1"/>
              <a:t>parametri</a:t>
            </a:r>
            <a:r>
              <a:rPr sz="2400" dirty="0"/>
              <a:t> – u </a:t>
            </a:r>
            <a:r>
              <a:rPr sz="2400" dirty="0" err="1"/>
              <a:t>zaglavlju</a:t>
            </a:r>
            <a:r>
              <a:rPr sz="2400" dirty="0"/>
              <a:t> </a:t>
            </a:r>
            <a:r>
              <a:rPr sz="2400" dirty="0" err="1"/>
              <a:t>funkcije</a:t>
            </a:r>
            <a:r>
              <a:rPr sz="2400" dirty="0"/>
              <a:t> (a, b).</a:t>
            </a:r>
          </a:p>
          <a:p>
            <a:r>
              <a:rPr sz="2400" dirty="0" err="1"/>
              <a:t>Stvarni</a:t>
            </a:r>
            <a:r>
              <a:rPr sz="2400" dirty="0"/>
              <a:t> </a:t>
            </a:r>
            <a:r>
              <a:rPr sz="2400" dirty="0" err="1"/>
              <a:t>parametri</a:t>
            </a:r>
            <a:r>
              <a:rPr sz="2400" dirty="0"/>
              <a:t> – </a:t>
            </a:r>
            <a:r>
              <a:rPr sz="2400" dirty="0" err="1"/>
              <a:t>vrijednosti</a:t>
            </a:r>
            <a:r>
              <a:rPr sz="2400" dirty="0"/>
              <a:t> </a:t>
            </a:r>
            <a:r>
              <a:rPr sz="2400" dirty="0" err="1"/>
              <a:t>pri</a:t>
            </a:r>
            <a:r>
              <a:rPr sz="2400" dirty="0"/>
              <a:t> </a:t>
            </a:r>
            <a:r>
              <a:rPr sz="2400" dirty="0" err="1"/>
              <a:t>pozivu</a:t>
            </a:r>
            <a:r>
              <a:rPr sz="2400" dirty="0"/>
              <a:t> </a:t>
            </a:r>
            <a:r>
              <a:rPr sz="2400" dirty="0" err="1"/>
              <a:t>funkcije</a:t>
            </a:r>
            <a:r>
              <a:rPr sz="2400" dirty="0"/>
              <a:t> (</a:t>
            </a:r>
            <a:r>
              <a:rPr lang="en-US" sz="2400" dirty="0"/>
              <a:t>4, 3</a:t>
            </a:r>
            <a:r>
              <a:rPr sz="2400" dirty="0"/>
              <a:t>).</a:t>
            </a:r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F9AF8F54-7586-377A-033A-48EC0EB09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445" y="3283974"/>
            <a:ext cx="4984956" cy="37441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400" dirty="0" err="1"/>
              <a:t>Lokalne</a:t>
            </a:r>
            <a:r>
              <a:rPr sz="4400" dirty="0"/>
              <a:t> </a:t>
            </a:r>
            <a:r>
              <a:rPr sz="4400" dirty="0" err="1"/>
              <a:t>i</a:t>
            </a:r>
            <a:r>
              <a:rPr sz="4400" dirty="0"/>
              <a:t> </a:t>
            </a:r>
            <a:r>
              <a:rPr sz="4400" dirty="0" err="1"/>
              <a:t>globalne</a:t>
            </a:r>
            <a:r>
              <a:rPr sz="4400" dirty="0"/>
              <a:t> </a:t>
            </a:r>
            <a:r>
              <a:rPr sz="4400" dirty="0" err="1"/>
              <a:t>varijable</a:t>
            </a:r>
            <a:endParaRPr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 err="1"/>
              <a:t>Lokalne</a:t>
            </a:r>
            <a:r>
              <a:rPr sz="2400" dirty="0"/>
              <a:t> </a:t>
            </a:r>
            <a:r>
              <a:rPr sz="2400" dirty="0" err="1"/>
              <a:t>varijable</a:t>
            </a:r>
            <a:r>
              <a:rPr sz="2400" dirty="0"/>
              <a:t>:</a:t>
            </a:r>
          </a:p>
          <a:p>
            <a:pPr lvl="1"/>
            <a:r>
              <a:rPr sz="2200" dirty="0"/>
              <a:t> </a:t>
            </a:r>
            <a:r>
              <a:rPr sz="2200" dirty="0" err="1"/>
              <a:t>Deklarirane</a:t>
            </a:r>
            <a:r>
              <a:rPr sz="2200" dirty="0"/>
              <a:t> </a:t>
            </a:r>
            <a:r>
              <a:rPr sz="2200" dirty="0" err="1"/>
              <a:t>unutar</a:t>
            </a:r>
            <a:r>
              <a:rPr sz="2200" dirty="0"/>
              <a:t> </a:t>
            </a:r>
            <a:r>
              <a:rPr sz="2200" dirty="0" err="1"/>
              <a:t>funkcije</a:t>
            </a:r>
            <a:r>
              <a:rPr sz="2200" dirty="0"/>
              <a:t>.</a:t>
            </a:r>
          </a:p>
          <a:p>
            <a:pPr lvl="1"/>
            <a:r>
              <a:rPr sz="2200" dirty="0"/>
              <a:t> Vide se </a:t>
            </a:r>
            <a:r>
              <a:rPr sz="2200" dirty="0" err="1"/>
              <a:t>samo</a:t>
            </a:r>
            <a:r>
              <a:rPr sz="2200" dirty="0"/>
              <a:t> u </a:t>
            </a:r>
            <a:r>
              <a:rPr sz="2200" dirty="0" err="1"/>
              <a:t>toj</a:t>
            </a:r>
            <a:r>
              <a:rPr sz="2200" dirty="0"/>
              <a:t> </a:t>
            </a:r>
            <a:r>
              <a:rPr sz="2200" dirty="0" err="1"/>
              <a:t>funkciji</a:t>
            </a:r>
            <a:r>
              <a:rPr sz="2200" dirty="0"/>
              <a:t>.</a:t>
            </a:r>
          </a:p>
          <a:p>
            <a:r>
              <a:rPr sz="2400" dirty="0" err="1"/>
              <a:t>Globalne</a:t>
            </a:r>
            <a:r>
              <a:rPr sz="2400" dirty="0"/>
              <a:t> </a:t>
            </a:r>
            <a:r>
              <a:rPr sz="2400" dirty="0" err="1"/>
              <a:t>varijable</a:t>
            </a:r>
            <a:r>
              <a:rPr sz="2400" dirty="0"/>
              <a:t>:</a:t>
            </a:r>
          </a:p>
          <a:p>
            <a:pPr lvl="1"/>
            <a:r>
              <a:rPr sz="2000" dirty="0"/>
              <a:t> </a:t>
            </a:r>
            <a:r>
              <a:rPr sz="2000" dirty="0" err="1"/>
              <a:t>Deklarirane</a:t>
            </a:r>
            <a:r>
              <a:rPr sz="2000" dirty="0"/>
              <a:t> </a:t>
            </a:r>
            <a:r>
              <a:rPr sz="2000" dirty="0" err="1"/>
              <a:t>izvan</a:t>
            </a:r>
            <a:r>
              <a:rPr sz="2000" dirty="0"/>
              <a:t> </a:t>
            </a:r>
            <a:r>
              <a:rPr sz="2000" dirty="0" err="1"/>
              <a:t>svih</a:t>
            </a:r>
            <a:r>
              <a:rPr sz="2000" dirty="0"/>
              <a:t> </a:t>
            </a:r>
            <a:r>
              <a:rPr sz="2000" dirty="0" err="1"/>
              <a:t>funkcija</a:t>
            </a:r>
            <a:r>
              <a:rPr sz="2000" dirty="0"/>
              <a:t>.</a:t>
            </a:r>
          </a:p>
          <a:p>
            <a:pPr lvl="1"/>
            <a:r>
              <a:rPr sz="2000" dirty="0"/>
              <a:t> Vide </a:t>
            </a:r>
            <a:r>
              <a:rPr sz="2000" dirty="0" err="1"/>
              <a:t>ih</a:t>
            </a:r>
            <a:r>
              <a:rPr sz="2000" dirty="0"/>
              <a:t> </a:t>
            </a:r>
            <a:r>
              <a:rPr sz="2000" dirty="0" err="1"/>
              <a:t>sve</a:t>
            </a:r>
            <a:r>
              <a:rPr sz="2000" dirty="0"/>
              <a:t> </a:t>
            </a:r>
            <a:r>
              <a:rPr sz="2000" dirty="0" err="1"/>
              <a:t>funkcije</a:t>
            </a:r>
            <a:r>
              <a:rPr sz="2000" dirty="0"/>
              <a:t> u </a:t>
            </a:r>
            <a:r>
              <a:rPr sz="2000" dirty="0" err="1"/>
              <a:t>programu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Primjer: površina pravokutnika (void funkcija)</a:t>
            </a:r>
          </a:p>
        </p:txBody>
      </p:sp>
      <p:pic>
        <p:nvPicPr>
          <p:cNvPr id="5" name="Rezervirano mjesto sadržaja 4">
            <a:extLst>
              <a:ext uri="{FF2B5EF4-FFF2-40B4-BE49-F238E27FC236}">
                <a16:creationId xmlns:a16="http://schemas.microsoft.com/office/drawing/2014/main" id="{84399152-39BE-E07D-D4F3-7C429D67A8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666" y="2114234"/>
            <a:ext cx="8349891" cy="42963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seta">
  <a:themeElements>
    <a:clrScheme name="Fas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s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s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74526B780CB7E40AAED50781EDEFDF6" ma:contentTypeVersion="0" ma:contentTypeDescription="Stvaranje novog dokumenta." ma:contentTypeScope="" ma:versionID="cef117f229dc557e8dc88dbb9ac622a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9899a8217e10f17079a01e2088c2d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sadržaja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9CE5A4B-EEAA-40B9-8234-3638E9FE4853}"/>
</file>

<file path=customXml/itemProps2.xml><?xml version="1.0" encoding="utf-8"?>
<ds:datastoreItem xmlns:ds="http://schemas.openxmlformats.org/officeDocument/2006/customXml" ds:itemID="{A2EDFD1C-1EA7-4CFA-B257-B7241E2F9BF9}"/>
</file>

<file path=customXml/itemProps3.xml><?xml version="1.0" encoding="utf-8"?>
<ds:datastoreItem xmlns:ds="http://schemas.openxmlformats.org/officeDocument/2006/customXml" ds:itemID="{2300C86F-1EEB-43DA-92F9-9B31F94F0582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</TotalTime>
  <Words>237</Words>
  <Application>Microsoft Office PowerPoint</Application>
  <PresentationFormat>Prikaz na zaslonu (4:3)</PresentationFormat>
  <Paragraphs>34</Paragraphs>
  <Slides>8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3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Faseta</vt:lpstr>
      <vt:lpstr>Funkcije</vt:lpstr>
      <vt:lpstr>Što su funkcije?</vt:lpstr>
      <vt:lpstr>Za što i kada koristimo funkcije?</vt:lpstr>
      <vt:lpstr>Opći oblik funkcije</vt:lpstr>
      <vt:lpstr>Funkcije tipa void</vt:lpstr>
      <vt:lpstr>Pozivanje void funkcije</vt:lpstr>
      <vt:lpstr>Lokalne i globalne varijable</vt:lpstr>
      <vt:lpstr>Primjer: površina pravokutnika (void funkcija)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Ksenija Matijašec</cp:lastModifiedBy>
  <cp:revision>2</cp:revision>
  <dcterms:created xsi:type="dcterms:W3CDTF">2013-01-27T09:14:16Z</dcterms:created>
  <dcterms:modified xsi:type="dcterms:W3CDTF">2025-11-18T13:18:34Z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0x010100C74526B780CB7E40AAED50781EDEFDF6</vt:lpwstr>
  </property>
</Properties>
</file>